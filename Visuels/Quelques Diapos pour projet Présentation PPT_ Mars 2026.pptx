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81" r:id="rId2"/>
    <p:sldId id="256" r:id="rId3"/>
    <p:sldId id="257" r:id="rId4"/>
    <p:sldId id="280" r:id="rId5"/>
    <p:sldId id="259" r:id="rId6"/>
    <p:sldId id="260" r:id="rId7"/>
    <p:sldId id="261" r:id="rId8"/>
    <p:sldId id="262" r:id="rId9"/>
    <p:sldId id="263" r:id="rId10"/>
    <p:sldId id="264" r:id="rId11"/>
    <p:sldId id="266" r:id="rId12"/>
    <p:sldId id="267" r:id="rId13"/>
    <p:sldId id="268" r:id="rId14"/>
    <p:sldId id="269" r:id="rId15"/>
    <p:sldId id="270" r:id="rId16"/>
    <p:sldId id="271" r:id="rId17"/>
    <p:sldId id="272" r:id="rId18"/>
    <p:sldId id="275" r:id="rId19"/>
    <p:sldId id="276" r:id="rId20"/>
    <p:sldId id="277" r:id="rId21"/>
    <p:sldId id="278" r:id="rId22"/>
    <p:sldId id="27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DF4B"/>
    <a:srgbClr val="F9D749"/>
    <a:srgbClr val="EEE7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9268"/>
    <p:restoredTop sz="95755"/>
  </p:normalViewPr>
  <p:slideViewPr>
    <p:cSldViewPr snapToGrid="0">
      <p:cViewPr varScale="1">
        <p:scale>
          <a:sx n="49" d="100"/>
          <a:sy n="49" d="100"/>
        </p:scale>
        <p:origin x="736"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fr-FR"/>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fr-FR"/>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fr-FR"/>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fr-FR"/>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fr-FR"/>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fr-FR"/>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fr-FR"/>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fr-FR"/>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fr-FR"/>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fr-FR"/>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fr-FR"/>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fr-FR"/>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fr-FR"/>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fr-FR"/>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fr-FR"/>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fr-FR"/>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fr-FR"/>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fr-FR"/>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fr-FR"/>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fr-FR"/>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fr-FR"/>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fr-FR"/>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fr-FR"/>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fr-FR"/>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3/28/2026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mailto:arifsadek42@gmail.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data.gov.ma/"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9F0348FE-FCE6-D4EC-9C08-5AA57D3F6A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2632" y="1192193"/>
            <a:ext cx="4027991" cy="2847372"/>
          </a:xfrm>
          <a:prstGeom prst="rect">
            <a:avLst/>
          </a:prstGeom>
        </p:spPr>
      </p:pic>
      <p:pic>
        <p:nvPicPr>
          <p:cNvPr id="6" name="Image 5">
            <a:extLst>
              <a:ext uri="{FF2B5EF4-FFF2-40B4-BE49-F238E27FC236}">
                <a16:creationId xmlns:a16="http://schemas.microsoft.com/office/drawing/2014/main" id="{9DB844FE-0873-EF43-0E75-B7771F3554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2631" y="4777380"/>
            <a:ext cx="4190035" cy="1126282"/>
          </a:xfrm>
          <a:prstGeom prst="rect">
            <a:avLst/>
          </a:prstGeom>
        </p:spPr>
      </p:pic>
    </p:spTree>
    <p:extLst>
      <p:ext uri="{BB962C8B-B14F-4D97-AF65-F5344CB8AC3E}">
        <p14:creationId xmlns:p14="http://schemas.microsoft.com/office/powerpoint/2010/main" val="2622084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9370DD-E265-8E93-CBCD-A2D7ED14B63C}"/>
              </a:ext>
            </a:extLst>
          </p:cNvPr>
          <p:cNvSpPr>
            <a:spLocks noGrp="1"/>
          </p:cNvSpPr>
          <p:nvPr>
            <p:ph type="ctrTitle"/>
          </p:nvPr>
        </p:nvSpPr>
        <p:spPr>
          <a:xfrm>
            <a:off x="2589213" y="1056840"/>
            <a:ext cx="8915399" cy="2508163"/>
          </a:xfrm>
        </p:spPr>
        <p:txBody>
          <a:bodyPr>
            <a:normAutofit/>
          </a:bodyPr>
          <a:lstStyle/>
          <a:p>
            <a:pPr>
              <a:lnSpc>
                <a:spcPct val="100000"/>
              </a:lnSpc>
              <a:spcBef>
                <a:spcPts val="0"/>
              </a:spcBef>
            </a:pPr>
            <a:r>
              <a:rPr lang="fr-MA" sz="2400" b="1" cap="none" dirty="0">
                <a:solidFill>
                  <a:schemeClr val="tx1"/>
                </a:solidFill>
                <a:latin typeface="Candara" panose="020E0502030303020204" pitchFamily="34" charset="0"/>
                <a:ea typeface="HGMaruGothicMPRO" panose="020F0600000000000000" pitchFamily="34" charset="-128"/>
                <a:cs typeface="Calibri" panose="020F0502020204030204" pitchFamily="34" charset="0"/>
              </a:rPr>
              <a:t>			</a:t>
            </a:r>
            <a:r>
              <a:rPr lang="fr-MA" sz="2400" b="1" dirty="0">
                <a:solidFill>
                  <a:schemeClr val="accent1">
                    <a:lumMod val="75000"/>
                  </a:schemeClr>
                </a:solidFill>
                <a:latin typeface="Candara" panose="020E0502030303020204" pitchFamily="34" charset="0"/>
                <a:ea typeface="HGMaruGothicMPRO" panose="020F0600000000000000" pitchFamily="34" charset="-128"/>
                <a:cs typeface="Calibri" panose="020F0502020204030204" pitchFamily="34" charset="0"/>
              </a:rPr>
              <a:t>Base de Données Documentaires.</a:t>
            </a:r>
            <a:br>
              <a:rPr lang="fr-FR" sz="1050" b="1" dirty="0">
                <a:solidFill>
                  <a:srgbClr val="EADF4B"/>
                </a:solidFill>
                <a:latin typeface="Candara" panose="020E0502030303020204" pitchFamily="34" charset="0"/>
                <a:ea typeface="Calibri" panose="020F0502020204030204" pitchFamily="34" charset="0"/>
                <a:cs typeface="Times New Roman" panose="02020603050405020304" pitchFamily="18" charset="0"/>
              </a:rPr>
            </a:br>
            <a:br>
              <a:rPr lang="fr-FR" sz="1050" b="1" cap="none" dirty="0">
                <a:effectLst/>
                <a:latin typeface="Candara" panose="020E0502030303020204" pitchFamily="34" charset="0"/>
                <a:ea typeface="Calibri" panose="020F0502020204030204" pitchFamily="34" charset="0"/>
                <a:cs typeface="Times New Roman" panose="02020603050405020304" pitchFamily="18" charset="0"/>
              </a:rPr>
            </a:br>
            <a:r>
              <a:rPr lang="fr-FR" sz="1050" b="1" cap="none" dirty="0">
                <a:effectLst/>
                <a:latin typeface="Candara" panose="020E0502030303020204" pitchFamily="34" charset="0"/>
                <a:ea typeface="Calibri" panose="020F0502020204030204" pitchFamily="34" charset="0"/>
                <a:cs typeface="Times New Roman" panose="02020603050405020304" pitchFamily="18" charset="0"/>
              </a:rPr>
              <a:t>				</a:t>
            </a:r>
            <a:r>
              <a:rPr lang="fr-FR" sz="2800" cap="none"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rPr>
              <a:t>L’Essentiel en Chiffres</a:t>
            </a:r>
            <a:r>
              <a:rPr lang="fr-FR" sz="1400" cap="none"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rPr>
              <a:t>.</a:t>
            </a:r>
            <a:r>
              <a:rPr lang="fr-FR" sz="3600" cap="none"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rPr>
              <a:t> </a:t>
            </a:r>
            <a:br>
              <a:rPr lang="fr-FR" sz="3600" cap="none" dirty="0">
                <a:solidFill>
                  <a:schemeClr val="tx1"/>
                </a:solidFill>
                <a:effectLst/>
                <a:latin typeface="Candara" panose="020E0502030303020204" pitchFamily="34" charset="0"/>
                <a:ea typeface="Calibri" panose="020F0502020204030204" pitchFamily="34" charset="0"/>
                <a:cs typeface="Times New Roman" panose="02020603050405020304" pitchFamily="18" charset="0"/>
              </a:rPr>
            </a:br>
            <a:br>
              <a:rPr lang="fr-MA" sz="2400" b="1" cap="none" dirty="0">
                <a:effectLst/>
                <a:latin typeface="Candara" panose="020E0502030303020204" pitchFamily="34" charset="0"/>
              </a:rPr>
            </a:br>
            <a:br>
              <a:rPr lang="fr-MA" sz="1400" b="1" dirty="0">
                <a:solidFill>
                  <a:schemeClr val="accent1">
                    <a:lumMod val="75000"/>
                  </a:schemeClr>
                </a:solidFill>
                <a:effectLst/>
                <a:latin typeface="Candara" panose="020E0502030303020204" pitchFamily="34" charset="0"/>
                <a:ea typeface="HGMaruGothicMPRO" panose="020F0600000000000000" pitchFamily="34" charset="-128"/>
                <a:cs typeface="Calibri" panose="020F0502020204030204" pitchFamily="34" charset="0"/>
              </a:rPr>
            </a:br>
            <a:br>
              <a:rPr lang="fr-MA" sz="1100" b="1" cap="none" dirty="0">
                <a:latin typeface="Candara" panose="020E0502030303020204" pitchFamily="34" charset="0"/>
                <a:cs typeface="Times New Roman" panose="02020603050405020304" pitchFamily="18" charset="0"/>
              </a:rPr>
            </a:br>
            <a:endParaRPr lang="fr-FR" sz="1600" dirty="0"/>
          </a:p>
        </p:txBody>
      </p:sp>
      <p:sp>
        <p:nvSpPr>
          <p:cNvPr id="3" name="Sous-titre 2">
            <a:extLst>
              <a:ext uri="{FF2B5EF4-FFF2-40B4-BE49-F238E27FC236}">
                <a16:creationId xmlns:a16="http://schemas.microsoft.com/office/drawing/2014/main" id="{E8639AF7-EACF-61CC-C10E-144B5D25E9F2}"/>
              </a:ext>
            </a:extLst>
          </p:cNvPr>
          <p:cNvSpPr>
            <a:spLocks noGrp="1"/>
          </p:cNvSpPr>
          <p:nvPr>
            <p:ph type="subTitle" idx="1"/>
          </p:nvPr>
        </p:nvSpPr>
        <p:spPr>
          <a:xfrm>
            <a:off x="2589213" y="3565003"/>
            <a:ext cx="8915399" cy="2650602"/>
          </a:xfrm>
        </p:spPr>
        <p:txBody>
          <a:bodyPr>
            <a:normAutofit fontScale="25000" lnSpcReduction="20000"/>
          </a:bodyPr>
          <a:lstStyle/>
          <a:p>
            <a:pPr algn="ctr">
              <a:lnSpc>
                <a:spcPct val="100000"/>
              </a:lnSpc>
              <a:spcBef>
                <a:spcPts val="0"/>
              </a:spcBef>
            </a:pPr>
            <a:endParaRPr lang="fr-MA" sz="2000" b="1" cap="none" dirty="0">
              <a:solidFill>
                <a:srgbClr val="0070C0"/>
              </a:solidFill>
              <a:latin typeface="Candara" panose="020E0502030303020204" pitchFamily="34" charset="0"/>
              <a:ea typeface="HGMaruGothicMPRO" panose="020F0600000000000000" pitchFamily="34" charset="-128"/>
              <a:cs typeface="Calibri" panose="020F0502020204030204" pitchFamily="34" charset="0"/>
            </a:endParaRPr>
          </a:p>
          <a:p>
            <a:pPr algn="ctr">
              <a:lnSpc>
                <a:spcPct val="100000"/>
              </a:lnSpc>
              <a:spcBef>
                <a:spcPts val="0"/>
              </a:spcBef>
            </a:pPr>
            <a:endParaRPr lang="fr-MA" sz="2000" b="1" cap="none" dirty="0">
              <a:solidFill>
                <a:srgbClr val="0070C0"/>
              </a:solidFill>
              <a:latin typeface="Candara" panose="020E0502030303020204" pitchFamily="34" charset="0"/>
              <a:ea typeface="HGMaruGothicMPRO" panose="020F0600000000000000" pitchFamily="34" charset="-128"/>
              <a:cs typeface="Calibri" panose="020F0502020204030204" pitchFamily="34" charset="0"/>
            </a:endParaRPr>
          </a:p>
          <a:p>
            <a:pPr algn="ctr">
              <a:lnSpc>
                <a:spcPct val="100000"/>
              </a:lnSpc>
              <a:spcBef>
                <a:spcPts val="0"/>
              </a:spcBef>
            </a:pPr>
            <a:endParaRPr lang="fr-MA" sz="2000" b="1" dirty="0">
              <a:solidFill>
                <a:srgbClr val="0070C0"/>
              </a:solidFill>
              <a:latin typeface="Candara" panose="020E0502030303020204" pitchFamily="34" charset="0"/>
              <a:ea typeface="HGMaruGothicMPRO" panose="020F0600000000000000" pitchFamily="34" charset="-128"/>
              <a:cs typeface="Calibri" panose="020F0502020204030204" pitchFamily="34" charset="0"/>
            </a:endParaRPr>
          </a:p>
          <a:p>
            <a:pPr algn="ctr">
              <a:lnSpc>
                <a:spcPct val="100000"/>
              </a:lnSpc>
              <a:spcBef>
                <a:spcPts val="0"/>
              </a:spcBef>
            </a:pPr>
            <a:endParaRPr lang="fr-MA" sz="2000" b="1" cap="none" dirty="0">
              <a:solidFill>
                <a:srgbClr val="0070C0"/>
              </a:solidFill>
              <a:latin typeface="Candara" panose="020E0502030303020204" pitchFamily="34" charset="0"/>
              <a:ea typeface="HGMaruGothicMPRO" panose="020F0600000000000000" pitchFamily="34" charset="-128"/>
              <a:cs typeface="Calibri" panose="020F0502020204030204" pitchFamily="34" charset="0"/>
            </a:endParaRPr>
          </a:p>
          <a:p>
            <a:pPr algn="ctr">
              <a:lnSpc>
                <a:spcPct val="100000"/>
              </a:lnSpc>
              <a:spcBef>
                <a:spcPts val="0"/>
              </a:spcBef>
            </a:pPr>
            <a:endParaRPr lang="fr-MA" sz="2000" b="1" dirty="0">
              <a:solidFill>
                <a:srgbClr val="0070C0"/>
              </a:solidFill>
              <a:latin typeface="Candara" panose="020E0502030303020204" pitchFamily="34" charset="0"/>
              <a:ea typeface="HGMaruGothicMPRO" panose="020F0600000000000000" pitchFamily="34" charset="-128"/>
              <a:cs typeface="Calibri" panose="020F0502020204030204" pitchFamily="34" charset="0"/>
            </a:endParaRPr>
          </a:p>
          <a:p>
            <a:pPr algn="ctr">
              <a:lnSpc>
                <a:spcPct val="100000"/>
              </a:lnSpc>
              <a:spcBef>
                <a:spcPts val="0"/>
              </a:spcBef>
            </a:pPr>
            <a:endParaRPr lang="fr-MA" sz="2000" b="1" cap="none" dirty="0">
              <a:solidFill>
                <a:srgbClr val="0070C0"/>
              </a:solidFill>
              <a:latin typeface="Candara" panose="020E0502030303020204" pitchFamily="34" charset="0"/>
              <a:ea typeface="HGMaruGothicMPRO" panose="020F0600000000000000" pitchFamily="34" charset="-128"/>
              <a:cs typeface="Calibri" panose="020F0502020204030204" pitchFamily="34" charset="0"/>
            </a:endParaRPr>
          </a:p>
          <a:p>
            <a:pPr>
              <a:lnSpc>
                <a:spcPct val="100000"/>
              </a:lnSpc>
              <a:spcBef>
                <a:spcPts val="0"/>
              </a:spcBef>
            </a:pPr>
            <a:r>
              <a:rPr lang="fr-MA" sz="5100" b="1" dirty="0">
                <a:solidFill>
                  <a:schemeClr val="tx1"/>
                </a:solidFill>
                <a:latin typeface="Candara" panose="020E0502030303020204" pitchFamily="34" charset="0"/>
                <a:ea typeface="HGMaruGothicMPRO" panose="020F0600000000000000" pitchFamily="34" charset="-128"/>
                <a:cs typeface="Calibri" panose="020F0502020204030204" pitchFamily="34" charset="0"/>
              </a:rPr>
              <a:t>						                 Edition </a:t>
            </a:r>
          </a:p>
          <a:p>
            <a:pPr algn="ctr">
              <a:lnSpc>
                <a:spcPct val="100000"/>
              </a:lnSpc>
              <a:spcBef>
                <a:spcPts val="0"/>
              </a:spcBef>
            </a:pPr>
            <a:endParaRPr lang="fr-FR" sz="7000" dirty="0">
              <a:solidFill>
                <a:schemeClr val="tx1"/>
              </a:solidFill>
              <a:latin typeface="Candara" panose="020E0502030303020204" pitchFamily="34" charset="0"/>
              <a:ea typeface="Calibri" panose="020F0502020204030204" pitchFamily="34" charset="0"/>
              <a:cs typeface="Times New Roman" panose="02020603050405020304" pitchFamily="18" charset="0"/>
            </a:endParaRPr>
          </a:p>
          <a:p>
            <a:pPr>
              <a:lnSpc>
                <a:spcPct val="100000"/>
              </a:lnSpc>
              <a:spcBef>
                <a:spcPts val="0"/>
              </a:spcBef>
            </a:pPr>
            <a:r>
              <a:rPr lang="fr-MA" sz="8000" b="1" dirty="0">
                <a:solidFill>
                  <a:srgbClr val="002060"/>
                </a:solidFill>
                <a:effectLst/>
                <a:latin typeface="Candara" panose="020E0502030303020204" pitchFamily="34" charset="0"/>
                <a:ea typeface="HGMaruGothicMPRO" panose="020F0600000000000000" pitchFamily="34" charset="-128"/>
                <a:cs typeface="Calibri" panose="020F0502020204030204" pitchFamily="34" charset="0"/>
              </a:rPr>
              <a:t>                C</a:t>
            </a:r>
            <a:r>
              <a:rPr lang="fr-MA" sz="7000" b="1" dirty="0">
                <a:solidFill>
                  <a:schemeClr val="accent1">
                    <a:lumMod val="75000"/>
                  </a:schemeClr>
                </a:solidFill>
                <a:effectLst/>
                <a:latin typeface="Candara" panose="020E0502030303020204" pitchFamily="34" charset="0"/>
                <a:ea typeface="HGMaruGothicMPRO" panose="020F0600000000000000" pitchFamily="34" charset="-128"/>
                <a:cs typeface="Calibri" panose="020F0502020204030204" pitchFamily="34" charset="0"/>
              </a:rPr>
              <a:t>ENTRE </a:t>
            </a:r>
            <a:r>
              <a:rPr lang="fr-MA" sz="7000" b="1" dirty="0">
                <a:solidFill>
                  <a:schemeClr val="accent1">
                    <a:lumMod val="75000"/>
                  </a:schemeClr>
                </a:solidFill>
                <a:latin typeface="Candara" panose="020E0502030303020204" pitchFamily="34" charset="0"/>
                <a:ea typeface="HGMaruGothicMPRO" panose="020F0600000000000000" pitchFamily="34" charset="-128"/>
                <a:cs typeface="Calibri" panose="020F0502020204030204" pitchFamily="34" charset="0"/>
              </a:rPr>
              <a:t>D’</a:t>
            </a:r>
            <a:r>
              <a:rPr lang="fr-MA" sz="8000" b="1" dirty="0">
                <a:solidFill>
                  <a:srgbClr val="002060"/>
                </a:solidFill>
                <a:effectLst/>
                <a:latin typeface="Candara" panose="020E0502030303020204" pitchFamily="34" charset="0"/>
                <a:ea typeface="HGMaruGothicMPRO" panose="020F0600000000000000" pitchFamily="34" charset="-128"/>
                <a:cs typeface="Calibri" panose="020F0502020204030204" pitchFamily="34" charset="0"/>
              </a:rPr>
              <a:t>E</a:t>
            </a:r>
            <a:r>
              <a:rPr lang="fr-MA" sz="7000" b="1" dirty="0">
                <a:solidFill>
                  <a:schemeClr val="accent1">
                    <a:lumMod val="75000"/>
                  </a:schemeClr>
                </a:solidFill>
                <a:latin typeface="Candara" panose="020E0502030303020204" pitchFamily="34" charset="0"/>
                <a:ea typeface="HGMaruGothicMPRO" panose="020F0600000000000000" pitchFamily="34" charset="-128"/>
                <a:cs typeface="Calibri" panose="020F0502020204030204" pitchFamily="34" charset="0"/>
              </a:rPr>
              <a:t>TUDES</a:t>
            </a:r>
            <a:r>
              <a:rPr lang="fr-MA" sz="7000" b="1" dirty="0">
                <a:solidFill>
                  <a:schemeClr val="accent1">
                    <a:lumMod val="75000"/>
                  </a:schemeClr>
                </a:solidFill>
                <a:effectLst/>
                <a:latin typeface="Candara" panose="020E0502030303020204" pitchFamily="34" charset="0"/>
                <a:ea typeface="HGMaruGothicMPRO" panose="020F0600000000000000" pitchFamily="34" charset="-128"/>
                <a:cs typeface="Calibri" panose="020F0502020204030204" pitchFamily="34" charset="0"/>
              </a:rPr>
              <a:t> </a:t>
            </a:r>
            <a:r>
              <a:rPr lang="fr-MA" sz="7000" b="1" dirty="0">
                <a:solidFill>
                  <a:schemeClr val="accent1">
                    <a:lumMod val="75000"/>
                  </a:schemeClr>
                </a:solidFill>
                <a:latin typeface="Candara" panose="020E0502030303020204" pitchFamily="34" charset="0"/>
                <a:ea typeface="HGMaruGothicMPRO" panose="020F0600000000000000" pitchFamily="34" charset="-128"/>
                <a:cs typeface="Calibri" panose="020F0502020204030204" pitchFamily="34" charset="0"/>
              </a:rPr>
              <a:t>ET</a:t>
            </a:r>
            <a:r>
              <a:rPr lang="fr-MA" sz="7000" b="1" dirty="0">
                <a:solidFill>
                  <a:schemeClr val="accent1">
                    <a:lumMod val="75000"/>
                  </a:schemeClr>
                </a:solidFill>
                <a:effectLst/>
                <a:latin typeface="Candara" panose="020E0502030303020204" pitchFamily="34" charset="0"/>
                <a:ea typeface="HGMaruGothicMPRO" panose="020F0600000000000000" pitchFamily="34" charset="-128"/>
                <a:cs typeface="Calibri" panose="020F0502020204030204" pitchFamily="34" charset="0"/>
              </a:rPr>
              <a:t> </a:t>
            </a:r>
            <a:r>
              <a:rPr lang="fr-MA" sz="7000" b="1" dirty="0">
                <a:solidFill>
                  <a:schemeClr val="accent1">
                    <a:lumMod val="75000"/>
                  </a:schemeClr>
                </a:solidFill>
                <a:latin typeface="Candara" panose="020E0502030303020204" pitchFamily="34" charset="0"/>
                <a:ea typeface="HGMaruGothicMPRO" panose="020F0600000000000000" pitchFamily="34" charset="-128"/>
                <a:cs typeface="Calibri" panose="020F0502020204030204" pitchFamily="34" charset="0"/>
              </a:rPr>
              <a:t>DE</a:t>
            </a:r>
            <a:r>
              <a:rPr lang="fr-MA" sz="7000" b="1" dirty="0">
                <a:solidFill>
                  <a:schemeClr val="accent1">
                    <a:lumMod val="75000"/>
                  </a:schemeClr>
                </a:solidFill>
                <a:effectLst/>
                <a:latin typeface="Candara" panose="020E0502030303020204" pitchFamily="34" charset="0"/>
                <a:ea typeface="HGMaruGothicMPRO" panose="020F0600000000000000" pitchFamily="34" charset="-128"/>
                <a:cs typeface="Calibri" panose="020F0502020204030204" pitchFamily="34" charset="0"/>
              </a:rPr>
              <a:t> </a:t>
            </a:r>
            <a:r>
              <a:rPr lang="fr-MA" sz="8000" b="1" dirty="0">
                <a:solidFill>
                  <a:srgbClr val="002060"/>
                </a:solidFill>
                <a:effectLst/>
                <a:latin typeface="Candara" panose="020E0502030303020204" pitchFamily="34" charset="0"/>
                <a:ea typeface="HGMaruGothicMPRO" panose="020F0600000000000000" pitchFamily="34" charset="-128"/>
                <a:cs typeface="Calibri" panose="020F0502020204030204" pitchFamily="34" charset="0"/>
              </a:rPr>
              <a:t>R</a:t>
            </a:r>
            <a:r>
              <a:rPr lang="fr-MA" sz="7000" b="1" dirty="0">
                <a:solidFill>
                  <a:schemeClr val="accent1">
                    <a:lumMod val="75000"/>
                  </a:schemeClr>
                </a:solidFill>
                <a:latin typeface="Candara" panose="020E0502030303020204" pitchFamily="34" charset="0"/>
                <a:ea typeface="HGMaruGothicMPRO" panose="020F0600000000000000" pitchFamily="34" charset="-128"/>
                <a:cs typeface="Calibri" panose="020F0502020204030204" pitchFamily="34" charset="0"/>
              </a:rPr>
              <a:t>ECHERCHE</a:t>
            </a:r>
            <a:r>
              <a:rPr lang="fr-MA" sz="7000" b="1" dirty="0">
                <a:solidFill>
                  <a:schemeClr val="accent1">
                    <a:lumMod val="75000"/>
                  </a:schemeClr>
                </a:solidFill>
                <a:effectLst/>
                <a:latin typeface="Candara" panose="020E0502030303020204" pitchFamily="34" charset="0"/>
                <a:ea typeface="HGMaruGothicMPRO" panose="020F0600000000000000" pitchFamily="34" charset="-128"/>
                <a:cs typeface="Calibri" panose="020F0502020204030204" pitchFamily="34" charset="0"/>
              </a:rPr>
              <a:t> </a:t>
            </a:r>
            <a:r>
              <a:rPr lang="fr-MA" sz="8000" b="1" dirty="0">
                <a:solidFill>
                  <a:srgbClr val="002060"/>
                </a:solidFill>
                <a:latin typeface="Candara" panose="020E0502030303020204" pitchFamily="34" charset="0"/>
                <a:ea typeface="HGMaruGothicMPRO" panose="020F0600000000000000" pitchFamily="34" charset="-128"/>
                <a:cs typeface="Calibri" panose="020F0502020204030204" pitchFamily="34" charset="0"/>
              </a:rPr>
              <a:t>D</a:t>
            </a:r>
            <a:r>
              <a:rPr lang="fr-MA" sz="7000" b="1" dirty="0">
                <a:solidFill>
                  <a:schemeClr val="accent1">
                    <a:lumMod val="75000"/>
                  </a:schemeClr>
                </a:solidFill>
                <a:latin typeface="Candara" panose="020E0502030303020204" pitchFamily="34" charset="0"/>
                <a:ea typeface="HGMaruGothicMPRO" panose="020F0600000000000000" pitchFamily="34" charset="-128"/>
                <a:cs typeface="Calibri" panose="020F0502020204030204" pitchFamily="34" charset="0"/>
              </a:rPr>
              <a:t>OCUMENTAIRE</a:t>
            </a:r>
            <a:br>
              <a:rPr lang="fr-MA" sz="1800" b="1" dirty="0">
                <a:solidFill>
                  <a:schemeClr val="accent1">
                    <a:lumMod val="75000"/>
                  </a:schemeClr>
                </a:solidFill>
                <a:latin typeface="Candara" panose="020E0502030303020204" pitchFamily="34" charset="0"/>
                <a:ea typeface="HGMaruGothicMPRO" panose="020F0600000000000000" pitchFamily="34" charset="-128"/>
                <a:cs typeface="Calibri" panose="020F0502020204030204" pitchFamily="34" charset="0"/>
              </a:rPr>
            </a:br>
            <a:r>
              <a:rPr lang="fr-FR" dirty="0"/>
              <a:t>                                                                                                                 </a:t>
            </a:r>
          </a:p>
          <a:p>
            <a:pPr algn="r"/>
            <a:r>
              <a:rPr lang="fr-FR" dirty="0">
                <a:solidFill>
                  <a:schemeClr val="accent1"/>
                </a:solidFill>
              </a:rPr>
              <a:t>								      </a:t>
            </a:r>
          </a:p>
          <a:p>
            <a:pPr algn="r"/>
            <a:endParaRPr lang="fr-FR" dirty="0">
              <a:solidFill>
                <a:schemeClr val="accent1"/>
              </a:solidFill>
            </a:endParaRPr>
          </a:p>
          <a:p>
            <a:pPr algn="r"/>
            <a:endParaRPr lang="fr-FR" dirty="0">
              <a:solidFill>
                <a:schemeClr val="accent1"/>
              </a:solidFill>
            </a:endParaRPr>
          </a:p>
          <a:p>
            <a:pPr algn="r"/>
            <a:endParaRPr lang="fr-FR" dirty="0">
              <a:solidFill>
                <a:schemeClr val="accent1"/>
              </a:solidFill>
            </a:endParaRPr>
          </a:p>
          <a:p>
            <a:pPr algn="r"/>
            <a:endParaRPr lang="fr-FR" dirty="0">
              <a:solidFill>
                <a:schemeClr val="accent1"/>
              </a:solidFill>
            </a:endParaRPr>
          </a:p>
          <a:p>
            <a:pPr algn="ctr"/>
            <a:r>
              <a:rPr lang="fr-FR" sz="4800" b="1" dirty="0">
                <a:solidFill>
                  <a:schemeClr val="accent1"/>
                </a:solidFill>
              </a:rPr>
              <a:t>Ce Fichier </a:t>
            </a:r>
            <a:r>
              <a:rPr lang="fr-FR" sz="4800" b="1" dirty="0"/>
              <a:t>PPT contient </a:t>
            </a:r>
            <a:r>
              <a:rPr lang="fr-FR" sz="4800" b="1" dirty="0">
                <a:solidFill>
                  <a:schemeClr val="accent1"/>
                </a:solidFill>
              </a:rPr>
              <a:t>25</a:t>
            </a:r>
            <a:r>
              <a:rPr lang="fr-FR" sz="4800" b="1" dirty="0"/>
              <a:t> Diapos.                                                                                                                     Décembre  2025</a:t>
            </a:r>
          </a:p>
          <a:p>
            <a:pPr algn="r"/>
            <a:endParaRPr lang="fr-FR" dirty="0">
              <a:solidFill>
                <a:schemeClr val="accent1"/>
              </a:solidFill>
            </a:endParaRPr>
          </a:p>
          <a:p>
            <a:endParaRPr lang="fr-FR" dirty="0"/>
          </a:p>
          <a:p>
            <a:endParaRPr lang="fr-FR" dirty="0"/>
          </a:p>
          <a:p>
            <a:endParaRPr lang="fr-FR" sz="1200" b="1" dirty="0">
              <a:solidFill>
                <a:schemeClr val="accent1"/>
              </a:solidFill>
            </a:endParaRPr>
          </a:p>
          <a:p>
            <a:r>
              <a:rPr lang="fr-FR" sz="1200" b="1" dirty="0">
                <a:solidFill>
                  <a:schemeClr val="accent1"/>
                </a:solidFill>
              </a:rPr>
              <a:t>B : Ce Fichier contient 24 Diapos PPT</a:t>
            </a:r>
          </a:p>
        </p:txBody>
      </p:sp>
    </p:spTree>
    <p:extLst>
      <p:ext uri="{BB962C8B-B14F-4D97-AF65-F5344CB8AC3E}">
        <p14:creationId xmlns:p14="http://schemas.microsoft.com/office/powerpoint/2010/main" val="3069027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889910-5095-B174-45A3-98F9F92B0753}"/>
              </a:ext>
            </a:extLst>
          </p:cNvPr>
          <p:cNvSpPr>
            <a:spLocks noGrp="1"/>
          </p:cNvSpPr>
          <p:nvPr>
            <p:ph type="title"/>
          </p:nvPr>
        </p:nvSpPr>
        <p:spPr/>
        <p:txBody>
          <a:bodyPr>
            <a:normAutofit fontScale="90000"/>
          </a:bodyPr>
          <a:lstStyle/>
          <a:p>
            <a:r>
              <a:rPr lang="fr-MA" sz="2000" cap="none" dirty="0">
                <a:solidFill>
                  <a:srgbClr val="002060"/>
                </a:solidFill>
                <a:latin typeface="Avenir Book" panose="02000503020000020003" pitchFamily="2" charset="0"/>
              </a:rPr>
              <a:t>Présenté par </a:t>
            </a:r>
            <a:r>
              <a:rPr lang="fr-MA" sz="2000" b="1" cap="none" dirty="0">
                <a:solidFill>
                  <a:srgbClr val="0070C0"/>
                </a:solidFill>
                <a:latin typeface="Avenir Book" panose="02000503020000020003" pitchFamily="2" charset="0"/>
              </a:rPr>
              <a:t>ARIF </a:t>
            </a:r>
            <a:r>
              <a:rPr lang="fr-MA" sz="2000" b="1" cap="none" dirty="0" err="1">
                <a:solidFill>
                  <a:srgbClr val="0070C0"/>
                </a:solidFill>
                <a:latin typeface="Avenir Book" panose="02000503020000020003" pitchFamily="2" charset="0"/>
              </a:rPr>
              <a:t>Sadek</a:t>
            </a:r>
            <a:r>
              <a:rPr lang="fr-MA" sz="2000" b="1" cap="none" dirty="0">
                <a:solidFill>
                  <a:srgbClr val="002060"/>
                </a:solidFill>
                <a:latin typeface="Avenir Book" panose="02000503020000020003" pitchFamily="2" charset="0"/>
              </a:rPr>
              <a:t>. </a:t>
            </a:r>
            <a:r>
              <a:rPr lang="fr-MA" sz="2000" cap="none" dirty="0">
                <a:solidFill>
                  <a:srgbClr val="002060"/>
                </a:solidFill>
                <a:latin typeface="Avenir Book" panose="02000503020000020003" pitchFamily="2" charset="0"/>
              </a:rPr>
              <a:t>(Ancien nom </a:t>
            </a:r>
            <a:r>
              <a:rPr lang="fr-MA" sz="2000" cap="none" dirty="0">
                <a:solidFill>
                  <a:srgbClr val="0070C0"/>
                </a:solidFill>
                <a:latin typeface="Avenir Book" panose="02000503020000020003" pitchFamily="2" charset="0"/>
              </a:rPr>
              <a:t>E</a:t>
            </a:r>
            <a:r>
              <a:rPr lang="fr-MA" sz="1800" cap="none" dirty="0">
                <a:solidFill>
                  <a:srgbClr val="0070C0"/>
                </a:solidFill>
                <a:latin typeface="Avenir Book" panose="02000503020000020003" pitchFamily="2" charset="0"/>
              </a:rPr>
              <a:t>RREF</a:t>
            </a:r>
            <a:r>
              <a:rPr lang="fr-MA" sz="2000" cap="none" dirty="0">
                <a:solidFill>
                  <a:srgbClr val="002060"/>
                </a:solidFill>
                <a:latin typeface="Avenir Book" panose="02000503020000020003" pitchFamily="2" charset="0"/>
              </a:rPr>
              <a:t>)</a:t>
            </a:r>
            <a:br>
              <a:rPr lang="fr-MA" sz="2000" dirty="0">
                <a:solidFill>
                  <a:srgbClr val="002060"/>
                </a:solidFill>
              </a:rPr>
            </a:br>
            <a:r>
              <a:rPr lang="fr-MA" sz="2000" dirty="0">
                <a:solidFill>
                  <a:srgbClr val="002060"/>
                </a:solidFill>
              </a:rPr>
              <a:t>- </a:t>
            </a:r>
            <a:r>
              <a:rPr lang="fr-MA" sz="2000" dirty="0">
                <a:solidFill>
                  <a:schemeClr val="accent1">
                    <a:lumMod val="50000"/>
                  </a:schemeClr>
                </a:solidFill>
              </a:rPr>
              <a:t>F</a:t>
            </a:r>
            <a:r>
              <a:rPr lang="fr-MA" sz="2000" cap="none" dirty="0">
                <a:solidFill>
                  <a:schemeClr val="accent1">
                    <a:lumMod val="50000"/>
                  </a:schemeClr>
                </a:solidFill>
              </a:rPr>
              <a:t>ondateur du </a:t>
            </a:r>
            <a:r>
              <a:rPr lang="fr-MA" sz="2000" dirty="0">
                <a:solidFill>
                  <a:schemeClr val="accent1">
                    <a:lumMod val="50000"/>
                  </a:schemeClr>
                </a:solidFill>
              </a:rPr>
              <a:t>Centre d’Etudes et de Recherche Documentaire</a:t>
            </a:r>
            <a:r>
              <a:rPr lang="fr-MA" sz="2000" b="1" dirty="0">
                <a:solidFill>
                  <a:schemeClr val="accent1">
                    <a:lumMod val="50000"/>
                  </a:schemeClr>
                </a:solidFill>
              </a:rPr>
              <a:t>.</a:t>
            </a:r>
            <a:br>
              <a:rPr lang="fr-MA" sz="2000" b="1" cap="none" dirty="0">
                <a:solidFill>
                  <a:schemeClr val="accent1">
                    <a:lumMod val="75000"/>
                  </a:schemeClr>
                </a:solidFill>
                <a:latin typeface="Candara" panose="020E0502030303020204" pitchFamily="34" charset="0"/>
                <a:cs typeface="Times New Roman" panose="02020603050405020304" pitchFamily="18" charset="0"/>
              </a:rPr>
            </a:br>
            <a:r>
              <a:rPr lang="fr-MA" sz="2000" b="1" cap="none" dirty="0">
                <a:solidFill>
                  <a:schemeClr val="accent1">
                    <a:lumMod val="75000"/>
                  </a:schemeClr>
                </a:solidFill>
                <a:latin typeface="Candara" panose="020E0502030303020204" pitchFamily="34" charset="0"/>
                <a:cs typeface="Times New Roman" panose="02020603050405020304" pitchFamily="18" charset="0"/>
              </a:rPr>
              <a:t>-  Ex. </a:t>
            </a:r>
            <a:r>
              <a:rPr lang="fr-MA" sz="2000" cap="none" dirty="0">
                <a:solidFill>
                  <a:schemeClr val="accent1">
                    <a:lumMod val="50000"/>
                  </a:schemeClr>
                </a:solidFill>
              </a:rPr>
              <a:t>Directeur de publication de la Revue ‘’ Entreprise </a:t>
            </a:r>
            <a:r>
              <a:rPr lang="fr-MA" sz="1800" cap="none" dirty="0">
                <a:solidFill>
                  <a:schemeClr val="accent1">
                    <a:lumMod val="50000"/>
                  </a:schemeClr>
                </a:solidFill>
              </a:rPr>
              <a:t>&amp;</a:t>
            </a:r>
            <a:r>
              <a:rPr lang="fr-MA" sz="2000" cap="none" dirty="0">
                <a:solidFill>
                  <a:schemeClr val="accent1">
                    <a:lumMod val="50000"/>
                  </a:schemeClr>
                </a:solidFill>
              </a:rPr>
              <a:t> Gestion ‘’.</a:t>
            </a:r>
            <a:br>
              <a:rPr lang="fr-MA" sz="4800" b="1" cap="none" dirty="0">
                <a:latin typeface="Candara" panose="020E0502030303020204" pitchFamily="34"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F2563B2D-8573-97DB-A22F-8ED2E2914B0F}"/>
              </a:ext>
            </a:extLst>
          </p:cNvPr>
          <p:cNvSpPr>
            <a:spLocks noGrp="1"/>
          </p:cNvSpPr>
          <p:nvPr>
            <p:ph idx="1"/>
          </p:nvPr>
        </p:nvSpPr>
        <p:spPr>
          <a:xfrm>
            <a:off x="2589212" y="1905000"/>
            <a:ext cx="8915400" cy="4006222"/>
          </a:xfrm>
        </p:spPr>
        <p:txBody>
          <a:bodyPr>
            <a:normAutofit/>
          </a:bodyPr>
          <a:lstStyle/>
          <a:p>
            <a:pPr marL="0" indent="0" algn="l">
              <a:lnSpc>
                <a:spcPct val="100000"/>
              </a:lnSpc>
              <a:spcBef>
                <a:spcPts val="0"/>
              </a:spcBef>
              <a:buNone/>
            </a:pPr>
            <a:r>
              <a:rPr lang="fr-FR" sz="1600" dirty="0">
                <a:solidFill>
                  <a:srgbClr val="002060"/>
                </a:solidFill>
                <a:latin typeface="+mj-lt"/>
                <a:ea typeface="+mj-ea"/>
                <a:cs typeface="+mj-cs"/>
              </a:rPr>
              <a:t>Expert-comptable</a:t>
            </a:r>
            <a:r>
              <a:rPr lang="fr-FR" sz="1800" dirty="0">
                <a:solidFill>
                  <a:srgbClr val="002060"/>
                </a:solidFill>
                <a:latin typeface="+mj-lt"/>
                <a:ea typeface="+mj-ea"/>
                <a:cs typeface="+mj-cs"/>
              </a:rPr>
              <a:t> </a:t>
            </a:r>
            <a:r>
              <a:rPr lang="fr-FR" sz="1400" dirty="0">
                <a:solidFill>
                  <a:srgbClr val="002060"/>
                </a:solidFill>
                <a:latin typeface="+mj-lt"/>
                <a:ea typeface="+mj-ea"/>
                <a:cs typeface="+mj-cs"/>
              </a:rPr>
              <a:t>(non inscrit à l’Ordre).</a:t>
            </a:r>
          </a:p>
          <a:p>
            <a:pPr marL="0" indent="0" algn="l">
              <a:lnSpc>
                <a:spcPct val="100000"/>
              </a:lnSpc>
              <a:spcBef>
                <a:spcPts val="0"/>
              </a:spcBef>
              <a:buNone/>
            </a:pPr>
            <a:r>
              <a:rPr lang="fr-FR" sz="1600" dirty="0">
                <a:solidFill>
                  <a:srgbClr val="002060"/>
                </a:solidFill>
                <a:latin typeface="+mj-lt"/>
                <a:ea typeface="+mj-ea"/>
                <a:cs typeface="+mj-cs"/>
              </a:rPr>
              <a:t>Ingénieur principal </a:t>
            </a:r>
            <a:r>
              <a:rPr lang="fr-FR" sz="1600" dirty="0" err="1">
                <a:solidFill>
                  <a:srgbClr val="002060"/>
                </a:solidFill>
                <a:latin typeface="+mj-lt"/>
                <a:ea typeface="+mj-ea"/>
                <a:cs typeface="+mj-cs"/>
              </a:rPr>
              <a:t>Hc</a:t>
            </a:r>
            <a:r>
              <a:rPr lang="fr-FR" sz="1600" dirty="0">
                <a:solidFill>
                  <a:srgbClr val="002060"/>
                </a:solidFill>
                <a:latin typeface="+mj-lt"/>
                <a:ea typeface="+mj-ea"/>
                <a:cs typeface="+mj-cs"/>
              </a:rPr>
              <a:t> ONCF à la retraite.</a:t>
            </a:r>
          </a:p>
          <a:p>
            <a:pPr algn="l">
              <a:spcBef>
                <a:spcPts val="0"/>
              </a:spcBef>
            </a:pPr>
            <a:r>
              <a:rPr lang="fr-FR" sz="1200" dirty="0">
                <a:solidFill>
                  <a:srgbClr val="002060"/>
                </a:solidFill>
                <a:latin typeface="+mj-lt"/>
                <a:ea typeface="+mj-ea"/>
                <a:cs typeface="+mj-cs"/>
              </a:rPr>
              <a:t>Ex. </a:t>
            </a:r>
            <a:r>
              <a:rPr lang="fr-FR" sz="1600" dirty="0">
                <a:solidFill>
                  <a:srgbClr val="002060"/>
                </a:solidFill>
                <a:latin typeface="+mj-lt"/>
                <a:ea typeface="+mj-ea"/>
                <a:cs typeface="+mj-cs"/>
              </a:rPr>
              <a:t>Directeur général d’une grande entreprise industrielle à Casablanca.</a:t>
            </a:r>
          </a:p>
          <a:p>
            <a:pPr algn="l">
              <a:spcBef>
                <a:spcPts val="0"/>
              </a:spcBef>
            </a:pPr>
            <a:r>
              <a:rPr lang="fr-FR" sz="1200" dirty="0">
                <a:solidFill>
                  <a:srgbClr val="002060"/>
                </a:solidFill>
                <a:latin typeface="+mj-lt"/>
                <a:ea typeface="+mj-ea"/>
                <a:cs typeface="+mj-cs"/>
              </a:rPr>
              <a:t>Ex. </a:t>
            </a:r>
            <a:r>
              <a:rPr lang="fr-FR" sz="1600" dirty="0">
                <a:solidFill>
                  <a:srgbClr val="002060"/>
                </a:solidFill>
                <a:latin typeface="+mj-lt"/>
                <a:ea typeface="+mj-ea"/>
                <a:cs typeface="+mj-cs"/>
              </a:rPr>
              <a:t>Vice-président de la Fédération des Industries Mécaniques et Electriques</a:t>
            </a:r>
            <a:r>
              <a:rPr lang="fr-FR" sz="1800" dirty="0">
                <a:solidFill>
                  <a:srgbClr val="002060"/>
                </a:solidFill>
                <a:latin typeface="+mj-lt"/>
                <a:ea typeface="+mj-ea"/>
                <a:cs typeface="+mj-cs"/>
              </a:rPr>
              <a:t> </a:t>
            </a:r>
            <a:r>
              <a:rPr lang="fr-FR" sz="1400" dirty="0">
                <a:solidFill>
                  <a:srgbClr val="002060"/>
                </a:solidFill>
                <a:latin typeface="+mj-lt"/>
                <a:ea typeface="+mj-ea"/>
                <a:cs typeface="+mj-cs"/>
              </a:rPr>
              <a:t>(F</a:t>
            </a:r>
            <a:r>
              <a:rPr lang="fr-FR" sz="1200" dirty="0">
                <a:solidFill>
                  <a:srgbClr val="002060"/>
                </a:solidFill>
                <a:latin typeface="+mj-lt"/>
                <a:ea typeface="+mj-ea"/>
                <a:cs typeface="+mj-cs"/>
              </a:rPr>
              <a:t>IMME</a:t>
            </a:r>
            <a:r>
              <a:rPr lang="fr-FR" sz="1400" dirty="0">
                <a:solidFill>
                  <a:srgbClr val="002060"/>
                </a:solidFill>
                <a:latin typeface="+mj-lt"/>
                <a:ea typeface="+mj-ea"/>
                <a:cs typeface="+mj-cs"/>
              </a:rPr>
              <a:t>).</a:t>
            </a:r>
          </a:p>
          <a:p>
            <a:pPr marL="0" indent="0" algn="l">
              <a:lnSpc>
                <a:spcPct val="110000"/>
              </a:lnSpc>
              <a:spcBef>
                <a:spcPts val="0"/>
              </a:spcBef>
              <a:buNone/>
            </a:pPr>
            <a:endParaRPr lang="fr-FR" sz="1400" b="1" dirty="0">
              <a:solidFill>
                <a:srgbClr val="002060"/>
              </a:solidFill>
              <a:latin typeface="+mj-lt"/>
              <a:ea typeface="+mj-ea"/>
              <a:cs typeface="+mj-cs"/>
            </a:endParaRPr>
          </a:p>
          <a:p>
            <a:pPr marL="0" indent="0" algn="l">
              <a:lnSpc>
                <a:spcPct val="110000"/>
              </a:lnSpc>
              <a:spcBef>
                <a:spcPts val="0"/>
              </a:spcBef>
              <a:buNone/>
            </a:pPr>
            <a:r>
              <a:rPr lang="fr-FR" sz="1600" dirty="0">
                <a:solidFill>
                  <a:srgbClr val="002060"/>
                </a:solidFill>
                <a:latin typeface="+mj-lt"/>
                <a:ea typeface="+mj-ea"/>
                <a:cs typeface="+mj-cs"/>
              </a:rPr>
              <a:t>Auteur d’une vingtaine de publications </a:t>
            </a:r>
            <a:r>
              <a:rPr lang="fr-FR" sz="1400" dirty="0">
                <a:solidFill>
                  <a:srgbClr val="002060"/>
                </a:solidFill>
                <a:latin typeface="+mj-lt"/>
                <a:ea typeface="+mj-ea"/>
                <a:cs typeface="+mj-cs"/>
              </a:rPr>
              <a:t>dont :</a:t>
            </a:r>
          </a:p>
          <a:p>
            <a:pPr marL="0" indent="0" algn="l">
              <a:lnSpc>
                <a:spcPct val="110000"/>
              </a:lnSpc>
              <a:spcBef>
                <a:spcPts val="0"/>
              </a:spcBef>
              <a:buNone/>
            </a:pPr>
            <a:r>
              <a:rPr lang="fr-FR" sz="1400" b="1" dirty="0">
                <a:solidFill>
                  <a:schemeClr val="tx1"/>
                </a:solidFill>
                <a:latin typeface="+mj-lt"/>
                <a:ea typeface="+mj-ea"/>
                <a:cs typeface="+mj-cs"/>
              </a:rPr>
              <a:t> ‘’ </a:t>
            </a:r>
            <a:r>
              <a:rPr lang="fr-FR" sz="1400" dirty="0">
                <a:solidFill>
                  <a:schemeClr val="accent1"/>
                </a:solidFill>
                <a:latin typeface="+mj-lt"/>
                <a:ea typeface="+mj-ea"/>
                <a:cs typeface="+mj-cs"/>
              </a:rPr>
              <a:t>Comptabilité et Gestion hôtelière </a:t>
            </a:r>
            <a:r>
              <a:rPr lang="fr-FR" sz="1400" dirty="0">
                <a:solidFill>
                  <a:srgbClr val="002060"/>
                </a:solidFill>
                <a:latin typeface="+mj-lt"/>
                <a:ea typeface="+mj-ea"/>
                <a:cs typeface="+mj-cs"/>
              </a:rPr>
              <a:t>‘’ </a:t>
            </a:r>
            <a:r>
              <a:rPr lang="fr-FR" sz="1400" dirty="0">
                <a:solidFill>
                  <a:schemeClr val="tx1"/>
                </a:solidFill>
                <a:latin typeface="+mj-lt"/>
                <a:ea typeface="+mj-ea"/>
                <a:cs typeface="+mj-cs"/>
              </a:rPr>
              <a:t>un ouvrage publié en 1974, </a:t>
            </a:r>
            <a:r>
              <a:rPr lang="fr-FR" sz="1400" dirty="0">
                <a:solidFill>
                  <a:srgbClr val="002060"/>
                </a:solidFill>
                <a:latin typeface="+mj-lt"/>
                <a:ea typeface="+mj-ea"/>
                <a:cs typeface="+mj-cs"/>
              </a:rPr>
              <a:t>resté comme référence unique dans les Pays francophones durant une vingtaine d’années. </a:t>
            </a:r>
          </a:p>
          <a:p>
            <a:pPr marL="0" indent="0" algn="l">
              <a:lnSpc>
                <a:spcPct val="110000"/>
              </a:lnSpc>
              <a:spcBef>
                <a:spcPts val="0"/>
              </a:spcBef>
              <a:buNone/>
            </a:pPr>
            <a:r>
              <a:rPr lang="fr-FR" sz="1400" b="1" dirty="0">
                <a:solidFill>
                  <a:schemeClr val="tx1"/>
                </a:solidFill>
                <a:latin typeface="+mj-lt"/>
                <a:ea typeface="+mj-ea"/>
                <a:cs typeface="+mj-cs"/>
              </a:rPr>
              <a:t> ‘’ </a:t>
            </a:r>
            <a:r>
              <a:rPr lang="fr-FR" sz="1400" dirty="0">
                <a:solidFill>
                  <a:schemeClr val="accent1"/>
                </a:solidFill>
                <a:latin typeface="+mj-lt"/>
                <a:ea typeface="+mj-ea"/>
                <a:cs typeface="+mj-cs"/>
              </a:rPr>
              <a:t>Horizons an 2000 pour l’ONCF </a:t>
            </a:r>
            <a:r>
              <a:rPr lang="fr-FR" sz="1400" dirty="0">
                <a:solidFill>
                  <a:srgbClr val="002060"/>
                </a:solidFill>
                <a:latin typeface="+mj-lt"/>
                <a:ea typeface="+mj-ea"/>
                <a:cs typeface="+mj-cs"/>
              </a:rPr>
              <a:t>‘’ </a:t>
            </a:r>
            <a:r>
              <a:rPr lang="fr-FR" sz="1400" dirty="0">
                <a:solidFill>
                  <a:schemeClr val="tx1"/>
                </a:solidFill>
                <a:latin typeface="+mj-lt"/>
                <a:ea typeface="+mj-ea"/>
                <a:cs typeface="+mj-cs"/>
              </a:rPr>
              <a:t>paru sur l’Echo du rail - Mars 1979 </a:t>
            </a:r>
          </a:p>
          <a:p>
            <a:pPr marL="0" indent="0">
              <a:lnSpc>
                <a:spcPct val="110000"/>
              </a:lnSpc>
              <a:spcBef>
                <a:spcPts val="0"/>
              </a:spcBef>
              <a:buNone/>
            </a:pPr>
            <a:r>
              <a:rPr lang="fr-FR" sz="1400" b="1" dirty="0">
                <a:solidFill>
                  <a:schemeClr val="tx1"/>
                </a:solidFill>
                <a:latin typeface="+mj-lt"/>
                <a:ea typeface="+mj-ea"/>
                <a:cs typeface="+mj-cs"/>
              </a:rPr>
              <a:t> ‘’ </a:t>
            </a:r>
            <a:r>
              <a:rPr lang="fr-FR" sz="1400" dirty="0">
                <a:solidFill>
                  <a:schemeClr val="accent1"/>
                </a:solidFill>
                <a:latin typeface="+mj-lt"/>
                <a:ea typeface="+mj-ea"/>
                <a:cs typeface="+mj-cs"/>
              </a:rPr>
              <a:t>Retraites : Crises, enjeux et perspectives </a:t>
            </a:r>
            <a:r>
              <a:rPr lang="fr-FR" sz="1400" dirty="0">
                <a:solidFill>
                  <a:schemeClr val="tx1"/>
                </a:solidFill>
                <a:latin typeface="+mj-lt"/>
                <a:ea typeface="+mj-ea"/>
                <a:cs typeface="+mj-cs"/>
              </a:rPr>
              <a:t>au Maroc et ailleurs paru en 2006.</a:t>
            </a:r>
          </a:p>
          <a:p>
            <a:pPr marL="0" indent="0" algn="l">
              <a:lnSpc>
                <a:spcPct val="110000"/>
              </a:lnSpc>
              <a:spcBef>
                <a:spcPts val="0"/>
              </a:spcBef>
              <a:buNone/>
            </a:pPr>
            <a:r>
              <a:rPr lang="fr-FR" sz="1400" b="1" dirty="0">
                <a:solidFill>
                  <a:schemeClr val="tx1"/>
                </a:solidFill>
                <a:latin typeface="+mj-lt"/>
                <a:ea typeface="+mj-ea"/>
                <a:cs typeface="+mj-cs"/>
              </a:rPr>
              <a:t> ‘’ </a:t>
            </a:r>
            <a:r>
              <a:rPr lang="fr-FR" sz="1400" dirty="0">
                <a:solidFill>
                  <a:schemeClr val="accent1"/>
                </a:solidFill>
                <a:latin typeface="+mj-lt"/>
                <a:ea typeface="+mj-ea"/>
                <a:cs typeface="+mj-cs"/>
              </a:rPr>
              <a:t>La Voiture économique </a:t>
            </a:r>
            <a:r>
              <a:rPr lang="fr-FR" sz="1400" dirty="0">
                <a:solidFill>
                  <a:srgbClr val="002060"/>
                </a:solidFill>
                <a:latin typeface="+mj-lt"/>
                <a:ea typeface="+mj-ea"/>
                <a:cs typeface="+mj-cs"/>
              </a:rPr>
              <a:t>‘’ en 2011 </a:t>
            </a:r>
            <a:r>
              <a:rPr lang="fr-FR" sz="1400" b="1" dirty="0">
                <a:solidFill>
                  <a:schemeClr val="tx1"/>
                </a:solidFill>
                <a:latin typeface="+mj-lt"/>
                <a:ea typeface="+mj-ea"/>
                <a:cs typeface="+mj-cs"/>
              </a:rPr>
              <a:t>et ‘’ </a:t>
            </a:r>
            <a:r>
              <a:rPr lang="fr-FR" sz="1400" dirty="0">
                <a:solidFill>
                  <a:schemeClr val="accent1"/>
                </a:solidFill>
                <a:latin typeface="+mj-lt"/>
                <a:ea typeface="+mj-ea"/>
                <a:cs typeface="+mj-cs"/>
              </a:rPr>
              <a:t>Le TGV et l’Industrie ferroviaire </a:t>
            </a:r>
            <a:r>
              <a:rPr lang="fr-FR" sz="1400" dirty="0">
                <a:solidFill>
                  <a:srgbClr val="002060"/>
                </a:solidFill>
                <a:latin typeface="+mj-lt"/>
                <a:ea typeface="+mj-ea"/>
                <a:cs typeface="+mj-cs"/>
              </a:rPr>
              <a:t>‘’ </a:t>
            </a:r>
            <a:r>
              <a:rPr lang="fr-FR" sz="1400" dirty="0">
                <a:solidFill>
                  <a:schemeClr val="tx1"/>
                </a:solidFill>
                <a:latin typeface="+mj-lt"/>
                <a:ea typeface="+mj-ea"/>
                <a:cs typeface="+mj-cs"/>
              </a:rPr>
              <a:t>paru en 2012. </a:t>
            </a:r>
          </a:p>
          <a:p>
            <a:pPr marL="0" indent="0" algn="l">
              <a:lnSpc>
                <a:spcPct val="100000"/>
              </a:lnSpc>
              <a:spcBef>
                <a:spcPts val="0"/>
              </a:spcBef>
              <a:buNone/>
            </a:pPr>
            <a:endParaRPr lang="fr-FR" sz="1400" b="1" dirty="0">
              <a:latin typeface="+mj-lt"/>
              <a:ea typeface="+mj-ea"/>
              <a:cs typeface="+mj-cs"/>
            </a:endParaRPr>
          </a:p>
          <a:p>
            <a:pPr marL="0" indent="0" algn="ctr">
              <a:lnSpc>
                <a:spcPct val="100000"/>
              </a:lnSpc>
              <a:spcBef>
                <a:spcPts val="0"/>
              </a:spcBef>
              <a:buNone/>
            </a:pPr>
            <a:endParaRPr lang="fr-FR" sz="1400" b="1" dirty="0">
              <a:latin typeface="+mj-lt"/>
              <a:ea typeface="+mj-ea"/>
              <a:cs typeface="+mj-cs"/>
            </a:endParaRPr>
          </a:p>
          <a:p>
            <a:pPr marL="0" indent="0" algn="ctr">
              <a:lnSpc>
                <a:spcPct val="100000"/>
              </a:lnSpc>
              <a:spcBef>
                <a:spcPts val="0"/>
              </a:spcBef>
              <a:buNone/>
            </a:pPr>
            <a:r>
              <a:rPr lang="fr-FR" sz="1400" b="1" dirty="0">
                <a:latin typeface="+mj-lt"/>
                <a:ea typeface="+mj-ea"/>
                <a:cs typeface="+mj-cs"/>
              </a:rPr>
              <a:t>Email : </a:t>
            </a:r>
            <a:r>
              <a:rPr lang="fr-FR" sz="1400" dirty="0">
                <a:solidFill>
                  <a:srgbClr val="0070C0"/>
                </a:solidFill>
                <a:latin typeface="+mj-lt"/>
                <a:ea typeface="+mj-ea"/>
                <a:cs typeface="+mj-cs"/>
                <a:hlinkClick r:id="rId2">
                  <a:extLst>
                    <a:ext uri="{A12FA001-AC4F-418D-AE19-62706E023703}">
                      <ahyp:hlinkClr xmlns:ahyp="http://schemas.microsoft.com/office/drawing/2018/hyperlinkcolor" val="tx"/>
                    </a:ext>
                  </a:extLst>
                </a:hlinkClick>
              </a:rPr>
              <a:t>arifsadek42@gmail.com</a:t>
            </a:r>
            <a:r>
              <a:rPr lang="fr-FR" sz="1400" dirty="0">
                <a:solidFill>
                  <a:srgbClr val="0070C0"/>
                </a:solidFill>
                <a:latin typeface="+mj-lt"/>
                <a:ea typeface="+mj-ea"/>
                <a:cs typeface="+mj-cs"/>
              </a:rPr>
              <a:t> </a:t>
            </a:r>
            <a:r>
              <a:rPr lang="fr-FR" sz="1400" b="1" dirty="0">
                <a:latin typeface="+mj-lt"/>
                <a:ea typeface="+mj-ea"/>
                <a:cs typeface="+mj-cs"/>
              </a:rPr>
              <a:t>- Contact Tél</a:t>
            </a:r>
            <a:r>
              <a:rPr lang="fr-FR" sz="1400" dirty="0">
                <a:solidFill>
                  <a:srgbClr val="0070C0"/>
                </a:solidFill>
                <a:latin typeface="+mj-lt"/>
                <a:ea typeface="+mj-ea"/>
                <a:cs typeface="+mj-cs"/>
              </a:rPr>
              <a:t>. 212.6.61.78.80.00</a:t>
            </a:r>
            <a:r>
              <a:rPr lang="fr-FR" sz="1600" dirty="0">
                <a:solidFill>
                  <a:srgbClr val="0070C0"/>
                </a:solidFill>
                <a:latin typeface="+mj-lt"/>
                <a:ea typeface="+mj-ea"/>
                <a:cs typeface="+mj-cs"/>
              </a:rPr>
              <a:t> </a:t>
            </a:r>
            <a:r>
              <a:rPr lang="fr-FR" sz="1400" b="1" dirty="0">
                <a:latin typeface="+mj-lt"/>
                <a:ea typeface="+mj-ea"/>
                <a:cs typeface="+mj-cs"/>
              </a:rPr>
              <a:t>- Ville </a:t>
            </a:r>
            <a:r>
              <a:rPr lang="fr-FR" sz="1600" dirty="0">
                <a:solidFill>
                  <a:srgbClr val="0070C0"/>
                </a:solidFill>
                <a:latin typeface="+mj-lt"/>
                <a:ea typeface="+mj-ea"/>
                <a:cs typeface="+mj-cs"/>
              </a:rPr>
              <a:t>: </a:t>
            </a:r>
            <a:r>
              <a:rPr lang="fr-FR" sz="1400" dirty="0">
                <a:solidFill>
                  <a:srgbClr val="0070C0"/>
                </a:solidFill>
                <a:latin typeface="+mj-lt"/>
                <a:ea typeface="+mj-ea"/>
                <a:cs typeface="+mj-cs"/>
              </a:rPr>
              <a:t>Mohammedia-Facultés.</a:t>
            </a:r>
          </a:p>
          <a:p>
            <a:endParaRPr lang="fr-FR" dirty="0"/>
          </a:p>
        </p:txBody>
      </p:sp>
    </p:spTree>
    <p:extLst>
      <p:ext uri="{BB962C8B-B14F-4D97-AF65-F5344CB8AC3E}">
        <p14:creationId xmlns:p14="http://schemas.microsoft.com/office/powerpoint/2010/main" val="2158151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495D37-6D34-93A4-14DB-36D9F6E9599D}"/>
              </a:ext>
            </a:extLst>
          </p:cNvPr>
          <p:cNvSpPr>
            <a:spLocks noGrp="1"/>
          </p:cNvSpPr>
          <p:nvPr>
            <p:ph type="title"/>
          </p:nvPr>
        </p:nvSpPr>
        <p:spPr>
          <a:xfrm>
            <a:off x="2592925" y="624110"/>
            <a:ext cx="8911687" cy="1169966"/>
          </a:xfrm>
        </p:spPr>
        <p:txBody>
          <a:bodyPr>
            <a:normAutofit/>
          </a:bodyPr>
          <a:lstStyle/>
          <a:p>
            <a:r>
              <a:rPr lang="fr-FR" sz="2400" b="1" dirty="0"/>
              <a:t>                                                                                                 </a:t>
            </a:r>
            <a:br>
              <a:rPr lang="fr-FR" sz="2400" b="1" dirty="0"/>
            </a:br>
            <a:r>
              <a:rPr lang="fr-FR" sz="2400" b="1" cap="none" dirty="0">
                <a:solidFill>
                  <a:schemeClr val="accent1"/>
                </a:solidFill>
                <a:latin typeface="Avenir Book" panose="02000503020000020003" pitchFamily="2" charset="0"/>
              </a:rPr>
              <a:t>De quoi s’agit-il d’abord ?</a:t>
            </a:r>
            <a:endParaRPr lang="fr-FR" sz="2400" b="1" dirty="0">
              <a:latin typeface="Avenir Book" panose="02000503020000020003" pitchFamily="2" charset="0"/>
            </a:endParaRPr>
          </a:p>
        </p:txBody>
      </p:sp>
      <p:sp>
        <p:nvSpPr>
          <p:cNvPr id="3" name="Espace réservé du contenu 2">
            <a:extLst>
              <a:ext uri="{FF2B5EF4-FFF2-40B4-BE49-F238E27FC236}">
                <a16:creationId xmlns:a16="http://schemas.microsoft.com/office/drawing/2014/main" id="{98EBDF1E-9AA6-0A36-5652-BA68B3294A64}"/>
              </a:ext>
            </a:extLst>
          </p:cNvPr>
          <p:cNvSpPr>
            <a:spLocks noGrp="1"/>
          </p:cNvSpPr>
          <p:nvPr>
            <p:ph idx="1"/>
          </p:nvPr>
        </p:nvSpPr>
        <p:spPr>
          <a:xfrm>
            <a:off x="2589211" y="1794076"/>
            <a:ext cx="9182241" cy="4117146"/>
          </a:xfrm>
        </p:spPr>
        <p:txBody>
          <a:bodyPr>
            <a:normAutofit/>
          </a:bodyPr>
          <a:lstStyle/>
          <a:p>
            <a:pPr marL="0" indent="0">
              <a:buNone/>
            </a:pPr>
            <a:r>
              <a:rPr lang="fr-FR" dirty="0"/>
              <a:t>On dira que </a:t>
            </a:r>
            <a:r>
              <a:rPr lang="fr-FR" dirty="0">
                <a:latin typeface="Avenir Book" panose="02000503020000020003" pitchFamily="2" charset="0"/>
              </a:rPr>
              <a:t>‘’ </a:t>
            </a:r>
            <a:r>
              <a:rPr lang="fr-FR" b="1" dirty="0" err="1">
                <a:solidFill>
                  <a:schemeClr val="accent5"/>
                </a:solidFill>
                <a:latin typeface="Avenir Book" panose="02000503020000020003" pitchFamily="2" charset="0"/>
              </a:rPr>
              <a:t>eG</a:t>
            </a:r>
            <a:r>
              <a:rPr lang="fr-FR" b="1" dirty="0">
                <a:solidFill>
                  <a:schemeClr val="accent5"/>
                </a:solidFill>
                <a:latin typeface="Avenir Book" panose="02000503020000020003" pitchFamily="2" charset="0"/>
              </a:rPr>
              <a:t> </a:t>
            </a:r>
            <a:r>
              <a:rPr lang="fr-FR" dirty="0">
                <a:latin typeface="Avenir Book" panose="02000503020000020003" pitchFamily="2" charset="0"/>
              </a:rPr>
              <a:t>‘’ est une Base documentaire à caractère économique qui s’intéresse d’abord au </a:t>
            </a:r>
            <a:r>
              <a:rPr lang="fr-FR" b="1" dirty="0">
                <a:solidFill>
                  <a:schemeClr val="tx1"/>
                </a:solidFill>
                <a:latin typeface="Avenir Book" panose="02000503020000020003" pitchFamily="2" charset="0"/>
              </a:rPr>
              <a:t>Maroc</a:t>
            </a:r>
            <a:r>
              <a:rPr lang="fr-FR" dirty="0">
                <a:latin typeface="Avenir Book" panose="02000503020000020003" pitchFamily="2" charset="0"/>
              </a:rPr>
              <a:t> et vise spécialement les Cadres et Dirigeants travaillant sur un </a:t>
            </a:r>
            <a:r>
              <a:rPr lang="fr-FR" b="1" dirty="0">
                <a:latin typeface="Avenir Book" panose="02000503020000020003" pitchFamily="2" charset="0"/>
              </a:rPr>
              <a:t>dossier</a:t>
            </a:r>
            <a:r>
              <a:rPr lang="fr-FR" dirty="0">
                <a:latin typeface="Avenir Book" panose="02000503020000020003" pitchFamily="2" charset="0"/>
              </a:rPr>
              <a:t> </a:t>
            </a:r>
            <a:r>
              <a:rPr lang="fr-FR" b="1" dirty="0">
                <a:solidFill>
                  <a:schemeClr val="tx1"/>
                </a:solidFill>
                <a:latin typeface="Avenir Book" panose="02000503020000020003" pitchFamily="2" charset="0"/>
              </a:rPr>
              <a:t>d’étude ou participant à un débat à caractère économique et social</a:t>
            </a:r>
            <a:r>
              <a:rPr lang="fr-FR" dirty="0">
                <a:latin typeface="Avenir Book" panose="02000503020000020003" pitchFamily="2" charset="0"/>
              </a:rPr>
              <a:t>. </a:t>
            </a:r>
          </a:p>
          <a:p>
            <a:pPr marL="0" indent="0">
              <a:lnSpc>
                <a:spcPct val="110000"/>
              </a:lnSpc>
              <a:spcBef>
                <a:spcPts val="0"/>
              </a:spcBef>
              <a:buNone/>
            </a:pPr>
            <a:r>
              <a:rPr lang="fr-FR" dirty="0">
                <a:latin typeface="Avenir Book" panose="02000503020000020003" pitchFamily="2" charset="0"/>
              </a:rPr>
              <a:t>Muni d’un </a:t>
            </a:r>
            <a:r>
              <a:rPr lang="fr-FR" sz="1600" b="1" dirty="0">
                <a:solidFill>
                  <a:schemeClr val="accent1"/>
                </a:solidFill>
                <a:latin typeface="Avenir Book" panose="02000503020000020003" pitchFamily="2" charset="0"/>
              </a:rPr>
              <a:t>Smartphone</a:t>
            </a:r>
            <a:r>
              <a:rPr lang="fr-FR" dirty="0">
                <a:solidFill>
                  <a:schemeClr val="accent2"/>
                </a:solidFill>
                <a:latin typeface="Avenir Book" panose="02000503020000020003" pitchFamily="2" charset="0"/>
              </a:rPr>
              <a:t> </a:t>
            </a:r>
            <a:r>
              <a:rPr lang="fr-FR" dirty="0">
                <a:latin typeface="Avenir Book" panose="02000503020000020003" pitchFamily="2" charset="0"/>
              </a:rPr>
              <a:t>et d’une </a:t>
            </a:r>
            <a:r>
              <a:rPr lang="fr-FR" sz="1600" b="1" dirty="0">
                <a:solidFill>
                  <a:schemeClr val="accent1"/>
                </a:solidFill>
                <a:latin typeface="Avenir Book" panose="02000503020000020003" pitchFamily="2" charset="0"/>
              </a:rPr>
              <a:t>Application mobile</a:t>
            </a:r>
            <a:r>
              <a:rPr lang="fr-FR" dirty="0">
                <a:latin typeface="Avenir Book" panose="02000503020000020003" pitchFamily="2" charset="0"/>
              </a:rPr>
              <a:t>, l’intéressé(e) pourra accéder directement </a:t>
            </a:r>
            <a:r>
              <a:rPr lang="fr-FR" sz="1700" b="1" dirty="0">
                <a:latin typeface="Avenir Book" panose="02000503020000020003" pitchFamily="2" charset="0"/>
              </a:rPr>
              <a:t>en </a:t>
            </a:r>
            <a:r>
              <a:rPr lang="fr-FR" sz="1700" b="1" dirty="0">
                <a:solidFill>
                  <a:srgbClr val="0070C0"/>
                </a:solidFill>
                <a:latin typeface="Avenir Book" panose="02000503020000020003" pitchFamily="2" charset="0"/>
              </a:rPr>
              <a:t>2 ou 3</a:t>
            </a:r>
            <a:r>
              <a:rPr lang="fr-FR" sz="1700" b="1" dirty="0">
                <a:latin typeface="Avenir Book" panose="02000503020000020003" pitchFamily="2" charset="0"/>
              </a:rPr>
              <a:t> </a:t>
            </a:r>
            <a:r>
              <a:rPr lang="fr-FR" dirty="0">
                <a:latin typeface="Avenir Book" panose="02000503020000020003" pitchFamily="2" charset="0"/>
              </a:rPr>
              <a:t>clics à tout un ensemble d’informations couvrant tous les </a:t>
            </a:r>
            <a:r>
              <a:rPr lang="fr-FR" sz="1700" b="1" dirty="0">
                <a:solidFill>
                  <a:schemeClr val="accent1"/>
                </a:solidFill>
                <a:latin typeface="Avenir Book" panose="02000503020000020003" pitchFamily="2" charset="0"/>
              </a:rPr>
              <a:t>Secteurs d’activité économique</a:t>
            </a:r>
            <a:r>
              <a:rPr lang="fr-FR" sz="1700" b="1" dirty="0">
                <a:latin typeface="Avenir Book" panose="02000503020000020003" pitchFamily="2" charset="0"/>
              </a:rPr>
              <a:t>.                          </a:t>
            </a:r>
          </a:p>
          <a:p>
            <a:pPr marL="0" indent="0">
              <a:buNone/>
            </a:pPr>
            <a:r>
              <a:rPr lang="fr-FR" dirty="0">
                <a:solidFill>
                  <a:srgbClr val="0070C0"/>
                </a:solidFill>
                <a:latin typeface="Avenir Book" panose="02000503020000020003" pitchFamily="2" charset="0"/>
              </a:rPr>
              <a:t>Un seul sujet par Document </a:t>
            </a:r>
            <a:r>
              <a:rPr lang="fr-FR" dirty="0">
                <a:latin typeface="Avenir Book" panose="02000503020000020003" pitchFamily="2" charset="0"/>
              </a:rPr>
              <a:t>présenté dans </a:t>
            </a:r>
            <a:r>
              <a:rPr lang="fr-FR" dirty="0">
                <a:solidFill>
                  <a:srgbClr val="0070C0"/>
                </a:solidFill>
                <a:latin typeface="Avenir Book" panose="02000503020000020003" pitchFamily="2" charset="0"/>
              </a:rPr>
              <a:t>une seule page </a:t>
            </a:r>
            <a:r>
              <a:rPr lang="fr-FR" dirty="0">
                <a:latin typeface="Avenir Book" panose="02000503020000020003" pitchFamily="2" charset="0"/>
              </a:rPr>
              <a:t>couvrant l’</a:t>
            </a:r>
            <a:r>
              <a:rPr lang="fr-FR" sz="1800" b="1" dirty="0">
                <a:solidFill>
                  <a:srgbClr val="0070C0"/>
                </a:solidFill>
                <a:latin typeface="Avenir Book" panose="02000503020000020003" pitchFamily="2" charset="0"/>
              </a:rPr>
              <a:t>Essentiel</a:t>
            </a:r>
            <a:r>
              <a:rPr lang="fr-FR" sz="1800" dirty="0">
                <a:solidFill>
                  <a:srgbClr val="0070C0"/>
                </a:solidFill>
                <a:latin typeface="Avenir Book" panose="02000503020000020003" pitchFamily="2" charset="0"/>
              </a:rPr>
              <a:t> </a:t>
            </a:r>
            <a:r>
              <a:rPr lang="fr-FR" sz="1800" dirty="0">
                <a:solidFill>
                  <a:schemeClr val="tx1"/>
                </a:solidFill>
                <a:latin typeface="Avenir Book" panose="02000503020000020003" pitchFamily="2" charset="0"/>
              </a:rPr>
              <a:t>toujours</a:t>
            </a:r>
            <a:r>
              <a:rPr lang="fr-FR" sz="1800" dirty="0">
                <a:solidFill>
                  <a:srgbClr val="0070C0"/>
                </a:solidFill>
                <a:latin typeface="Avenir Book" panose="02000503020000020003" pitchFamily="2" charset="0"/>
              </a:rPr>
              <a:t> </a:t>
            </a:r>
            <a:r>
              <a:rPr lang="fr-FR" dirty="0">
                <a:latin typeface="Avenir Book" panose="02000503020000020003" pitchFamily="2" charset="0"/>
              </a:rPr>
              <a:t>avec des </a:t>
            </a:r>
            <a:r>
              <a:rPr lang="fr-FR" sz="1600" b="1" dirty="0">
                <a:solidFill>
                  <a:schemeClr val="accent1"/>
                </a:solidFill>
                <a:latin typeface="Avenir Book" panose="02000503020000020003" pitchFamily="2" charset="0"/>
              </a:rPr>
              <a:t>Chiffres clés </a:t>
            </a:r>
            <a:r>
              <a:rPr lang="fr-FR" dirty="0">
                <a:latin typeface="Avenir Book" panose="02000503020000020003" pitchFamily="2" charset="0"/>
              </a:rPr>
              <a:t>faciles à mémoriser, présentés avec des outils infographiques.</a:t>
            </a:r>
            <a:endParaRPr lang="fr-FR" sz="1600" dirty="0">
              <a:latin typeface="Avenir Book" panose="02000503020000020003" pitchFamily="2" charset="0"/>
            </a:endParaRPr>
          </a:p>
          <a:p>
            <a:pPr marL="0" indent="0">
              <a:buNone/>
            </a:pPr>
            <a:r>
              <a:rPr lang="fr-FR" dirty="0">
                <a:latin typeface="Avenir Book" panose="02000503020000020003" pitchFamily="2" charset="0"/>
              </a:rPr>
              <a:t>Les données traitées font très souvent l’objet d’une </a:t>
            </a:r>
            <a:r>
              <a:rPr lang="fr-FR" sz="1600" b="1" dirty="0">
                <a:solidFill>
                  <a:schemeClr val="accent1"/>
                </a:solidFill>
                <a:latin typeface="Avenir Book" panose="02000503020000020003" pitchFamily="2" charset="0"/>
              </a:rPr>
              <a:t>comparaison dans le Temps </a:t>
            </a:r>
            <a:r>
              <a:rPr lang="fr-FR" dirty="0">
                <a:latin typeface="Avenir Book" panose="02000503020000020003" pitchFamily="2" charset="0"/>
              </a:rPr>
              <a:t>(</a:t>
            </a:r>
            <a:r>
              <a:rPr lang="fr-FR" sz="1800" dirty="0">
                <a:latin typeface="Avenir Book" panose="02000503020000020003" pitchFamily="2" charset="0"/>
              </a:rPr>
              <a:t>2, 5,</a:t>
            </a:r>
            <a:r>
              <a:rPr lang="fr-FR" dirty="0">
                <a:latin typeface="Avenir Book" panose="02000503020000020003" pitchFamily="2" charset="0"/>
              </a:rPr>
              <a:t>voire parfois plus de </a:t>
            </a:r>
            <a:r>
              <a:rPr lang="fr-FR" sz="1800" dirty="0">
                <a:latin typeface="Avenir Book" panose="02000503020000020003" pitchFamily="2" charset="0"/>
              </a:rPr>
              <a:t>20</a:t>
            </a:r>
            <a:r>
              <a:rPr lang="fr-FR" dirty="0">
                <a:latin typeface="Avenir Book" panose="02000503020000020003" pitchFamily="2" charset="0"/>
              </a:rPr>
              <a:t> ans) et dans </a:t>
            </a:r>
            <a:r>
              <a:rPr lang="fr-FR" sz="1400" b="1" dirty="0">
                <a:solidFill>
                  <a:schemeClr val="accent1"/>
                </a:solidFill>
                <a:latin typeface="Avenir Book" panose="02000503020000020003" pitchFamily="2" charset="0"/>
              </a:rPr>
              <a:t>l</a:t>
            </a:r>
            <a:r>
              <a:rPr lang="fr-FR" sz="1600" b="1" dirty="0">
                <a:solidFill>
                  <a:schemeClr val="accent1"/>
                </a:solidFill>
                <a:latin typeface="Avenir Book" panose="02000503020000020003" pitchFamily="2" charset="0"/>
              </a:rPr>
              <a:t>’Espace</a:t>
            </a:r>
            <a:r>
              <a:rPr lang="fr-FR" sz="1400" b="1" dirty="0">
                <a:solidFill>
                  <a:schemeClr val="accent1"/>
                </a:solidFill>
                <a:latin typeface="Avenir Book" panose="02000503020000020003" pitchFamily="2" charset="0"/>
              </a:rPr>
              <a:t> </a:t>
            </a:r>
            <a:r>
              <a:rPr lang="fr-FR" sz="1400" b="1" dirty="0">
                <a:solidFill>
                  <a:schemeClr val="tx1"/>
                </a:solidFill>
                <a:latin typeface="Avenir Book" panose="02000503020000020003" pitchFamily="2" charset="0"/>
              </a:rPr>
              <a:t>autant que possible</a:t>
            </a:r>
            <a:r>
              <a:rPr lang="fr-FR" sz="1400" b="1" dirty="0">
                <a:solidFill>
                  <a:schemeClr val="accent1"/>
                </a:solidFill>
                <a:latin typeface="Avenir Book" panose="02000503020000020003" pitchFamily="2" charset="0"/>
              </a:rPr>
              <a:t> </a:t>
            </a:r>
            <a:r>
              <a:rPr lang="fr-FR" sz="1500" dirty="0">
                <a:latin typeface="Avenir Book" panose="02000503020000020003" pitchFamily="2" charset="0"/>
              </a:rPr>
              <a:t>(Maghreb, Région M</a:t>
            </a:r>
            <a:r>
              <a:rPr lang="fr-FR" sz="1400" dirty="0">
                <a:latin typeface="Avenir Book" panose="02000503020000020003" pitchFamily="2" charset="0"/>
              </a:rPr>
              <a:t>ENA</a:t>
            </a:r>
            <a:r>
              <a:rPr lang="fr-FR" sz="1500" dirty="0">
                <a:latin typeface="Avenir Book" panose="02000503020000020003" pitchFamily="2" charset="0"/>
              </a:rPr>
              <a:t>, Europe, Monde). </a:t>
            </a:r>
          </a:p>
          <a:p>
            <a:pPr marL="0" indent="0">
              <a:buNone/>
            </a:pPr>
            <a:r>
              <a:rPr lang="fr-FR" dirty="0">
                <a:latin typeface="Avenir Book" panose="02000503020000020003" pitchFamily="2" charset="0"/>
              </a:rPr>
              <a:t>Nos données sont très souvent extraites de Rapports ou de </a:t>
            </a:r>
            <a:r>
              <a:rPr lang="fr-FR" sz="1600" b="1" dirty="0">
                <a:solidFill>
                  <a:schemeClr val="accent1"/>
                </a:solidFill>
                <a:latin typeface="Avenir Book" panose="02000503020000020003" pitchFamily="2" charset="0"/>
              </a:rPr>
              <a:t>Publications officielles </a:t>
            </a:r>
            <a:r>
              <a:rPr lang="fr-FR" sz="2000" dirty="0">
                <a:latin typeface="Avenir Book" panose="02000503020000020003" pitchFamily="2" charset="0"/>
              </a:rPr>
              <a:t>mais aussi dans d’autres sources privés marocains et étrangers et ce, </a:t>
            </a:r>
            <a:r>
              <a:rPr lang="fr-FR" dirty="0">
                <a:latin typeface="Avenir Book" panose="02000503020000020003" pitchFamily="2" charset="0"/>
              </a:rPr>
              <a:t>dans le respect total des </a:t>
            </a:r>
            <a:r>
              <a:rPr lang="fr-FR" sz="1600" b="1" dirty="0">
                <a:solidFill>
                  <a:schemeClr val="accent1"/>
                </a:solidFill>
                <a:latin typeface="Avenir Book" panose="02000503020000020003" pitchFamily="2" charset="0"/>
              </a:rPr>
              <a:t>Droits d’auteur. </a:t>
            </a:r>
          </a:p>
          <a:p>
            <a:pPr marL="0" indent="0">
              <a:buNone/>
            </a:pPr>
            <a:r>
              <a:rPr lang="fr-FR" sz="1500" b="1" dirty="0">
                <a:solidFill>
                  <a:srgbClr val="0070C0"/>
                </a:solidFill>
                <a:latin typeface="Avenir Book" panose="02000503020000020003" pitchFamily="2" charset="0"/>
              </a:rPr>
              <a:t>NB : Les Documents sources sont directement mis dans leur intégralité à la disposition de tout intéressé(e).</a:t>
            </a:r>
          </a:p>
          <a:p>
            <a:pPr marL="0" indent="0">
              <a:buNone/>
            </a:pPr>
            <a:endParaRPr lang="fr-FR" dirty="0"/>
          </a:p>
        </p:txBody>
      </p:sp>
    </p:spTree>
    <p:extLst>
      <p:ext uri="{BB962C8B-B14F-4D97-AF65-F5344CB8AC3E}">
        <p14:creationId xmlns:p14="http://schemas.microsoft.com/office/powerpoint/2010/main" val="564218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AA0606-941E-8C3A-1603-7F5A6C3FA93B}"/>
              </a:ext>
            </a:extLst>
          </p:cNvPr>
          <p:cNvSpPr>
            <a:spLocks noGrp="1"/>
          </p:cNvSpPr>
          <p:nvPr>
            <p:ph type="title"/>
          </p:nvPr>
        </p:nvSpPr>
        <p:spPr>
          <a:xfrm>
            <a:off x="2592925" y="532434"/>
            <a:ext cx="9085930" cy="1372566"/>
          </a:xfrm>
        </p:spPr>
        <p:txBody>
          <a:bodyPr>
            <a:normAutofit/>
          </a:bodyPr>
          <a:lstStyle/>
          <a:p>
            <a:r>
              <a:rPr lang="fr-FR" sz="2400" dirty="0">
                <a:solidFill>
                  <a:schemeClr val="accent5"/>
                </a:solidFill>
                <a:latin typeface="Gill Sans MT" panose="020B0502020104020203" pitchFamily="34" charset="77"/>
              </a:rPr>
              <a:t>                                                                                                           </a:t>
            </a:r>
            <a:br>
              <a:rPr lang="fr-MA" sz="2400" b="1" u="sng" dirty="0">
                <a:highlight>
                  <a:srgbClr val="C0C0C0"/>
                </a:highlight>
                <a:latin typeface="Avenir Book" panose="02000503020000020003" pitchFamily="2" charset="0"/>
                <a:ea typeface="Times New Roman" panose="02020603050405020304" pitchFamily="18" charset="0"/>
                <a:cs typeface="Arial" panose="020B0604020202020204" pitchFamily="34" charset="0"/>
              </a:rPr>
            </a:br>
            <a:r>
              <a:rPr lang="fr-MA" sz="3600" b="1" dirty="0">
                <a:effectLst/>
                <a:latin typeface="Avenir Book" panose="02000503020000020003" pitchFamily="2" charset="0"/>
                <a:ea typeface="Times New Roman" panose="02020603050405020304" pitchFamily="18" charset="0"/>
                <a:cs typeface="Arial" panose="020B0604020202020204" pitchFamily="34" charset="0"/>
              </a:rPr>
              <a:t> </a:t>
            </a:r>
            <a:r>
              <a:rPr lang="fr-FR" sz="3100" b="1" dirty="0">
                <a:solidFill>
                  <a:schemeClr val="tx1"/>
                </a:solidFill>
                <a:latin typeface="Avenir Book" panose="02000503020000020003" pitchFamily="2" charset="0"/>
              </a:rPr>
              <a:t>Chiffres clés de l’Entreprise</a:t>
            </a:r>
            <a:r>
              <a:rPr lang="fr-FR" sz="2700" b="1" dirty="0">
                <a:solidFill>
                  <a:schemeClr val="tx1"/>
                </a:solidFill>
                <a:latin typeface="Avenir Book" panose="02000503020000020003" pitchFamily="2" charset="0"/>
              </a:rPr>
              <a:t>.</a:t>
            </a:r>
            <a:br>
              <a:rPr lang="fr-FR" dirty="0">
                <a:solidFill>
                  <a:schemeClr val="accent2"/>
                </a:solidFill>
                <a:latin typeface="Avenir Book" panose="02000503020000020003" pitchFamily="2" charset="0"/>
              </a:rPr>
            </a:br>
            <a:endParaRPr lang="fr-FR" sz="2400" b="1" dirty="0">
              <a:solidFill>
                <a:schemeClr val="accent2"/>
              </a:solidFill>
              <a:latin typeface="Avenir Book" panose="02000503020000020003" pitchFamily="2" charset="0"/>
            </a:endParaRPr>
          </a:p>
        </p:txBody>
      </p:sp>
      <p:pic>
        <p:nvPicPr>
          <p:cNvPr id="4" name="Espace réservé du contenu 3">
            <a:extLst>
              <a:ext uri="{FF2B5EF4-FFF2-40B4-BE49-F238E27FC236}">
                <a16:creationId xmlns:a16="http://schemas.microsoft.com/office/drawing/2014/main" id="{1094DAF5-0C4B-88E4-C6E1-2F14878FD073}"/>
              </a:ext>
            </a:extLst>
          </p:cNvPr>
          <p:cNvPicPr>
            <a:picLocks noGrp="1" noChangeAspect="1"/>
          </p:cNvPicPr>
          <p:nvPr>
            <p:ph idx="1"/>
          </p:nvPr>
        </p:nvPicPr>
        <p:blipFill>
          <a:blip cstate="print">
            <a:extLst>
              <a:ext uri="{28A0092B-C50C-407E-A947-70E740481C1C}">
                <a14:useLocalDpi xmlns:a14="http://schemas.microsoft.com/office/drawing/2010/main" val="0"/>
              </a:ext>
            </a:extLst>
          </a:blip>
          <a:stretch>
            <a:fillRect/>
          </a:stretch>
        </p:blipFill>
        <p:spPr>
          <a:xfrm>
            <a:off x="2592926" y="2817341"/>
            <a:ext cx="2176782" cy="3416549"/>
          </a:xfrm>
          <a:prstGeom prst="rect">
            <a:avLst/>
          </a:prstGeom>
        </p:spPr>
      </p:pic>
      <p:sp>
        <p:nvSpPr>
          <p:cNvPr id="6" name="ZoneTexte 5">
            <a:extLst>
              <a:ext uri="{FF2B5EF4-FFF2-40B4-BE49-F238E27FC236}">
                <a16:creationId xmlns:a16="http://schemas.microsoft.com/office/drawing/2014/main" id="{91787383-DDE0-31F7-3CB6-14398166C0A6}"/>
              </a:ext>
            </a:extLst>
          </p:cNvPr>
          <p:cNvSpPr txBox="1"/>
          <p:nvPr/>
        </p:nvSpPr>
        <p:spPr>
          <a:xfrm>
            <a:off x="4861367" y="3341580"/>
            <a:ext cx="6667017" cy="646331"/>
          </a:xfrm>
          <a:prstGeom prst="rect">
            <a:avLst/>
          </a:prstGeom>
          <a:noFill/>
        </p:spPr>
        <p:txBody>
          <a:bodyPr wrap="square" rtlCol="0">
            <a:spAutoFit/>
          </a:bodyPr>
          <a:lstStyle/>
          <a:p>
            <a:r>
              <a:rPr lang="fr-FR" b="1" dirty="0">
                <a:solidFill>
                  <a:srgbClr val="0070C0"/>
                </a:solidFill>
                <a:latin typeface="Candara" panose="020E0502030303020204" pitchFamily="34" charset="0"/>
                <a:ea typeface="+mj-ea"/>
                <a:cs typeface="+mj-cs"/>
              </a:rPr>
              <a:t>On passe aujourd’hui à une Application mobile</a:t>
            </a:r>
            <a:r>
              <a:rPr lang="fr-FR" sz="2000" b="1" dirty="0">
                <a:solidFill>
                  <a:srgbClr val="EEE74B"/>
                </a:solidFill>
                <a:latin typeface="Candara" panose="020E0502030303020204" pitchFamily="34" charset="0"/>
                <a:ea typeface="+mj-ea"/>
                <a:cs typeface="+mj-cs"/>
              </a:rPr>
              <a:t>,</a:t>
            </a:r>
          </a:p>
          <a:p>
            <a:r>
              <a:rPr lang="fr-FR" sz="1600" b="1" dirty="0">
                <a:latin typeface="Candara" panose="020E0502030303020204" pitchFamily="34" charset="0"/>
                <a:ea typeface="+mj-ea"/>
                <a:cs typeface="+mj-cs"/>
              </a:rPr>
              <a:t>Nouvelles Technologies de l’Information et de la Communication obligent.</a:t>
            </a:r>
          </a:p>
        </p:txBody>
      </p:sp>
      <p:sp>
        <p:nvSpPr>
          <p:cNvPr id="7" name="ZoneTexte 6">
            <a:extLst>
              <a:ext uri="{FF2B5EF4-FFF2-40B4-BE49-F238E27FC236}">
                <a16:creationId xmlns:a16="http://schemas.microsoft.com/office/drawing/2014/main" id="{C3753C92-0913-BFC2-42AB-6251249781FE}"/>
              </a:ext>
            </a:extLst>
          </p:cNvPr>
          <p:cNvSpPr txBox="1"/>
          <p:nvPr/>
        </p:nvSpPr>
        <p:spPr>
          <a:xfrm>
            <a:off x="3101546" y="2100649"/>
            <a:ext cx="3731054" cy="461665"/>
          </a:xfrm>
          <a:prstGeom prst="rect">
            <a:avLst/>
          </a:prstGeom>
          <a:noFill/>
        </p:spPr>
        <p:txBody>
          <a:bodyPr wrap="square" rtlCol="0">
            <a:spAutoFit/>
          </a:bodyPr>
          <a:lstStyle/>
          <a:p>
            <a:r>
              <a:rPr lang="fr-FR" sz="2000" b="1" dirty="0">
                <a:solidFill>
                  <a:srgbClr val="0070C0"/>
                </a:solidFill>
                <a:latin typeface="Candara" panose="020E0502030303020204" pitchFamily="34" charset="0"/>
                <a:ea typeface="+mj-ea"/>
                <a:cs typeface="+mj-cs"/>
              </a:rPr>
              <a:t>De l’Ed</a:t>
            </a:r>
            <a:r>
              <a:rPr lang="fr-FR" sz="2400" b="1" dirty="0">
                <a:solidFill>
                  <a:srgbClr val="0070C0"/>
                </a:solidFill>
                <a:latin typeface="Candara" panose="020E0502030303020204" pitchFamily="34" charset="0"/>
                <a:ea typeface="+mj-ea"/>
                <a:cs typeface="+mj-cs"/>
              </a:rPr>
              <a:t>ition 2001</a:t>
            </a:r>
            <a:r>
              <a:rPr lang="fr-FR" sz="1800" b="1" dirty="0">
                <a:solidFill>
                  <a:srgbClr val="0070C0"/>
                </a:solidFill>
                <a:latin typeface="Candara" panose="020E0502030303020204" pitchFamily="34" charset="0"/>
              </a:rPr>
              <a:t>, sur Disquette </a:t>
            </a:r>
            <a:endParaRPr lang="fr-FR" dirty="0">
              <a:solidFill>
                <a:srgbClr val="0070C0"/>
              </a:solidFill>
            </a:endParaRPr>
          </a:p>
        </p:txBody>
      </p:sp>
      <p:pic>
        <p:nvPicPr>
          <p:cNvPr id="3" name="Image 2">
            <a:extLst>
              <a:ext uri="{FF2B5EF4-FFF2-40B4-BE49-F238E27FC236}">
                <a16:creationId xmlns:a16="http://schemas.microsoft.com/office/drawing/2014/main" id="{64D18BB9-FB7D-986F-8B74-3223D53A4066}"/>
              </a:ext>
            </a:extLst>
          </p:cNvPr>
          <p:cNvPicPr>
            <a:picLocks noChangeAspect="1"/>
          </p:cNvPicPr>
          <p:nvPr/>
        </p:nvPicPr>
        <p:blipFill>
          <a:blip/>
          <a:stretch>
            <a:fillRect/>
          </a:stretch>
        </p:blipFill>
        <p:spPr>
          <a:xfrm>
            <a:off x="10139422" y="4172576"/>
            <a:ext cx="1099595" cy="2061313"/>
          </a:xfrm>
          <a:prstGeom prst="rect">
            <a:avLst/>
          </a:prstGeom>
        </p:spPr>
      </p:pic>
      <p:pic>
        <p:nvPicPr>
          <p:cNvPr id="12" name="Image 11">
            <a:extLst>
              <a:ext uri="{FF2B5EF4-FFF2-40B4-BE49-F238E27FC236}">
                <a16:creationId xmlns:a16="http://schemas.microsoft.com/office/drawing/2014/main" id="{1D029984-3C3D-1C73-939F-3EBF481D4949}"/>
              </a:ext>
            </a:extLst>
          </p:cNvPr>
          <p:cNvPicPr>
            <a:picLocks noChangeAspect="1"/>
          </p:cNvPicPr>
          <p:nvPr/>
        </p:nvPicPr>
        <p:blipFill>
          <a:blip r:embed="rId2"/>
          <a:stretch>
            <a:fillRect/>
          </a:stretch>
        </p:blipFill>
        <p:spPr>
          <a:xfrm>
            <a:off x="2501267" y="2817340"/>
            <a:ext cx="2268441" cy="3416549"/>
          </a:xfrm>
          <a:prstGeom prst="rect">
            <a:avLst/>
          </a:prstGeom>
        </p:spPr>
      </p:pic>
      <p:pic>
        <p:nvPicPr>
          <p:cNvPr id="14" name="Image 13">
            <a:extLst>
              <a:ext uri="{FF2B5EF4-FFF2-40B4-BE49-F238E27FC236}">
                <a16:creationId xmlns:a16="http://schemas.microsoft.com/office/drawing/2014/main" id="{035D0034-5206-0756-B645-3B6B01F5DC69}"/>
              </a:ext>
            </a:extLst>
          </p:cNvPr>
          <p:cNvPicPr>
            <a:picLocks noChangeAspect="1"/>
          </p:cNvPicPr>
          <p:nvPr/>
        </p:nvPicPr>
        <p:blipFill>
          <a:blip r:embed="rId3"/>
          <a:stretch>
            <a:fillRect/>
          </a:stretch>
        </p:blipFill>
        <p:spPr>
          <a:xfrm>
            <a:off x="10139421" y="4172575"/>
            <a:ext cx="1099595" cy="2061313"/>
          </a:xfrm>
          <a:prstGeom prst="rect">
            <a:avLst/>
          </a:prstGeom>
        </p:spPr>
      </p:pic>
    </p:spTree>
    <p:extLst>
      <p:ext uri="{BB962C8B-B14F-4D97-AF65-F5344CB8AC3E}">
        <p14:creationId xmlns:p14="http://schemas.microsoft.com/office/powerpoint/2010/main" val="1818976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153126-82EC-335C-459F-3F44E01F478E}"/>
              </a:ext>
            </a:extLst>
          </p:cNvPr>
          <p:cNvSpPr>
            <a:spLocks noGrp="1"/>
          </p:cNvSpPr>
          <p:nvPr>
            <p:ph type="title"/>
          </p:nvPr>
        </p:nvSpPr>
        <p:spPr/>
        <p:txBody>
          <a:bodyPr>
            <a:normAutofit fontScale="90000"/>
          </a:bodyPr>
          <a:lstStyle/>
          <a:p>
            <a:r>
              <a:rPr lang="fr-MA" sz="2400" b="1" dirty="0">
                <a:solidFill>
                  <a:schemeClr val="accent1"/>
                </a:solidFill>
                <a:effectLst/>
                <a:latin typeface="Avenir Book" panose="02000503020000020003" pitchFamily="2" charset="0"/>
                <a:ea typeface="Times New Roman" panose="02020603050405020304" pitchFamily="18" charset="0"/>
                <a:cs typeface="Arial" panose="020B0604020202020204" pitchFamily="34" charset="0"/>
              </a:rPr>
              <a:t>B</a:t>
            </a:r>
            <a:r>
              <a:rPr lang="fr-MA" sz="2400" b="1" cap="none" dirty="0">
                <a:solidFill>
                  <a:schemeClr val="accent1"/>
                </a:solidFill>
                <a:effectLst/>
                <a:latin typeface="Avenir Book" panose="02000503020000020003" pitchFamily="2" charset="0"/>
                <a:ea typeface="Times New Roman" panose="02020603050405020304" pitchFamily="18" charset="0"/>
                <a:cs typeface="Arial" panose="020B0604020202020204" pitchFamily="34" charset="0"/>
              </a:rPr>
              <a:t>ref</a:t>
            </a:r>
            <a:r>
              <a:rPr lang="fr-MA" sz="2400" b="1" dirty="0">
                <a:solidFill>
                  <a:schemeClr val="accent1"/>
                </a:solidFill>
                <a:effectLst/>
                <a:latin typeface="Avenir Book" panose="02000503020000020003" pitchFamily="2" charset="0"/>
                <a:ea typeface="Times New Roman" panose="02020603050405020304" pitchFamily="18" charset="0"/>
                <a:cs typeface="Arial" panose="020B0604020202020204" pitchFamily="34" charset="0"/>
              </a:rPr>
              <a:t> H</a:t>
            </a:r>
            <a:r>
              <a:rPr lang="fr-MA" sz="2400" b="1" cap="none" dirty="0">
                <a:solidFill>
                  <a:schemeClr val="accent1"/>
                </a:solidFill>
                <a:effectLst/>
                <a:latin typeface="Avenir Book" panose="02000503020000020003" pitchFamily="2" charset="0"/>
                <a:ea typeface="Times New Roman" panose="02020603050405020304" pitchFamily="18" charset="0"/>
                <a:cs typeface="Arial" panose="020B0604020202020204" pitchFamily="34" charset="0"/>
              </a:rPr>
              <a:t>istorique</a:t>
            </a:r>
            <a:r>
              <a:rPr lang="fr-MA" sz="2400" b="1" dirty="0">
                <a:solidFill>
                  <a:schemeClr val="accent1"/>
                </a:solidFill>
                <a:effectLst/>
                <a:latin typeface="Avenir Book" panose="02000503020000020003" pitchFamily="2" charset="0"/>
                <a:ea typeface="Times New Roman" panose="02020603050405020304" pitchFamily="18" charset="0"/>
                <a:cs typeface="Arial" panose="020B0604020202020204" pitchFamily="34" charset="0"/>
              </a:rPr>
              <a:t>.  												</a:t>
            </a:r>
            <a:br>
              <a:rPr lang="fr-MA" sz="2800" b="1" dirty="0">
                <a:solidFill>
                  <a:schemeClr val="accent1"/>
                </a:solidFill>
                <a:effectLst/>
                <a:latin typeface="Avenir Book" panose="02000503020000020003" pitchFamily="2" charset="0"/>
                <a:ea typeface="Times New Roman" panose="02020603050405020304" pitchFamily="18" charset="0"/>
                <a:cs typeface="Arial" panose="020B0604020202020204" pitchFamily="34" charset="0"/>
              </a:rPr>
            </a:br>
            <a:r>
              <a:rPr lang="fr-FR" sz="2400" b="1" cap="none" dirty="0">
                <a:solidFill>
                  <a:schemeClr val="accent1"/>
                </a:solidFill>
                <a:latin typeface="Avenir Book" panose="02000503020000020003" pitchFamily="2" charset="0"/>
                <a:cs typeface="Arial" panose="020B0604020202020204" pitchFamily="34" charset="0"/>
              </a:rPr>
              <a:t>De </a:t>
            </a:r>
            <a:r>
              <a:rPr lang="fr-FR" sz="2400" cap="none" dirty="0">
                <a:solidFill>
                  <a:schemeClr val="accent1"/>
                </a:solidFill>
                <a:latin typeface="Avenir Book" panose="02000503020000020003" pitchFamily="2" charset="0"/>
                <a:cs typeface="Arial" panose="020B0604020202020204" pitchFamily="34" charset="0"/>
              </a:rPr>
              <a:t>l’édition</a:t>
            </a:r>
            <a:r>
              <a:rPr lang="fr-FR" sz="2400" b="1" cap="none" dirty="0">
                <a:solidFill>
                  <a:schemeClr val="accent1"/>
                </a:solidFill>
                <a:latin typeface="Avenir Book" panose="02000503020000020003" pitchFamily="2" charset="0"/>
                <a:cs typeface="Arial" panose="020B0604020202020204" pitchFamily="34" charset="0"/>
              </a:rPr>
              <a:t> numérique </a:t>
            </a:r>
            <a:r>
              <a:rPr lang="fr-FR" sz="2400" b="1" cap="none" dirty="0">
                <a:solidFill>
                  <a:srgbClr val="0070C0"/>
                </a:solidFill>
                <a:latin typeface="Avenir Book" panose="02000503020000020003" pitchFamily="2" charset="0"/>
                <a:cs typeface="Arial" panose="020B0604020202020204" pitchFamily="34" charset="0"/>
              </a:rPr>
              <a:t>à l’Application mobile.                                                                 </a:t>
            </a:r>
            <a:r>
              <a:rPr lang="fr-FR" sz="2400" dirty="0">
                <a:solidFill>
                  <a:schemeClr val="accent1"/>
                </a:solidFill>
                <a:latin typeface="Avenir Book" panose="02000503020000020003" pitchFamily="2" charset="0"/>
                <a:cs typeface="Arial" panose="020B0604020202020204" pitchFamily="34" charset="0"/>
              </a:rPr>
              <a:t>E</a:t>
            </a:r>
            <a:r>
              <a:rPr lang="fr-FR" sz="2400" cap="none" dirty="0">
                <a:solidFill>
                  <a:schemeClr val="accent1"/>
                </a:solidFill>
                <a:latin typeface="Avenir Book" panose="02000503020000020003" pitchFamily="2" charset="0"/>
                <a:cs typeface="Arial" panose="020B0604020202020204" pitchFamily="34" charset="0"/>
              </a:rPr>
              <a:t>n passant par </a:t>
            </a:r>
            <a:r>
              <a:rPr lang="fr-FR" sz="2400" b="1" cap="none" dirty="0">
                <a:solidFill>
                  <a:schemeClr val="accent1"/>
                </a:solidFill>
                <a:latin typeface="Avenir Book" panose="02000503020000020003" pitchFamily="2" charset="0"/>
                <a:cs typeface="Arial" panose="020B0604020202020204" pitchFamily="34" charset="0"/>
              </a:rPr>
              <a:t>un Site Web.</a:t>
            </a:r>
            <a:br>
              <a:rPr lang="fr-FR" sz="1200" dirty="0"/>
            </a:br>
            <a:endParaRPr lang="fr-FR" sz="2400" dirty="0"/>
          </a:p>
        </p:txBody>
      </p:sp>
      <p:sp>
        <p:nvSpPr>
          <p:cNvPr id="3" name="Espace réservé du contenu 2">
            <a:extLst>
              <a:ext uri="{FF2B5EF4-FFF2-40B4-BE49-F238E27FC236}">
                <a16:creationId xmlns:a16="http://schemas.microsoft.com/office/drawing/2014/main" id="{4849B14B-3F22-C4C8-7C04-4E6D9EEB3BAE}"/>
              </a:ext>
            </a:extLst>
          </p:cNvPr>
          <p:cNvSpPr>
            <a:spLocks noGrp="1"/>
          </p:cNvSpPr>
          <p:nvPr>
            <p:ph idx="1"/>
          </p:nvPr>
        </p:nvSpPr>
        <p:spPr>
          <a:xfrm>
            <a:off x="2589212" y="2133600"/>
            <a:ext cx="8915400" cy="3583806"/>
          </a:xfrm>
        </p:spPr>
        <p:txBody>
          <a:bodyPr>
            <a:normAutofit/>
          </a:bodyPr>
          <a:lstStyle/>
          <a:p>
            <a:pPr marL="0" indent="0">
              <a:lnSpc>
                <a:spcPct val="100000"/>
              </a:lnSpc>
              <a:spcAft>
                <a:spcPts val="600"/>
              </a:spcAft>
              <a:buNone/>
            </a:pP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Dès l’an 2001, lors de la parution de notre 1° version des ‘</a:t>
            </a:r>
            <a:r>
              <a:rPr lang="fr-MA" sz="1600" dirty="0">
                <a:effectLst/>
                <a:latin typeface="Avenir Book" panose="02000503020000020003" pitchFamily="2" charset="0"/>
                <a:ea typeface="Times New Roman" panose="02020603050405020304" pitchFamily="18" charset="0"/>
                <a:cs typeface="Calibri" panose="020F0502020204030204" pitchFamily="34" charset="0"/>
              </a:rPr>
              <a:t>’</a:t>
            </a:r>
            <a:r>
              <a:rPr lang="fr-MA" sz="1600" b="1" dirty="0">
                <a:effectLst/>
                <a:latin typeface="Avenir Book" panose="02000503020000020003" pitchFamily="2" charset="0"/>
                <a:ea typeface="Times New Roman" panose="02020603050405020304" pitchFamily="18" charset="0"/>
                <a:cs typeface="Calibri" panose="020F0502020204030204" pitchFamily="34" charset="0"/>
              </a:rPr>
              <a:t>Chiffres clés de l’Entreprise</a:t>
            </a:r>
            <a:r>
              <a:rPr lang="fr-MA" sz="1600" dirty="0">
                <a:effectLst/>
                <a:latin typeface="Avenir Book" panose="02000503020000020003" pitchFamily="2" charset="0"/>
                <a:ea typeface="Times New Roman" panose="02020603050405020304" pitchFamily="18" charset="0"/>
                <a:cs typeface="Calibri" panose="020F0502020204030204" pitchFamily="34" charset="0"/>
              </a:rPr>
              <a:t> </a:t>
            </a:r>
            <a:r>
              <a:rPr lang="fr-MA" sz="16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a:t>
            </a:r>
            <a:r>
              <a:rPr lang="fr-MA" sz="16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Revue </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a:t>
            </a:r>
            <a:r>
              <a:rPr lang="fr-MA" sz="1600" b="1"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’Entreprise &amp; Gestion</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n° </a:t>
            </a:r>
            <a:r>
              <a:rPr lang="fr-MA" sz="16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11</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le ‘’ </a:t>
            </a:r>
            <a:r>
              <a:rPr lang="fr-MA" sz="1600" b="1"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Centre d’Étude et de Recherche Documentaire</a:t>
            </a:r>
            <a:r>
              <a:rPr lang="fr-MA" sz="1800" b="1"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 </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fut créé pour alimenter notre Base de données que nous avons </a:t>
            </a:r>
            <a:r>
              <a:rPr lang="fr-MA" sz="1800" dirty="0">
                <a:solidFill>
                  <a:srgbClr val="000000"/>
                </a:solidFill>
                <a:latin typeface="Avenir Book" panose="02000503020000020003" pitchFamily="2" charset="0"/>
                <a:ea typeface="Times New Roman" panose="02020603050405020304" pitchFamily="18" charset="0"/>
                <a:cs typeface="Calibri" panose="020F0502020204030204" pitchFamily="34" charset="0"/>
              </a:rPr>
              <a:t>institué </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pour répondre à certains besoins de nos abonné(e)s et pour alimenter nos publications. </a:t>
            </a:r>
          </a:p>
          <a:p>
            <a:pPr marL="0" indent="0">
              <a:buNone/>
            </a:pPr>
            <a:r>
              <a:rPr lang="fr-MA" sz="1800" dirty="0">
                <a:solidFill>
                  <a:srgbClr val="000000"/>
                </a:solidFill>
                <a:latin typeface="Century Gothic" panose="020B0502020202020204" pitchFamily="34" charset="0"/>
                <a:cs typeface="Calibri" panose="020F0502020204030204" pitchFamily="34" charset="0"/>
              </a:rPr>
              <a:t>° </a:t>
            </a:r>
            <a:r>
              <a:rPr lang="fr-MA" sz="1600" b="1" dirty="0">
                <a:solidFill>
                  <a:srgbClr val="0070C0"/>
                </a:solidFill>
                <a:latin typeface="Avenir Book" panose="02000503020000020003" pitchFamily="2" charset="0"/>
                <a:cs typeface="Calibri" panose="020F0502020204030204" pitchFamily="34" charset="0"/>
              </a:rPr>
              <a:t>C’était l’époque où l’Internet </a:t>
            </a:r>
            <a:r>
              <a:rPr lang="fr-MA" sz="1600" b="1" dirty="0">
                <a:solidFill>
                  <a:srgbClr val="0070C0"/>
                </a:solidFill>
                <a:effectLst/>
                <a:latin typeface="Avenir Book" panose="02000503020000020003" pitchFamily="2" charset="0"/>
                <a:ea typeface="Times New Roman" panose="02020603050405020304" pitchFamily="18" charset="0"/>
                <a:cs typeface="Calibri" panose="020F0502020204030204" pitchFamily="34" charset="0"/>
              </a:rPr>
              <a:t>n’était pas encore vulgarisé ni facilement accessible.</a:t>
            </a:r>
          </a:p>
          <a:p>
            <a:pPr marL="0" indent="0">
              <a:buNone/>
            </a:pPr>
            <a:r>
              <a:rPr lang="fr-MA" dirty="0">
                <a:solidFill>
                  <a:srgbClr val="000000"/>
                </a:solidFill>
                <a:latin typeface="Century Gothic" panose="020B0502020202020204" pitchFamily="34" charset="0"/>
                <a:cs typeface="Calibri" panose="020F0502020204030204" pitchFamily="34" charset="0"/>
              </a:rPr>
              <a:t>° </a:t>
            </a:r>
            <a:r>
              <a:rPr lang="fr-MA" sz="1800" dirty="0">
                <a:solidFill>
                  <a:schemeClr val="tx1"/>
                </a:solidFill>
                <a:effectLst/>
                <a:latin typeface="Avenir Book" panose="02000503020000020003" pitchFamily="2" charset="0"/>
                <a:ea typeface="Times New Roman" panose="02020603050405020304" pitchFamily="18" charset="0"/>
                <a:cs typeface="Calibri" panose="020F0502020204030204" pitchFamily="34" charset="0"/>
              </a:rPr>
              <a:t>D</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epuis, l’irruption de l’</a:t>
            </a:r>
            <a:r>
              <a:rPr lang="fr-MA" sz="1800" b="1" dirty="0">
                <a:solidFill>
                  <a:srgbClr val="0070C0"/>
                </a:solidFill>
                <a:effectLst/>
                <a:latin typeface="Avenir Book" panose="02000503020000020003" pitchFamily="2" charset="0"/>
                <a:ea typeface="Times New Roman" panose="02020603050405020304" pitchFamily="18" charset="0"/>
                <a:cs typeface="Calibri" panose="020F0502020204030204" pitchFamily="34" charset="0"/>
              </a:rPr>
              <a:t>I</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ntelligence </a:t>
            </a:r>
            <a:r>
              <a:rPr lang="fr-MA" sz="1600" b="1" dirty="0">
                <a:solidFill>
                  <a:srgbClr val="0070C0"/>
                </a:solidFill>
                <a:effectLst/>
                <a:latin typeface="Avenir Book" panose="02000503020000020003" pitchFamily="2" charset="0"/>
                <a:ea typeface="Times New Roman" panose="02020603050405020304" pitchFamily="18" charset="0"/>
                <a:cs typeface="Calibri" panose="020F0502020204030204" pitchFamily="34" charset="0"/>
              </a:rPr>
              <a:t>A</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rtificielle </a:t>
            </a:r>
            <a:r>
              <a:rPr lang="fr-MA" dirty="0">
                <a:solidFill>
                  <a:srgbClr val="000000"/>
                </a:solidFill>
                <a:latin typeface="Avenir Book" panose="02000503020000020003" pitchFamily="2" charset="0"/>
                <a:ea typeface="Times New Roman" panose="02020603050405020304" pitchFamily="18" charset="0"/>
                <a:cs typeface="Calibri" panose="020F0502020204030204" pitchFamily="34" charset="0"/>
              </a:rPr>
              <a:t>étend sa toile offrant de nouvelles opportunités dans tous les secteurs, et dans le domaine de l’Information notamment</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Aussi</a:t>
            </a:r>
            <a:r>
              <a:rPr lang="fr-MA" sz="180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a:t>
            </a:r>
            <a:r>
              <a:rPr lang="fr-MA">
                <a:solidFill>
                  <a:srgbClr val="000000"/>
                </a:solidFill>
                <a:latin typeface="Avenir Book" panose="02000503020000020003" pitchFamily="2" charset="0"/>
                <a:ea typeface="Times New Roman" panose="02020603050405020304" pitchFamily="18" charset="0"/>
                <a:cs typeface="Calibri" panose="020F0502020204030204" pitchFamily="34" charset="0"/>
              </a:rPr>
              <a:t>après</a:t>
            </a:r>
            <a:r>
              <a:rPr lang="fr-MA" sz="180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le Dépôt légal à l’OMPIC (Réf. N° 101463), nous avons dû revoir aussi bien le contenu que la présentation de notre ‘’Produit’’ et nécessairement notre Modèle économique pour intégrer les apports des N</a:t>
            </a:r>
            <a:r>
              <a:rPr lang="fr-MA" sz="1400" b="1"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TIC</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afin de mieux répondre aux besoins des utilisateurs-chercheurs d’informations face à la multiplicité des sources et d</a:t>
            </a:r>
            <a:r>
              <a:rPr lang="fr-MA" sz="1800" dirty="0">
                <a:solidFill>
                  <a:srgbClr val="000000"/>
                </a:solidFill>
                <a:latin typeface="Avenir Book" panose="02000503020000020003" pitchFamily="2" charset="0"/>
                <a:cs typeface="Calibri" panose="020F0502020204030204" pitchFamily="34" charset="0"/>
              </a:rPr>
              <a:t>e l’abondance de l’information.</a:t>
            </a:r>
            <a:endParaRPr lang="fr-FR" dirty="0"/>
          </a:p>
        </p:txBody>
      </p:sp>
    </p:spTree>
    <p:extLst>
      <p:ext uri="{BB962C8B-B14F-4D97-AF65-F5344CB8AC3E}">
        <p14:creationId xmlns:p14="http://schemas.microsoft.com/office/powerpoint/2010/main" val="414158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69F56D-E55B-A98B-A716-6063CB64A512}"/>
              </a:ext>
            </a:extLst>
          </p:cNvPr>
          <p:cNvSpPr>
            <a:spLocks noGrp="1"/>
          </p:cNvSpPr>
          <p:nvPr>
            <p:ph type="title"/>
          </p:nvPr>
        </p:nvSpPr>
        <p:spPr>
          <a:xfrm>
            <a:off x="2592925" y="624110"/>
            <a:ext cx="8911687" cy="1100518"/>
          </a:xfrm>
        </p:spPr>
        <p:txBody>
          <a:bodyPr>
            <a:normAutofit/>
          </a:bodyPr>
          <a:lstStyle/>
          <a:p>
            <a:r>
              <a:rPr lang="fr-MA" sz="2400" b="1" dirty="0">
                <a:latin typeface="Avenir Book" panose="02000503020000020003" pitchFamily="2" charset="0"/>
                <a:ea typeface="Times New Roman" panose="02020603050405020304" pitchFamily="18" charset="0"/>
                <a:cs typeface="Arial" panose="020B0604020202020204" pitchFamily="34" charset="0"/>
              </a:rPr>
              <a:t>                                                                                                   </a:t>
            </a:r>
            <a:br>
              <a:rPr lang="fr-MA" sz="2400" b="1" u="sng" dirty="0">
                <a:highlight>
                  <a:srgbClr val="C0C0C0"/>
                </a:highlight>
                <a:latin typeface="Avenir Book" panose="02000503020000020003" pitchFamily="2" charset="0"/>
                <a:ea typeface="Times New Roman" panose="02020603050405020304" pitchFamily="18" charset="0"/>
                <a:cs typeface="Arial" panose="020B0604020202020204" pitchFamily="34" charset="0"/>
              </a:rPr>
            </a:br>
            <a:r>
              <a:rPr lang="fr-MA" sz="2400" b="1" cap="none" dirty="0">
                <a:solidFill>
                  <a:schemeClr val="accent1"/>
                </a:solidFill>
                <a:latin typeface="Avenir Book" panose="02000503020000020003" pitchFamily="2" charset="0"/>
                <a:ea typeface="Times New Roman" panose="02020603050405020304" pitchFamily="18" charset="0"/>
                <a:cs typeface="Calibri" panose="020F0502020204030204" pitchFamily="34" charset="0"/>
              </a:rPr>
              <a:t>L’Information : </a:t>
            </a:r>
            <a:r>
              <a:rPr lang="fr-MA" sz="2400" b="1" dirty="0">
                <a:solidFill>
                  <a:schemeClr val="accent1"/>
                </a:solidFill>
                <a:latin typeface="Avenir Book" panose="02000503020000020003" pitchFamily="2" charset="0"/>
                <a:ea typeface="Times New Roman" panose="02020603050405020304" pitchFamily="18" charset="0"/>
                <a:cs typeface="Calibri" panose="020F0502020204030204" pitchFamily="34" charset="0"/>
              </a:rPr>
              <a:t>Un problème d’</a:t>
            </a:r>
            <a:r>
              <a:rPr lang="fr-MA" sz="2400" b="1" cap="none" dirty="0">
                <a:solidFill>
                  <a:schemeClr val="accent1"/>
                </a:solidFill>
                <a:latin typeface="Avenir Book" panose="02000503020000020003" pitchFamily="2" charset="0"/>
                <a:ea typeface="Times New Roman" panose="02020603050405020304" pitchFamily="18" charset="0"/>
                <a:cs typeface="Calibri" panose="020F0502020204030204" pitchFamily="34" charset="0"/>
              </a:rPr>
              <a:t>abondance !</a:t>
            </a:r>
            <a:endParaRPr lang="fr-FR" sz="2400" dirty="0"/>
          </a:p>
        </p:txBody>
      </p:sp>
      <p:sp>
        <p:nvSpPr>
          <p:cNvPr id="3" name="Espace réservé du contenu 2">
            <a:extLst>
              <a:ext uri="{FF2B5EF4-FFF2-40B4-BE49-F238E27FC236}">
                <a16:creationId xmlns:a16="http://schemas.microsoft.com/office/drawing/2014/main" id="{A3C3A979-28B1-BC66-0BCB-B9EF49ADCC72}"/>
              </a:ext>
            </a:extLst>
          </p:cNvPr>
          <p:cNvSpPr>
            <a:spLocks noGrp="1"/>
          </p:cNvSpPr>
          <p:nvPr>
            <p:ph idx="1"/>
          </p:nvPr>
        </p:nvSpPr>
        <p:spPr>
          <a:xfrm>
            <a:off x="2589212" y="1967696"/>
            <a:ext cx="8997046" cy="3943526"/>
          </a:xfrm>
        </p:spPr>
        <p:txBody>
          <a:bodyPr>
            <a:normAutofit/>
          </a:bodyPr>
          <a:lstStyle/>
          <a:p>
            <a:pPr marL="342900" lvl="0" indent="-342900" rtl="0" fontAlgn="base">
              <a:lnSpc>
                <a:spcPct val="115000"/>
              </a:lnSpc>
              <a:buFont typeface="Arial" panose="020B0604020202020204" pitchFamily="34" charset="0"/>
              <a:buChar char="•"/>
              <a:tabLst>
                <a:tab pos="457200" algn="l"/>
              </a:tabLst>
            </a:pPr>
            <a:r>
              <a:rPr lang="fr-MA" sz="1800" dirty="0">
                <a:solidFill>
                  <a:srgbClr val="000000"/>
                </a:solidFill>
                <a:latin typeface="Avenir Book" panose="02000503020000020003" pitchFamily="2" charset="0"/>
                <a:cs typeface="Calibri" panose="020F0502020204030204" pitchFamily="34" charset="0"/>
              </a:rPr>
              <a:t>Ignacio Ramonet, du journal ‘’Le monde diplomatique’’ et professeur des sciences de la communication, disait il y a quelques années, ‘’ </a:t>
            </a:r>
            <a:r>
              <a:rPr lang="fr-MA" sz="1800" b="1" dirty="0">
                <a:solidFill>
                  <a:srgbClr val="0070C0"/>
                </a:solidFill>
                <a:latin typeface="Avenir Book" panose="02000503020000020003" pitchFamily="2" charset="0"/>
                <a:cs typeface="Calibri" panose="020F0502020204030204" pitchFamily="34" charset="0"/>
              </a:rPr>
              <a:t>En 30 ans</a:t>
            </a:r>
            <a:r>
              <a:rPr lang="fr-MA" sz="1800" dirty="0">
                <a:solidFill>
                  <a:srgbClr val="0070C0"/>
                </a:solidFill>
                <a:latin typeface="Avenir Book" panose="02000503020000020003" pitchFamily="2" charset="0"/>
                <a:cs typeface="Calibri" panose="020F0502020204030204" pitchFamily="34" charset="0"/>
              </a:rPr>
              <a:t>, </a:t>
            </a:r>
            <a:r>
              <a:rPr lang="fr-MA" sz="1800" dirty="0">
                <a:solidFill>
                  <a:srgbClr val="000000"/>
                </a:solidFill>
                <a:latin typeface="Avenir Book" panose="02000503020000020003" pitchFamily="2" charset="0"/>
                <a:cs typeface="Calibri" panose="020F0502020204030204" pitchFamily="34" charset="0"/>
              </a:rPr>
              <a:t>le monde a produit plus d’informations qu’au cours des 5.000 précédentes années ...’’!</a:t>
            </a:r>
          </a:p>
          <a:p>
            <a:pPr marL="342900" lvl="0" indent="-342900" rtl="0" fontAlgn="base">
              <a:lnSpc>
                <a:spcPct val="115000"/>
              </a:lnSpc>
              <a:buFont typeface="Arial" panose="020B0604020202020204" pitchFamily="34" charset="0"/>
              <a:buChar char="•"/>
              <a:tabLst>
                <a:tab pos="457200" algn="l"/>
              </a:tabLst>
            </a:pPr>
            <a:r>
              <a:rPr lang="fr-MA" sz="1800" b="0" i="0" u="none" strike="noStrike" dirty="0" err="1">
                <a:solidFill>
                  <a:srgbClr val="393E40"/>
                </a:solidFill>
                <a:effectLst/>
                <a:latin typeface="Avenir Book" panose="02000503020000020003" pitchFamily="2" charset="0"/>
              </a:rPr>
              <a:t>Eric</a:t>
            </a:r>
            <a:r>
              <a:rPr lang="fr-MA" sz="1800" b="0" i="0" u="none" strike="noStrike" dirty="0">
                <a:solidFill>
                  <a:srgbClr val="393E40"/>
                </a:solidFill>
                <a:effectLst/>
                <a:latin typeface="Avenir Book" panose="02000503020000020003" pitchFamily="2" charset="0"/>
              </a:rPr>
              <a:t> Schmidt, Chairman de Google disait aussi que</a:t>
            </a:r>
            <a:r>
              <a:rPr lang="fr-MA" sz="1800" dirty="0">
                <a:solidFill>
                  <a:srgbClr val="393E40"/>
                </a:solidFill>
                <a:latin typeface="Avenir Book" panose="02000503020000020003" pitchFamily="2" charset="0"/>
              </a:rPr>
              <a:t> </a:t>
            </a:r>
            <a:r>
              <a:rPr lang="fr-MA" sz="1800" b="0" i="0" u="none" strike="noStrike" dirty="0">
                <a:solidFill>
                  <a:srgbClr val="393E40"/>
                </a:solidFill>
                <a:effectLst/>
                <a:latin typeface="Avenir Book" panose="02000503020000020003" pitchFamily="2" charset="0"/>
              </a:rPr>
              <a:t>"Nous créons actuellement en </a:t>
            </a:r>
            <a:r>
              <a:rPr lang="fr-MA" sz="1800" b="1" dirty="0">
                <a:solidFill>
                  <a:srgbClr val="0070C0"/>
                </a:solidFill>
                <a:latin typeface="Avenir Book" panose="02000503020000020003" pitchFamily="2" charset="0"/>
                <a:cs typeface="Calibri" panose="020F0502020204030204" pitchFamily="34" charset="0"/>
              </a:rPr>
              <a:t>2 jours</a:t>
            </a:r>
            <a:r>
              <a:rPr lang="fr-MA" sz="1800" dirty="0">
                <a:solidFill>
                  <a:srgbClr val="0070C0"/>
                </a:solidFill>
                <a:latin typeface="Avenir Book" panose="02000503020000020003" pitchFamily="2" charset="0"/>
                <a:cs typeface="Calibri" panose="020F0502020204030204" pitchFamily="34" charset="0"/>
              </a:rPr>
              <a:t> </a:t>
            </a:r>
            <a:r>
              <a:rPr lang="fr-MA" sz="1800" b="0" i="0" u="none" strike="noStrike" dirty="0">
                <a:solidFill>
                  <a:srgbClr val="393E40"/>
                </a:solidFill>
                <a:effectLst/>
                <a:latin typeface="Avenir Book" panose="02000503020000020003" pitchFamily="2" charset="0"/>
              </a:rPr>
              <a:t>autant d'informations que nous en avions créée depuis la naissance de la civilisation jusqu'en 2003". </a:t>
            </a:r>
            <a:r>
              <a:rPr lang="fr-MA" sz="1800" b="0" i="0" u="none" strike="noStrike" dirty="0">
                <a:solidFill>
                  <a:srgbClr val="0070C0"/>
                </a:solidFill>
                <a:effectLst/>
                <a:latin typeface="Avenir Book" panose="02000503020000020003" pitchFamily="2" charset="0"/>
              </a:rPr>
              <a:t>Pour les entreprises, le défi consiste à traiter et activer la multitude des données disponibles afin d'améliorer leur </a:t>
            </a:r>
            <a:r>
              <a:rPr lang="fr-MA" sz="1600" b="1" i="0" u="none" strike="noStrike" dirty="0">
                <a:solidFill>
                  <a:schemeClr val="accent1"/>
                </a:solidFill>
                <a:effectLst/>
                <a:latin typeface="Avenir Book" panose="02000503020000020003" pitchFamily="2" charset="0"/>
              </a:rPr>
              <a:t>compétitivité.</a:t>
            </a:r>
          </a:p>
          <a:p>
            <a:pPr marL="342900" lvl="0" indent="-342900" rtl="0" fontAlgn="base">
              <a:lnSpc>
                <a:spcPct val="115000"/>
              </a:lnSpc>
              <a:buFont typeface="Arial" panose="020B0604020202020204" pitchFamily="34" charset="0"/>
              <a:buChar char="•"/>
              <a:tabLst>
                <a:tab pos="457200" algn="l"/>
              </a:tabLst>
            </a:pPr>
            <a:r>
              <a:rPr lang="fr-MA" sz="1800" dirty="0">
                <a:latin typeface="Avenir Book" panose="02000503020000020003" pitchFamily="2" charset="0"/>
                <a:cs typeface="Calibri" panose="020F0502020204030204" pitchFamily="34" charset="0"/>
              </a:rPr>
              <a:t>Pour d’autres, le taux de croissance du volume d’information serait de </a:t>
            </a:r>
            <a:r>
              <a:rPr lang="fr-MA" sz="1600" b="1" dirty="0">
                <a:solidFill>
                  <a:srgbClr val="0070C0"/>
                </a:solidFill>
                <a:latin typeface="Avenir Book" panose="02000503020000020003" pitchFamily="2" charset="0"/>
                <a:cs typeface="Calibri" panose="020F0502020204030204" pitchFamily="34" charset="0"/>
              </a:rPr>
              <a:t>60 %</a:t>
            </a:r>
            <a:r>
              <a:rPr lang="fr-MA" sz="1800" b="1" dirty="0">
                <a:solidFill>
                  <a:srgbClr val="0070C0"/>
                </a:solidFill>
                <a:latin typeface="Avenir Book" panose="02000503020000020003" pitchFamily="2" charset="0"/>
                <a:cs typeface="Calibri" panose="020F0502020204030204" pitchFamily="34" charset="0"/>
              </a:rPr>
              <a:t> par an</a:t>
            </a:r>
            <a:r>
              <a:rPr lang="fr-MA" sz="1800" dirty="0">
                <a:latin typeface="Avenir Book" panose="02000503020000020003" pitchFamily="2" charset="0"/>
                <a:cs typeface="Calibri" panose="020F0502020204030204" pitchFamily="34" charset="0"/>
              </a:rPr>
              <a:t>.</a:t>
            </a:r>
          </a:p>
          <a:p>
            <a:pPr marL="342900" lvl="0" indent="-342900" rtl="0" fontAlgn="base">
              <a:lnSpc>
                <a:spcPct val="115000"/>
              </a:lnSpc>
              <a:buFont typeface="Arial" panose="020B0604020202020204" pitchFamily="34" charset="0"/>
              <a:buChar char="•"/>
              <a:tabLst>
                <a:tab pos="457200" algn="l"/>
              </a:tabLst>
            </a:pPr>
            <a:r>
              <a:rPr lang="fr-MA" sz="1800" dirty="0">
                <a:solidFill>
                  <a:srgbClr val="000000"/>
                </a:solidFill>
                <a:latin typeface="Avenir Book" panose="02000503020000020003" pitchFamily="2" charset="0"/>
                <a:cs typeface="Calibri" panose="020F0502020204030204" pitchFamily="34" charset="0"/>
              </a:rPr>
              <a:t>Ne pouvant suivre cette augmentation exponentielle des informations, des quantités appréciables, que certains estiment à </a:t>
            </a:r>
            <a:r>
              <a:rPr lang="fr-MA" sz="1800" dirty="0">
                <a:solidFill>
                  <a:srgbClr val="0070C0"/>
                </a:solidFill>
                <a:latin typeface="Avenir Book" panose="02000503020000020003" pitchFamily="2" charset="0"/>
                <a:cs typeface="Calibri" panose="020F0502020204030204" pitchFamily="34" charset="0"/>
              </a:rPr>
              <a:t>95 %, resteraient inexploitées.</a:t>
            </a:r>
          </a:p>
          <a:p>
            <a:pPr marL="0" indent="0">
              <a:buNone/>
            </a:pPr>
            <a:endParaRPr lang="fr-FR" dirty="0"/>
          </a:p>
        </p:txBody>
      </p:sp>
    </p:spTree>
    <p:extLst>
      <p:ext uri="{BB962C8B-B14F-4D97-AF65-F5344CB8AC3E}">
        <p14:creationId xmlns:p14="http://schemas.microsoft.com/office/powerpoint/2010/main" val="139533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FF669D-5936-2E7E-3313-988A04DC29E0}"/>
              </a:ext>
            </a:extLst>
          </p:cNvPr>
          <p:cNvSpPr>
            <a:spLocks noGrp="1"/>
          </p:cNvSpPr>
          <p:nvPr>
            <p:ph type="title"/>
          </p:nvPr>
        </p:nvSpPr>
        <p:spPr/>
        <p:txBody>
          <a:bodyPr>
            <a:normAutofit/>
          </a:bodyPr>
          <a:lstStyle/>
          <a:p>
            <a:r>
              <a:rPr lang="fr-FR" sz="2400" dirty="0">
                <a:solidFill>
                  <a:schemeClr val="accent5"/>
                </a:solidFill>
                <a:latin typeface="Gill Sans MT" panose="020B0502020104020203" pitchFamily="34" charset="77"/>
              </a:rPr>
              <a:t>																		</a:t>
            </a:r>
            <a:br>
              <a:rPr lang="fr-FR" sz="2400" b="1" u="sng" cap="none" dirty="0">
                <a:latin typeface="Avenir Book" panose="02000503020000020003" pitchFamily="2" charset="0"/>
              </a:rPr>
            </a:br>
            <a:r>
              <a:rPr lang="fr-FR" sz="2400" b="1" cap="none" dirty="0">
                <a:solidFill>
                  <a:schemeClr val="accent1"/>
                </a:solidFill>
                <a:latin typeface="Avenir Book" panose="02000503020000020003" pitchFamily="2" charset="0"/>
              </a:rPr>
              <a:t>Il faudrait alors chercher, </a:t>
            </a:r>
            <a:r>
              <a:rPr lang="fr-FR" sz="2400" b="1" cap="none" dirty="0">
                <a:latin typeface="Avenir Book" panose="02000503020000020003" pitchFamily="2" charset="0"/>
              </a:rPr>
              <a:t>chercher</a:t>
            </a:r>
            <a:r>
              <a:rPr lang="fr-FR" sz="2400" b="1" cap="none" dirty="0">
                <a:solidFill>
                  <a:schemeClr val="accent1"/>
                </a:solidFill>
                <a:latin typeface="Avenir Book" panose="02000503020000020003" pitchFamily="2" charset="0"/>
              </a:rPr>
              <a:t>, … </a:t>
            </a:r>
            <a:br>
              <a:rPr lang="fr-FR" sz="2400" b="1" cap="none" dirty="0">
                <a:solidFill>
                  <a:schemeClr val="accent1"/>
                </a:solidFill>
                <a:latin typeface="Avenir Book" panose="02000503020000020003" pitchFamily="2" charset="0"/>
              </a:rPr>
            </a:br>
            <a:r>
              <a:rPr lang="fr-FR" sz="2400" b="1" cap="none" dirty="0">
                <a:solidFill>
                  <a:schemeClr val="accent1"/>
                </a:solidFill>
                <a:latin typeface="Avenir Book" panose="02000503020000020003" pitchFamily="2" charset="0"/>
              </a:rPr>
              <a:t>                                                </a:t>
            </a:r>
            <a:r>
              <a:rPr lang="fr-FR" sz="2000" b="1" cap="none" dirty="0">
                <a:solidFill>
                  <a:schemeClr val="accent1"/>
                </a:solidFill>
                <a:latin typeface="Avenir Book" panose="02000503020000020003" pitchFamily="2" charset="0"/>
              </a:rPr>
              <a:t>‘’ Une aiguille dans une botte de foin ‘’</a:t>
            </a:r>
            <a:endParaRPr lang="fr-FR" sz="2000" dirty="0"/>
          </a:p>
        </p:txBody>
      </p:sp>
      <p:sp>
        <p:nvSpPr>
          <p:cNvPr id="3" name="Espace réservé du contenu 2">
            <a:extLst>
              <a:ext uri="{FF2B5EF4-FFF2-40B4-BE49-F238E27FC236}">
                <a16:creationId xmlns:a16="http://schemas.microsoft.com/office/drawing/2014/main" id="{6DDBEE41-2329-5AD3-D948-B4651D60E70B}"/>
              </a:ext>
            </a:extLst>
          </p:cNvPr>
          <p:cNvSpPr>
            <a:spLocks noGrp="1"/>
          </p:cNvSpPr>
          <p:nvPr>
            <p:ph idx="1"/>
          </p:nvPr>
        </p:nvSpPr>
        <p:spPr/>
        <p:txBody>
          <a:bodyPr/>
          <a:lstStyle/>
          <a:p>
            <a:pPr marL="0" lvl="0" indent="0" rtl="0" fontAlgn="base">
              <a:lnSpc>
                <a:spcPct val="115000"/>
              </a:lnSpc>
              <a:buNone/>
              <a:tabLst>
                <a:tab pos="457200" algn="l"/>
              </a:tabLst>
            </a:pPr>
            <a:r>
              <a:rPr lang="fr-MA" dirty="0">
                <a:solidFill>
                  <a:srgbClr val="000000"/>
                </a:solidFill>
                <a:latin typeface="Avenir Book" panose="02000503020000020003" pitchFamily="2" charset="0"/>
                <a:cs typeface="Calibri" panose="020F0502020204030204" pitchFamily="34" charset="0"/>
              </a:rPr>
              <a:t>°</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Plusieurs études telles que celles de McKinsey, IDC, .. s’accordent pour dire que </a:t>
            </a:r>
            <a:r>
              <a:rPr lang="fr-MA" sz="1600" b="1"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nous </a:t>
            </a:r>
            <a:r>
              <a:rPr lang="fr-MA" sz="1600" b="1" dirty="0">
                <a:solidFill>
                  <a:srgbClr val="0070C0"/>
                </a:solidFill>
                <a:effectLst/>
                <a:latin typeface="Avenir Book" panose="02000503020000020003" pitchFamily="2" charset="0"/>
                <a:ea typeface="Times New Roman" panose="02020603050405020304" pitchFamily="18" charset="0"/>
                <a:cs typeface="Calibri" panose="020F0502020204030204" pitchFamily="34" charset="0"/>
              </a:rPr>
              <a:t>consacrons facilement 20 à 25 % de notre temps d’activité</a:t>
            </a:r>
            <a:r>
              <a:rPr lang="fr-MA" sz="1400" dirty="0">
                <a:solidFill>
                  <a:srgbClr val="0070C0"/>
                </a:solidFill>
                <a:effectLst/>
                <a:latin typeface="Avenir Book" panose="02000503020000020003" pitchFamily="2" charset="0"/>
                <a:ea typeface="Times New Roman" panose="02020603050405020304" pitchFamily="18" charset="0"/>
                <a:cs typeface="Calibri" panose="020F0502020204030204" pitchFamily="34" charset="0"/>
              </a:rPr>
              <a:t> </a:t>
            </a:r>
            <a:r>
              <a:rPr lang="fr-MA" sz="1800" dirty="0">
                <a:solidFill>
                  <a:srgbClr val="000000"/>
                </a:solidFill>
                <a:latin typeface="Avenir Book" panose="02000503020000020003" pitchFamily="2" charset="0"/>
                <a:cs typeface="Calibri" panose="020F0502020204030204" pitchFamily="34" charset="0"/>
              </a:rPr>
              <a:t>à chercher l’information dont on a besoin</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a:t>
            </a:r>
            <a:endParaRPr lang="fr-MA" sz="1800" dirty="0">
              <a:latin typeface="Avenir Book" panose="02000503020000020003" pitchFamily="2" charset="0"/>
              <a:ea typeface="Times New Roman" panose="02020603050405020304" pitchFamily="18" charset="0"/>
              <a:cs typeface="Times New Roman" panose="02020603050405020304" pitchFamily="18" charset="0"/>
            </a:endParaRPr>
          </a:p>
          <a:p>
            <a:pPr marL="0" lvl="0" indent="0" rtl="0" fontAlgn="base">
              <a:lnSpc>
                <a:spcPct val="115000"/>
              </a:lnSpc>
              <a:buNone/>
              <a:tabLst>
                <a:tab pos="457200" algn="l"/>
              </a:tabLst>
            </a:pPr>
            <a:r>
              <a:rPr lang="fr-MA" sz="1800" dirty="0">
                <a:solidFill>
                  <a:srgbClr val="000000"/>
                </a:solidFill>
                <a:latin typeface="Avenir Book" panose="02000503020000020003" pitchFamily="2" charset="0"/>
                <a:cs typeface="Calibri" panose="020F0502020204030204" pitchFamily="34" charset="0"/>
              </a:rPr>
              <a:t>° Un nouveau </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sondage " Source : </a:t>
            </a:r>
            <a:r>
              <a:rPr lang="fr-MA" sz="1800" dirty="0" err="1">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SearchYourCloud</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 a révélé par ailleurs ‘’que les travailleurs ont effectué (en moyenne. ndlr) jusqu’à </a:t>
            </a:r>
            <a:r>
              <a:rPr lang="fr-MA" sz="1600" b="1" dirty="0">
                <a:solidFill>
                  <a:srgbClr val="0070C0"/>
                </a:solidFill>
                <a:latin typeface="Avenir Book" panose="02000503020000020003" pitchFamily="2" charset="0"/>
                <a:cs typeface="Calibri" panose="020F0502020204030204" pitchFamily="34" charset="0"/>
              </a:rPr>
              <a:t>8 recherches pour trouver le bon document</a:t>
            </a:r>
            <a:r>
              <a:rPr lang="fr-MA" sz="1600" dirty="0">
                <a:solidFill>
                  <a:srgbClr val="4472C4"/>
                </a:solidFill>
                <a:effectLst/>
                <a:latin typeface="Avenir Book" panose="02000503020000020003" pitchFamily="2" charset="0"/>
                <a:ea typeface="Times New Roman" panose="02020603050405020304" pitchFamily="18" charset="0"/>
                <a:cs typeface="Calibri" panose="020F0502020204030204" pitchFamily="34" charset="0"/>
              </a:rPr>
              <a:t> </a:t>
            </a:r>
            <a:r>
              <a:rPr lang="fr-MA" sz="16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ou la bonne information.</a:t>
            </a:r>
          </a:p>
          <a:p>
            <a:pPr marL="0" indent="0">
              <a:buNone/>
            </a:pPr>
            <a:r>
              <a:rPr lang="fr-MA" sz="1800" dirty="0">
                <a:solidFill>
                  <a:srgbClr val="000000"/>
                </a:solidFill>
                <a:latin typeface="Avenir Book" panose="02000503020000020003" pitchFamily="2" charset="0"/>
                <a:cs typeface="Calibri" panose="020F0502020204030204" pitchFamily="34" charset="0"/>
              </a:rPr>
              <a:t>° Il y a 2000 ans, Sénèque ne disait-il pas déjà que ‘’ </a:t>
            </a:r>
            <a:r>
              <a:rPr lang="fr-MA" sz="1800" dirty="0">
                <a:solidFill>
                  <a:schemeClr val="accent1"/>
                </a:solidFill>
                <a:latin typeface="Avenir Book" panose="02000503020000020003" pitchFamily="2" charset="0"/>
                <a:cs typeface="Calibri" panose="020F0502020204030204" pitchFamily="34" charset="0"/>
              </a:rPr>
              <a:t>Cette multiplicité des livres est </a:t>
            </a:r>
            <a:r>
              <a:rPr lang="fr-MA" sz="1600" b="1" dirty="0">
                <a:solidFill>
                  <a:srgbClr val="0070C0"/>
                </a:solidFill>
                <a:latin typeface="Avenir Book" panose="02000503020000020003" pitchFamily="2" charset="0"/>
                <a:cs typeface="Calibri" panose="020F0502020204030204" pitchFamily="34" charset="0"/>
              </a:rPr>
              <a:t>plutôt une surcharge qu’un aliment pour l’esprit</a:t>
            </a:r>
            <a:r>
              <a:rPr lang="fr-MA" sz="1800" b="1" dirty="0">
                <a:solidFill>
                  <a:srgbClr val="0070C0"/>
                </a:solidFill>
                <a:latin typeface="Avenir Book" panose="02000503020000020003" pitchFamily="2" charset="0"/>
                <a:cs typeface="Calibri" panose="020F0502020204030204" pitchFamily="34" charset="0"/>
              </a:rPr>
              <a:t> </a:t>
            </a:r>
            <a:r>
              <a:rPr lang="fr-MA" sz="1800" dirty="0">
                <a:solidFill>
                  <a:schemeClr val="accent2">
                    <a:lumMod val="75000"/>
                  </a:schemeClr>
                </a:solidFill>
                <a:latin typeface="Avenir Book" panose="02000503020000020003" pitchFamily="2" charset="0"/>
                <a:cs typeface="Calibri" panose="020F0502020204030204" pitchFamily="34" charset="0"/>
              </a:rPr>
              <a:t>; </a:t>
            </a:r>
            <a:r>
              <a:rPr lang="fr-MA" sz="1800" dirty="0">
                <a:solidFill>
                  <a:schemeClr val="accent1"/>
                </a:solidFill>
                <a:latin typeface="Avenir Book" panose="02000503020000020003" pitchFamily="2" charset="0"/>
                <a:cs typeface="Calibri" panose="020F0502020204030204" pitchFamily="34" charset="0"/>
              </a:rPr>
              <a:t>et il vaut mieux </a:t>
            </a:r>
            <a:r>
              <a:rPr lang="fr-MA" sz="1800" b="1" dirty="0">
                <a:solidFill>
                  <a:schemeClr val="accent1"/>
                </a:solidFill>
                <a:latin typeface="Avenir Book" panose="02000503020000020003" pitchFamily="2" charset="0"/>
                <a:cs typeface="Calibri" panose="020F0502020204030204" pitchFamily="34" charset="0"/>
              </a:rPr>
              <a:t>s’attacher à peu d’auteurs </a:t>
            </a:r>
            <a:r>
              <a:rPr lang="fr-MA" sz="1800" dirty="0">
                <a:solidFill>
                  <a:schemeClr val="accent1"/>
                </a:solidFill>
                <a:latin typeface="Avenir Book" panose="02000503020000020003" pitchFamily="2" charset="0"/>
                <a:cs typeface="Calibri" panose="020F0502020204030204" pitchFamily="34" charset="0"/>
              </a:rPr>
              <a:t>que d’égarer, sur cent ouvrages, son attention capricieuse”.</a:t>
            </a:r>
          </a:p>
          <a:p>
            <a:pPr marL="0" indent="0">
              <a:buNone/>
            </a:pPr>
            <a:endParaRPr lang="fr-FR" dirty="0"/>
          </a:p>
        </p:txBody>
      </p:sp>
    </p:spTree>
    <p:extLst>
      <p:ext uri="{BB962C8B-B14F-4D97-AF65-F5344CB8AC3E}">
        <p14:creationId xmlns:p14="http://schemas.microsoft.com/office/powerpoint/2010/main" val="2572623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991532-5F48-086C-2604-9F00B80C7CA1}"/>
              </a:ext>
            </a:extLst>
          </p:cNvPr>
          <p:cNvSpPr>
            <a:spLocks noGrp="1"/>
          </p:cNvSpPr>
          <p:nvPr>
            <p:ph type="title"/>
          </p:nvPr>
        </p:nvSpPr>
        <p:spPr>
          <a:xfrm>
            <a:off x="2592925" y="555585"/>
            <a:ext cx="8911687" cy="1349415"/>
          </a:xfrm>
        </p:spPr>
        <p:txBody>
          <a:bodyPr>
            <a:normAutofit/>
          </a:bodyPr>
          <a:lstStyle/>
          <a:p>
            <a:r>
              <a:rPr lang="fr-FR" sz="2400" dirty="0">
                <a:solidFill>
                  <a:schemeClr val="accent5"/>
                </a:solidFill>
                <a:latin typeface="Gill Sans MT" panose="020B0502020104020203" pitchFamily="34" charset="77"/>
              </a:rPr>
              <a:t>																		</a:t>
            </a:r>
            <a:br>
              <a:rPr lang="fr-FR" sz="2400" b="1" u="sng" kern="100" dirty="0">
                <a:solidFill>
                  <a:schemeClr val="tx1"/>
                </a:solidFill>
                <a:highlight>
                  <a:srgbClr val="C0C0C0"/>
                </a:highlight>
                <a:latin typeface="Avenir Book" panose="02000503020000020003" pitchFamily="2" charset="0"/>
                <a:ea typeface="Calibri" panose="020F0502020204030204" pitchFamily="34" charset="0"/>
                <a:cs typeface="Arial" panose="020B0604020202020204" pitchFamily="34" charset="0"/>
              </a:rPr>
            </a:br>
            <a:br>
              <a:rPr lang="fr-FR" sz="2400" b="1" u="sng" kern="100" dirty="0">
                <a:solidFill>
                  <a:schemeClr val="tx1"/>
                </a:solidFill>
                <a:highlight>
                  <a:srgbClr val="C0C0C0"/>
                </a:highlight>
                <a:latin typeface="Avenir Book" panose="02000503020000020003" pitchFamily="2" charset="0"/>
                <a:ea typeface="Calibri" panose="020F0502020204030204" pitchFamily="34" charset="0"/>
                <a:cs typeface="Arial" panose="020B0604020202020204" pitchFamily="34" charset="0"/>
              </a:rPr>
            </a:br>
            <a:r>
              <a:rPr lang="fr-FR" sz="2400" b="1" kern="100" cap="none" dirty="0">
                <a:solidFill>
                  <a:schemeClr val="accent1"/>
                </a:solidFill>
                <a:latin typeface="Avenir Book" panose="02000503020000020003" pitchFamily="2" charset="0"/>
                <a:ea typeface="Calibri" panose="020F0502020204030204" pitchFamily="34" charset="0"/>
                <a:cs typeface="Arial" panose="020B0604020202020204" pitchFamily="34" charset="0"/>
              </a:rPr>
              <a:t>L</a:t>
            </a:r>
            <a:r>
              <a:rPr lang="fr-FR" sz="2400" b="1" kern="100" cap="none" dirty="0">
                <a:solidFill>
                  <a:schemeClr val="accent1"/>
                </a:solidFill>
                <a:effectLst/>
                <a:latin typeface="Avenir Book" panose="02000503020000020003" pitchFamily="2" charset="0"/>
                <a:ea typeface="Calibri" panose="020F0502020204030204" pitchFamily="34" charset="0"/>
                <a:cs typeface="Arial" panose="020B0604020202020204" pitchFamily="34" charset="0"/>
              </a:rPr>
              <a:t>a Surinformation </a:t>
            </a:r>
            <a:r>
              <a:rPr lang="fr-FR" sz="2000" b="1" kern="100" dirty="0">
                <a:solidFill>
                  <a:schemeClr val="tx1"/>
                </a:solidFill>
                <a:latin typeface="Avenir Book" panose="02000503020000020003" pitchFamily="2" charset="0"/>
                <a:ea typeface="Calibri" panose="020F0502020204030204" pitchFamily="34" charset="0"/>
                <a:cs typeface="Arial" panose="020B0604020202020204" pitchFamily="34" charset="0"/>
              </a:rPr>
              <a:t>et</a:t>
            </a:r>
            <a:r>
              <a:rPr lang="fr-FR" sz="2400" b="1" kern="100" cap="none" dirty="0">
                <a:solidFill>
                  <a:schemeClr val="accent1"/>
                </a:solidFill>
                <a:effectLst/>
                <a:latin typeface="Avenir Book" panose="02000503020000020003" pitchFamily="2" charset="0"/>
                <a:ea typeface="Calibri" panose="020F0502020204030204" pitchFamily="34" charset="0"/>
                <a:cs typeface="Arial" panose="020B0604020202020204" pitchFamily="34" charset="0"/>
              </a:rPr>
              <a:t> ‘’ </a:t>
            </a:r>
            <a:r>
              <a:rPr lang="fr-MA" sz="2200" b="1" i="1" dirty="0">
                <a:solidFill>
                  <a:srgbClr val="0070C0"/>
                </a:solidFill>
                <a:latin typeface="Avenir Book" panose="02000503020000020003" pitchFamily="2" charset="0"/>
                <a:cs typeface="Times New Roman" panose="02020603050405020304" pitchFamily="18" charset="0"/>
              </a:rPr>
              <a:t>l'inaptitude à organiser cette information </a:t>
            </a:r>
            <a:r>
              <a:rPr lang="fr-MA" sz="2200" b="1" dirty="0">
                <a:solidFill>
                  <a:srgbClr val="0070C0"/>
                </a:solidFill>
                <a:latin typeface="Avenir Book" panose="02000503020000020003" pitchFamily="2" charset="0"/>
                <a:cs typeface="Times New Roman" panose="02020603050405020304" pitchFamily="18" charset="0"/>
              </a:rPr>
              <a:t>‘’</a:t>
            </a:r>
            <a:endParaRPr lang="fr-FR" sz="2200" dirty="0"/>
          </a:p>
        </p:txBody>
      </p:sp>
      <p:sp>
        <p:nvSpPr>
          <p:cNvPr id="3" name="Espace réservé du contenu 2">
            <a:extLst>
              <a:ext uri="{FF2B5EF4-FFF2-40B4-BE49-F238E27FC236}">
                <a16:creationId xmlns:a16="http://schemas.microsoft.com/office/drawing/2014/main" id="{181699A5-08DB-0D1E-FA91-18EC5C161750}"/>
              </a:ext>
            </a:extLst>
          </p:cNvPr>
          <p:cNvSpPr>
            <a:spLocks noGrp="1"/>
          </p:cNvSpPr>
          <p:nvPr>
            <p:ph idx="1"/>
          </p:nvPr>
        </p:nvSpPr>
        <p:spPr>
          <a:xfrm>
            <a:off x="2589212" y="1905000"/>
            <a:ext cx="8915400" cy="4125410"/>
          </a:xfrm>
        </p:spPr>
        <p:txBody>
          <a:bodyPr>
            <a:normAutofit fontScale="25000" lnSpcReduction="20000"/>
          </a:bodyPr>
          <a:lstStyle/>
          <a:p>
            <a:pPr marL="0" indent="0">
              <a:lnSpc>
                <a:spcPct val="170000"/>
              </a:lnSpc>
              <a:buNone/>
            </a:pPr>
            <a:r>
              <a:rPr lang="fr-FR" sz="72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On assite aujourd’hui à </a:t>
            </a:r>
            <a:r>
              <a:rPr lang="fr-FR" sz="7200" b="1" dirty="0">
                <a:solidFill>
                  <a:srgbClr val="0070C0"/>
                </a:solidFill>
                <a:effectLst/>
                <a:latin typeface="Avenir Book" panose="02000503020000020003" pitchFamily="2" charset="0"/>
                <a:ea typeface="Times New Roman" panose="02020603050405020304" pitchFamily="18" charset="0"/>
                <a:cs typeface="Calibri" panose="020F0502020204030204" pitchFamily="34" charset="0"/>
              </a:rPr>
              <a:t>2 phénomènes concomitants </a:t>
            </a:r>
            <a:r>
              <a:rPr lang="fr-FR" sz="72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a:t>
            </a:r>
          </a:p>
          <a:p>
            <a:pPr marL="0" indent="0">
              <a:lnSpc>
                <a:spcPct val="170000"/>
              </a:lnSpc>
              <a:buNone/>
            </a:pPr>
            <a:r>
              <a:rPr lang="fr-FR" sz="7200" b="1" dirty="0">
                <a:solidFill>
                  <a:schemeClr val="accent1"/>
                </a:solidFill>
                <a:latin typeface="Avenir Book" panose="02000503020000020003" pitchFamily="2" charset="0"/>
                <a:cs typeface="Calibri" panose="020F0502020204030204" pitchFamily="34" charset="0"/>
              </a:rPr>
              <a:t>°</a:t>
            </a:r>
            <a:r>
              <a:rPr lang="fr-FR" sz="7200" dirty="0">
                <a:solidFill>
                  <a:srgbClr val="000000"/>
                </a:solidFill>
                <a:latin typeface="Avenir Book" panose="02000503020000020003" pitchFamily="2" charset="0"/>
                <a:cs typeface="Calibri" panose="020F0502020204030204" pitchFamily="34" charset="0"/>
              </a:rPr>
              <a:t> Une multiplicité de </a:t>
            </a:r>
            <a:r>
              <a:rPr lang="fr-FR" sz="7200" b="1" dirty="0">
                <a:latin typeface="Avenir Book" panose="02000503020000020003" pitchFamily="2" charset="0"/>
                <a:cs typeface="Calibri" panose="020F0502020204030204" pitchFamily="34" charset="0"/>
              </a:rPr>
              <a:t>‘’ </a:t>
            </a:r>
            <a:r>
              <a:rPr lang="fr-FR" sz="6400" b="1" dirty="0">
                <a:solidFill>
                  <a:srgbClr val="0070C0"/>
                </a:solidFill>
                <a:latin typeface="Avenir Book" panose="02000503020000020003" pitchFamily="2" charset="0"/>
                <a:cs typeface="Calibri" panose="020F0502020204030204" pitchFamily="34" charset="0"/>
              </a:rPr>
              <a:t>Statistiques</a:t>
            </a:r>
            <a:r>
              <a:rPr lang="fr-FR" sz="7200" dirty="0">
                <a:solidFill>
                  <a:srgbClr val="000000"/>
                </a:solidFill>
                <a:latin typeface="Avenir Book" panose="02000503020000020003" pitchFamily="2" charset="0"/>
                <a:cs typeface="Calibri" panose="020F0502020204030204" pitchFamily="34" charset="0"/>
              </a:rPr>
              <a:t>’’ </a:t>
            </a:r>
            <a:r>
              <a:rPr lang="fr-FR" sz="5600" b="1" dirty="0">
                <a:solidFill>
                  <a:schemeClr val="accent1"/>
                </a:solidFill>
                <a:latin typeface="Avenir Book" panose="02000503020000020003" pitchFamily="2" charset="0"/>
                <a:cs typeface="Calibri" panose="020F0502020204030204" pitchFamily="34" charset="0"/>
              </a:rPr>
              <a:t>qu’il faudra lire avec prudence et exploiter intelligemment. </a:t>
            </a:r>
          </a:p>
          <a:p>
            <a:pPr marL="0" indent="0">
              <a:lnSpc>
                <a:spcPct val="120000"/>
              </a:lnSpc>
              <a:buNone/>
            </a:pPr>
            <a:r>
              <a:rPr lang="fr-FR" sz="7200" b="1" dirty="0">
                <a:solidFill>
                  <a:schemeClr val="accent1"/>
                </a:solidFill>
                <a:latin typeface="Avenir Book" panose="02000503020000020003" pitchFamily="2" charset="0"/>
                <a:cs typeface="Calibri" panose="020F0502020204030204" pitchFamily="34" charset="0"/>
              </a:rPr>
              <a:t>°</a:t>
            </a:r>
            <a:r>
              <a:rPr lang="fr-FR" sz="7200" b="1" dirty="0">
                <a:solidFill>
                  <a:schemeClr val="accent1"/>
                </a:solidFill>
                <a:latin typeface="Avenir Book" panose="02000503020000020003" pitchFamily="2" charset="0"/>
                <a:ea typeface="Times New Roman" panose="02020603050405020304" pitchFamily="18" charset="0"/>
                <a:cs typeface="Calibri" panose="020F0502020204030204" pitchFamily="34" charset="0"/>
              </a:rPr>
              <a:t> </a:t>
            </a:r>
            <a:r>
              <a:rPr lang="fr-FR" sz="7200" dirty="0">
                <a:solidFill>
                  <a:srgbClr val="000000"/>
                </a:solidFill>
                <a:latin typeface="Avenir Book" panose="02000503020000020003" pitchFamily="2" charset="0"/>
                <a:ea typeface="Times New Roman" panose="02020603050405020304" pitchFamily="18" charset="0"/>
                <a:cs typeface="Calibri" panose="020F0502020204030204" pitchFamily="34" charset="0"/>
              </a:rPr>
              <a:t>Mais surtout à une </a:t>
            </a:r>
            <a:r>
              <a:rPr lang="fr-FR" sz="72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abondance des ‘’ </a:t>
            </a:r>
            <a:r>
              <a:rPr lang="fr-FR" sz="6400" b="1" dirty="0">
                <a:solidFill>
                  <a:srgbClr val="0070C0"/>
                </a:solidFill>
                <a:latin typeface="Avenir Book" panose="02000503020000020003" pitchFamily="2" charset="0"/>
                <a:ea typeface="Times New Roman" panose="02020603050405020304" pitchFamily="18" charset="0"/>
                <a:cs typeface="Calibri" panose="020F0502020204030204" pitchFamily="34" charset="0"/>
              </a:rPr>
              <a:t>I</a:t>
            </a:r>
            <a:r>
              <a:rPr lang="fr-FR" sz="6400" b="1" dirty="0">
                <a:solidFill>
                  <a:srgbClr val="0070C0"/>
                </a:solidFill>
                <a:effectLst/>
                <a:latin typeface="Avenir Book" panose="02000503020000020003" pitchFamily="2" charset="0"/>
                <a:ea typeface="Times New Roman" panose="02020603050405020304" pitchFamily="18" charset="0"/>
                <a:cs typeface="Calibri" panose="020F0502020204030204" pitchFamily="34" charset="0"/>
              </a:rPr>
              <a:t>nformations économiques </a:t>
            </a:r>
            <a:r>
              <a:rPr lang="fr-FR" sz="72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a:t>
            </a:r>
            <a:r>
              <a:rPr lang="fr-FR" sz="7200" dirty="0">
                <a:solidFill>
                  <a:srgbClr val="000000"/>
                </a:solidFill>
                <a:latin typeface="Avenir Book" panose="02000503020000020003" pitchFamily="2" charset="0"/>
                <a:cs typeface="Calibri" panose="020F0502020204030204" pitchFamily="34" charset="0"/>
              </a:rPr>
              <a:t>livrées dans des textes souvent assez longs, voire parfois indigestes, alors que pour l’économiste-financier qui dispose de peu de temps, la mesure et la donnée chiffrée constitue </a:t>
            </a:r>
            <a:r>
              <a:rPr lang="fr-FR" sz="7200" b="1" dirty="0">
                <a:solidFill>
                  <a:srgbClr val="0070C0"/>
                </a:solidFill>
                <a:latin typeface="Avenir Book" panose="02000503020000020003" pitchFamily="2" charset="0"/>
                <a:cs typeface="Calibri" panose="020F0502020204030204" pitchFamily="34" charset="0"/>
              </a:rPr>
              <a:t>l’Essentiel</a:t>
            </a:r>
            <a:r>
              <a:rPr lang="fr-FR" sz="7200" dirty="0">
                <a:solidFill>
                  <a:srgbClr val="000000"/>
                </a:solidFill>
                <a:latin typeface="Avenir Book" panose="02000503020000020003" pitchFamily="2" charset="0"/>
                <a:cs typeface="Calibri" panose="020F0502020204030204" pitchFamily="34" charset="0"/>
              </a:rPr>
              <a:t> recherché. N’a-t-on pas dit en effet que :</a:t>
            </a:r>
          </a:p>
          <a:p>
            <a:pPr marL="0" lvl="0" indent="0">
              <a:lnSpc>
                <a:spcPct val="170000"/>
              </a:lnSpc>
              <a:spcBef>
                <a:spcPts val="0"/>
              </a:spcBef>
              <a:buNone/>
            </a:pPr>
            <a:r>
              <a:rPr lang="fr-FR" sz="7200" b="1" i="1" kern="1800" dirty="0">
                <a:solidFill>
                  <a:schemeClr val="accent1"/>
                </a:solidFill>
                <a:latin typeface="Avenir Book" panose="02000503020000020003" pitchFamily="2" charset="0"/>
                <a:cs typeface="Segoe UI" panose="020B0502040204020203" pitchFamily="34" charset="0"/>
              </a:rPr>
              <a:t>-</a:t>
            </a:r>
            <a:r>
              <a:rPr lang="fr-FR" sz="7200" b="1" dirty="0">
                <a:solidFill>
                  <a:schemeClr val="accent1"/>
                </a:solidFill>
                <a:latin typeface="Avenir Book" panose="02000503020000020003" pitchFamily="2" charset="0"/>
                <a:cs typeface="Calibri" panose="020F0502020204030204" pitchFamily="34" charset="0"/>
              </a:rPr>
              <a:t> </a:t>
            </a:r>
            <a:r>
              <a:rPr lang="fr-FR" sz="7200" kern="1800" dirty="0">
                <a:solidFill>
                  <a:srgbClr val="000000"/>
                </a:solidFill>
                <a:latin typeface="Avenir Book" panose="02000503020000020003" pitchFamily="2" charset="0"/>
                <a:cs typeface="Segoe UI" panose="020B0502040204020203" pitchFamily="34" charset="0"/>
              </a:rPr>
              <a:t>‘</a:t>
            </a:r>
            <a:r>
              <a:rPr lang="fr-MA" sz="7200" kern="1800" dirty="0">
                <a:solidFill>
                  <a:srgbClr val="000000"/>
                </a:solidFill>
                <a:latin typeface="Avenir Book" panose="02000503020000020003" pitchFamily="2" charset="0"/>
                <a:cs typeface="Segoe UI" panose="020B0502040204020203" pitchFamily="34" charset="0"/>
              </a:rPr>
              <a:t>’</a:t>
            </a:r>
            <a:r>
              <a:rPr lang="fr-MA" sz="7200" i="1" kern="1800" dirty="0">
                <a:solidFill>
                  <a:srgbClr val="000000"/>
                </a:solidFill>
                <a:effectLst/>
                <a:latin typeface="Avenir Book" panose="02000503020000020003" pitchFamily="2" charset="0"/>
                <a:ea typeface="Times New Roman" panose="02020603050405020304" pitchFamily="18" charset="0"/>
                <a:cs typeface="Segoe UI" panose="020B0502040204020203" pitchFamily="34" charset="0"/>
              </a:rPr>
              <a:t> </a:t>
            </a:r>
            <a:r>
              <a:rPr lang="fr-MA" sz="7200" kern="1800" dirty="0">
                <a:solidFill>
                  <a:srgbClr val="000000"/>
                </a:solidFill>
                <a:effectLst/>
                <a:latin typeface="Avenir Book" panose="02000503020000020003" pitchFamily="2" charset="0"/>
                <a:ea typeface="Times New Roman" panose="02020603050405020304" pitchFamily="18" charset="0"/>
                <a:cs typeface="Segoe UI" panose="020B0502040204020203" pitchFamily="34" charset="0"/>
              </a:rPr>
              <a:t>On ne peut pas </a:t>
            </a:r>
            <a:r>
              <a:rPr lang="fr-MA" sz="7200" b="1" kern="1800" dirty="0">
                <a:solidFill>
                  <a:schemeClr val="accent1"/>
                </a:solidFill>
                <a:effectLst/>
                <a:latin typeface="Avenir Book" panose="02000503020000020003" pitchFamily="2" charset="0"/>
                <a:ea typeface="Times New Roman" panose="02020603050405020304" pitchFamily="18" charset="0"/>
                <a:cs typeface="Segoe UI" panose="020B0502040204020203" pitchFamily="34" charset="0"/>
              </a:rPr>
              <a:t>gérer</a:t>
            </a:r>
            <a:r>
              <a:rPr lang="fr-MA" sz="7200" kern="1800" dirty="0">
                <a:solidFill>
                  <a:srgbClr val="000000"/>
                </a:solidFill>
                <a:effectLst/>
                <a:latin typeface="Avenir Book" panose="02000503020000020003" pitchFamily="2" charset="0"/>
                <a:ea typeface="Times New Roman" panose="02020603050405020304" pitchFamily="18" charset="0"/>
                <a:cs typeface="Segoe UI" panose="020B0502040204020203" pitchFamily="34" charset="0"/>
              </a:rPr>
              <a:t> ce qu'on ne </a:t>
            </a:r>
            <a:r>
              <a:rPr lang="fr-MA" sz="7200" b="1" dirty="0">
                <a:solidFill>
                  <a:schemeClr val="accent1"/>
                </a:solidFill>
                <a:latin typeface="Avenir Book" panose="02000503020000020003" pitchFamily="2" charset="0"/>
                <a:cs typeface="Segoe UI" panose="020B0502040204020203" pitchFamily="34" charset="0"/>
              </a:rPr>
              <a:t>mesure</a:t>
            </a:r>
            <a:r>
              <a:rPr lang="fr-MA" sz="7200" kern="1800" dirty="0">
                <a:solidFill>
                  <a:srgbClr val="000000"/>
                </a:solidFill>
                <a:effectLst/>
                <a:latin typeface="Avenir Book" panose="02000503020000020003" pitchFamily="2" charset="0"/>
                <a:ea typeface="Times New Roman" panose="02020603050405020304" pitchFamily="18" charset="0"/>
                <a:cs typeface="Segoe UI" panose="020B0502040204020203" pitchFamily="34" charset="0"/>
              </a:rPr>
              <a:t> pas ‘’ (</a:t>
            </a:r>
            <a:r>
              <a:rPr lang="fr-MA" sz="6400" b="1" kern="1800" dirty="0">
                <a:solidFill>
                  <a:srgbClr val="0070C0"/>
                </a:solidFill>
                <a:effectLst/>
                <a:latin typeface="Avenir Book" panose="02000503020000020003" pitchFamily="2" charset="0"/>
                <a:ea typeface="Times New Roman" panose="02020603050405020304" pitchFamily="18" charset="0"/>
                <a:cs typeface="Segoe UI" panose="020B0502040204020203" pitchFamily="34" charset="0"/>
              </a:rPr>
              <a:t>Peter Drucker)</a:t>
            </a:r>
            <a:r>
              <a:rPr lang="fr-MA" sz="7200" kern="1800" dirty="0">
                <a:solidFill>
                  <a:srgbClr val="0070C0"/>
                </a:solidFill>
                <a:effectLst/>
                <a:latin typeface="Avenir Book" panose="02000503020000020003" pitchFamily="2" charset="0"/>
                <a:ea typeface="Times New Roman" panose="02020603050405020304" pitchFamily="18" charset="0"/>
                <a:cs typeface="Segoe UI" panose="020B0502040204020203" pitchFamily="34" charset="0"/>
              </a:rPr>
              <a:t>, </a:t>
            </a:r>
            <a:r>
              <a:rPr lang="fr-MA" sz="7200" kern="1800" dirty="0">
                <a:effectLst/>
                <a:latin typeface="Avenir Book" panose="02000503020000020003" pitchFamily="2" charset="0"/>
                <a:ea typeface="Times New Roman" panose="02020603050405020304" pitchFamily="18" charset="0"/>
                <a:cs typeface="Segoe UI" panose="020B0502040204020203" pitchFamily="34" charset="0"/>
              </a:rPr>
              <a:t>et que</a:t>
            </a:r>
            <a:endParaRPr lang="fr-MA" sz="7200" dirty="0">
              <a:effectLst/>
              <a:latin typeface="Avenir Book" panose="02000503020000020003" pitchFamily="2" charset="0"/>
              <a:ea typeface="Times New Roman" panose="02020603050405020304" pitchFamily="18" charset="0"/>
              <a:cs typeface="Segoe UI" panose="020B0502040204020203" pitchFamily="34" charset="0"/>
            </a:endParaRPr>
          </a:p>
          <a:p>
            <a:pPr marL="0" lvl="0" indent="0">
              <a:lnSpc>
                <a:spcPct val="120000"/>
              </a:lnSpc>
              <a:spcBef>
                <a:spcPts val="0"/>
              </a:spcBef>
              <a:buNone/>
            </a:pPr>
            <a:r>
              <a:rPr lang="fr-MA" sz="7200" b="1" i="1" kern="1800" dirty="0">
                <a:solidFill>
                  <a:schemeClr val="accent1"/>
                </a:solidFill>
                <a:latin typeface="Avenir Book" panose="02000503020000020003" pitchFamily="2" charset="0"/>
                <a:ea typeface="Times New Roman" panose="02020603050405020304" pitchFamily="18" charset="0"/>
                <a:cs typeface="Segoe UI" panose="020B0502040204020203" pitchFamily="34" charset="0"/>
              </a:rPr>
              <a:t>- </a:t>
            </a:r>
            <a:r>
              <a:rPr lang="fr-MA" sz="7200" kern="1800" dirty="0">
                <a:solidFill>
                  <a:srgbClr val="000000"/>
                </a:solidFill>
                <a:effectLst/>
                <a:latin typeface="Avenir Book" panose="02000503020000020003" pitchFamily="2" charset="0"/>
                <a:ea typeface="Times New Roman" panose="02020603050405020304" pitchFamily="18" charset="0"/>
                <a:cs typeface="Segoe UI" panose="020B0502040204020203" pitchFamily="34" charset="0"/>
              </a:rPr>
              <a:t>‘’ Si vous ne pouvez pas le </a:t>
            </a:r>
            <a:r>
              <a:rPr lang="fr-MA" sz="7200" b="1" kern="1800" dirty="0">
                <a:solidFill>
                  <a:schemeClr val="accent1"/>
                </a:solidFill>
                <a:effectLst/>
                <a:latin typeface="Avenir Book" panose="02000503020000020003" pitchFamily="2" charset="0"/>
                <a:ea typeface="Times New Roman" panose="02020603050405020304" pitchFamily="18" charset="0"/>
                <a:cs typeface="Segoe UI" panose="020B0502040204020203" pitchFamily="34" charset="0"/>
              </a:rPr>
              <a:t>mesurer</a:t>
            </a:r>
            <a:r>
              <a:rPr lang="fr-MA" sz="7200" kern="1800" dirty="0">
                <a:solidFill>
                  <a:srgbClr val="000000"/>
                </a:solidFill>
                <a:effectLst/>
                <a:latin typeface="Avenir Book" panose="02000503020000020003" pitchFamily="2" charset="0"/>
                <a:ea typeface="Times New Roman" panose="02020603050405020304" pitchFamily="18" charset="0"/>
                <a:cs typeface="Segoe UI" panose="020B0502040204020203" pitchFamily="34" charset="0"/>
              </a:rPr>
              <a:t>, vous ne pouvez pas l'</a:t>
            </a:r>
            <a:r>
              <a:rPr lang="fr-MA" sz="7200" b="1" dirty="0">
                <a:solidFill>
                  <a:schemeClr val="accent1"/>
                </a:solidFill>
                <a:latin typeface="Avenir Book" panose="02000503020000020003" pitchFamily="2" charset="0"/>
                <a:cs typeface="Segoe UI" panose="020B0502040204020203" pitchFamily="34" charset="0"/>
              </a:rPr>
              <a:t>améliorer</a:t>
            </a:r>
            <a:r>
              <a:rPr lang="fr-MA" sz="7200" kern="1800" dirty="0">
                <a:solidFill>
                  <a:srgbClr val="000000"/>
                </a:solidFill>
                <a:effectLst/>
                <a:latin typeface="Avenir Book" panose="02000503020000020003" pitchFamily="2" charset="0"/>
                <a:ea typeface="Times New Roman" panose="02020603050405020304" pitchFamily="18" charset="0"/>
                <a:cs typeface="Segoe UI" panose="020B0502040204020203" pitchFamily="34" charset="0"/>
              </a:rPr>
              <a:t> ‘’ (</a:t>
            </a:r>
            <a:r>
              <a:rPr lang="fr-MA" sz="6400" b="1" kern="1800" dirty="0">
                <a:solidFill>
                  <a:srgbClr val="0070C0"/>
                </a:solidFill>
                <a:latin typeface="Avenir Book" panose="02000503020000020003" pitchFamily="2" charset="0"/>
                <a:cs typeface="Segoe UI" panose="020B0502040204020203" pitchFamily="34" charset="0"/>
              </a:rPr>
              <a:t>Kelvin</a:t>
            </a:r>
            <a:r>
              <a:rPr lang="fr-MA" sz="7200" b="1" kern="1800" dirty="0">
                <a:solidFill>
                  <a:srgbClr val="0070C0"/>
                </a:solidFill>
                <a:effectLst/>
                <a:latin typeface="Avenir Book" panose="02000503020000020003" pitchFamily="2" charset="0"/>
                <a:ea typeface="Times New Roman" panose="02020603050405020304" pitchFamily="18" charset="0"/>
                <a:cs typeface="Segoe UI" panose="020B0502040204020203" pitchFamily="34" charset="0"/>
              </a:rPr>
              <a:t>)</a:t>
            </a:r>
            <a:r>
              <a:rPr lang="fr-MA" sz="7200" kern="1800" dirty="0">
                <a:solidFill>
                  <a:srgbClr val="0070C0"/>
                </a:solidFill>
                <a:effectLst/>
                <a:latin typeface="Avenir Book" panose="02000503020000020003" pitchFamily="2" charset="0"/>
                <a:ea typeface="Times New Roman" panose="02020603050405020304" pitchFamily="18" charset="0"/>
                <a:cs typeface="Segoe UI" panose="020B0502040204020203" pitchFamily="34" charset="0"/>
              </a:rPr>
              <a:t>.</a:t>
            </a:r>
            <a:endParaRPr lang="fr-MA" sz="7200" dirty="0">
              <a:solidFill>
                <a:srgbClr val="0070C0"/>
              </a:solidFill>
              <a:effectLst/>
              <a:latin typeface="Avenir Book" panose="02000503020000020003" pitchFamily="2" charset="0"/>
              <a:ea typeface="Times New Roman" panose="02020603050405020304" pitchFamily="18" charset="0"/>
              <a:cs typeface="Segoe UI" panose="020B0502040204020203" pitchFamily="34" charset="0"/>
            </a:endParaRPr>
          </a:p>
          <a:p>
            <a:pPr marL="0" lvl="0" indent="0">
              <a:lnSpc>
                <a:spcPct val="120000"/>
              </a:lnSpc>
              <a:spcBef>
                <a:spcPts val="0"/>
              </a:spcBef>
              <a:buNone/>
            </a:pPr>
            <a:r>
              <a:rPr lang="fr-MA" sz="7200" b="1" i="1" kern="1800" dirty="0">
                <a:solidFill>
                  <a:schemeClr val="accent1"/>
                </a:solidFill>
                <a:effectLst/>
                <a:latin typeface="Avenir Book" panose="02000503020000020003" pitchFamily="2" charset="0"/>
                <a:ea typeface="Times New Roman" panose="02020603050405020304" pitchFamily="18" charset="0"/>
                <a:cs typeface="Segoe UI" panose="020B0502040204020203" pitchFamily="34" charset="0"/>
              </a:rPr>
              <a:t>-  </a:t>
            </a:r>
            <a:r>
              <a:rPr lang="fr-MA" sz="7200" b="1" dirty="0">
                <a:solidFill>
                  <a:srgbClr val="0070C0"/>
                </a:solidFill>
                <a:effectLst/>
                <a:latin typeface="Avenir Book" panose="02000503020000020003" pitchFamily="2" charset="0"/>
                <a:ea typeface="Times New Roman" panose="02020603050405020304" pitchFamily="18" charset="0"/>
                <a:cs typeface="Times New Roman" panose="02020603050405020304" pitchFamily="18" charset="0"/>
              </a:rPr>
              <a:t>Edgar Morin</a:t>
            </a:r>
            <a:r>
              <a:rPr lang="fr-MA" sz="7200" b="1" dirty="0">
                <a:latin typeface="Avenir Book" panose="02000503020000020003" pitchFamily="2" charset="0"/>
                <a:ea typeface="Times New Roman" panose="02020603050405020304" pitchFamily="18" charset="0"/>
                <a:cs typeface="Times New Roman" panose="02020603050405020304" pitchFamily="18" charset="0"/>
              </a:rPr>
              <a:t>, </a:t>
            </a:r>
            <a:r>
              <a:rPr lang="fr-MA" sz="7200" dirty="0">
                <a:effectLst/>
                <a:latin typeface="Avenir Book" panose="02000503020000020003" pitchFamily="2" charset="0"/>
                <a:ea typeface="Times New Roman" panose="02020603050405020304" pitchFamily="18" charset="0"/>
                <a:cs typeface="Times New Roman" panose="02020603050405020304" pitchFamily="18" charset="0"/>
              </a:rPr>
              <a:t>lui, </a:t>
            </a:r>
            <a:r>
              <a:rPr lang="fr-MA" sz="7200" dirty="0">
                <a:latin typeface="Avenir Book" panose="02000503020000020003" pitchFamily="2" charset="0"/>
                <a:cs typeface="Times New Roman" panose="02020603050405020304" pitchFamily="18" charset="0"/>
              </a:rPr>
              <a:t>évoque les difficultés que doivent rencontrer dorénavant tous les cadres, </a:t>
            </a:r>
            <a:r>
              <a:rPr lang="fr-MA" sz="7200" dirty="0">
                <a:effectLst/>
                <a:latin typeface="Avenir Book" panose="02000503020000020003" pitchFamily="2" charset="0"/>
                <a:ea typeface="Times New Roman" panose="02020603050405020304" pitchFamily="18" charset="0"/>
                <a:cs typeface="Times New Roman" panose="02020603050405020304" pitchFamily="18" charset="0"/>
              </a:rPr>
              <a:t>à </a:t>
            </a:r>
            <a:r>
              <a:rPr lang="fr-MA" sz="7200" dirty="0">
                <a:latin typeface="Avenir Book" panose="02000503020000020003" pitchFamily="2" charset="0"/>
                <a:cs typeface="Times New Roman" panose="02020603050405020304" pitchFamily="18" charset="0"/>
              </a:rPr>
              <a:t>savoir  que ‘’ L’accroissement exponentiel de l'information dans tous les domaines et </a:t>
            </a:r>
            <a:r>
              <a:rPr lang="fr-MA" sz="7200" b="1" dirty="0">
                <a:solidFill>
                  <a:srgbClr val="0070C0"/>
                </a:solidFill>
                <a:latin typeface="Avenir Book" panose="02000503020000020003" pitchFamily="2" charset="0"/>
                <a:cs typeface="Times New Roman" panose="02020603050405020304" pitchFamily="18" charset="0"/>
              </a:rPr>
              <a:t>l'inaptitude à organiser cette information</a:t>
            </a:r>
            <a:r>
              <a:rPr lang="fr-MA" sz="7200" dirty="0">
                <a:latin typeface="Avenir Book" panose="02000503020000020003" pitchFamily="2" charset="0"/>
                <a:cs typeface="Times New Roman" panose="02020603050405020304" pitchFamily="18" charset="0"/>
              </a:rPr>
              <a:t>…’’.</a:t>
            </a:r>
          </a:p>
          <a:p>
            <a:pPr marL="0" indent="0">
              <a:buNone/>
            </a:pPr>
            <a:endParaRPr lang="fr-FR" dirty="0"/>
          </a:p>
        </p:txBody>
      </p:sp>
    </p:spTree>
    <p:extLst>
      <p:ext uri="{BB962C8B-B14F-4D97-AF65-F5344CB8AC3E}">
        <p14:creationId xmlns:p14="http://schemas.microsoft.com/office/powerpoint/2010/main" val="3229565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9C7474-3137-C06A-84BE-DD25A54A920F}"/>
              </a:ext>
            </a:extLst>
          </p:cNvPr>
          <p:cNvSpPr>
            <a:spLocks noGrp="1"/>
          </p:cNvSpPr>
          <p:nvPr>
            <p:ph type="title"/>
          </p:nvPr>
        </p:nvSpPr>
        <p:spPr/>
        <p:txBody>
          <a:bodyPr>
            <a:normAutofit/>
          </a:bodyPr>
          <a:lstStyle/>
          <a:p>
            <a:r>
              <a:rPr lang="fr-FR" sz="2400" dirty="0">
                <a:solidFill>
                  <a:schemeClr val="accent5"/>
                </a:solidFill>
                <a:latin typeface="Gill Sans MT" panose="020B0502020104020203" pitchFamily="34" charset="77"/>
              </a:rPr>
              <a:t>																		</a:t>
            </a:r>
            <a:br>
              <a:rPr lang="fr-FR" sz="2400" b="1" u="sng" dirty="0">
                <a:highlight>
                  <a:srgbClr val="C0C0C0"/>
                </a:highlight>
                <a:latin typeface="Avenir Book" panose="02000503020000020003" pitchFamily="2" charset="0"/>
              </a:rPr>
            </a:br>
            <a:r>
              <a:rPr lang="fr-FR" sz="2400" b="1" dirty="0">
                <a:latin typeface="Avenir Book" panose="02000503020000020003" pitchFamily="2" charset="0"/>
              </a:rPr>
              <a:t> </a:t>
            </a:r>
            <a:r>
              <a:rPr lang="fr-FR" sz="2400" b="1" dirty="0">
                <a:solidFill>
                  <a:schemeClr val="accent1"/>
                </a:solidFill>
                <a:latin typeface="Avenir Book" panose="02000503020000020003" pitchFamily="2" charset="0"/>
              </a:rPr>
              <a:t>Méthodologie.</a:t>
            </a:r>
          </a:p>
        </p:txBody>
      </p:sp>
      <p:sp>
        <p:nvSpPr>
          <p:cNvPr id="3" name="Espace réservé du contenu 2">
            <a:extLst>
              <a:ext uri="{FF2B5EF4-FFF2-40B4-BE49-F238E27FC236}">
                <a16:creationId xmlns:a16="http://schemas.microsoft.com/office/drawing/2014/main" id="{5236E5B5-3B99-98EF-E3DD-0BBFF569A659}"/>
              </a:ext>
            </a:extLst>
          </p:cNvPr>
          <p:cNvSpPr>
            <a:spLocks noGrp="1"/>
          </p:cNvSpPr>
          <p:nvPr>
            <p:ph idx="1"/>
          </p:nvPr>
        </p:nvSpPr>
        <p:spPr>
          <a:xfrm>
            <a:off x="2589212" y="1666754"/>
            <a:ext cx="8915400" cy="4244468"/>
          </a:xfrm>
        </p:spPr>
        <p:txBody>
          <a:bodyPr>
            <a:normAutofit lnSpcReduction="10000"/>
          </a:bodyPr>
          <a:lstStyle/>
          <a:p>
            <a:pPr marL="0" indent="0">
              <a:lnSpc>
                <a:spcPct val="100000"/>
              </a:lnSpc>
              <a:spcBef>
                <a:spcPts val="0"/>
              </a:spcBef>
              <a:buNone/>
            </a:pPr>
            <a:r>
              <a:rPr lang="fr-FR" dirty="0">
                <a:latin typeface="Avenir Book" panose="02000503020000020003" pitchFamily="2" charset="0"/>
                <a:cs typeface="Calibri" panose="020F0502020204030204" pitchFamily="34" charset="0"/>
              </a:rPr>
              <a:t>Dans le contexte de cette nouvelle donne, </a:t>
            </a:r>
            <a:r>
              <a:rPr lang="fr-MA" dirty="0">
                <a:latin typeface="Avenir Book" panose="02000503020000020003" pitchFamily="2" charset="0"/>
                <a:cs typeface="Calibri" panose="020F0502020204030204" pitchFamily="34" charset="0"/>
              </a:rPr>
              <a:t>nous essayons de nous mettre </a:t>
            </a:r>
            <a:r>
              <a:rPr lang="fr-MA" sz="1800" dirty="0">
                <a:effectLst/>
                <a:latin typeface="Avenir Book" panose="02000503020000020003" pitchFamily="2" charset="0"/>
                <a:ea typeface="Times New Roman" panose="02020603050405020304" pitchFamily="18" charset="0"/>
                <a:cs typeface="Calibri" panose="020F0502020204030204" pitchFamily="34" charset="0"/>
              </a:rPr>
              <a:t>à la place </a:t>
            </a:r>
            <a:r>
              <a:rPr lang="fr-MA" sz="1800" dirty="0">
                <a:latin typeface="Avenir Book" panose="02000503020000020003" pitchFamily="2" charset="0"/>
                <a:ea typeface="Times New Roman" panose="02020603050405020304" pitchFamily="18" charset="0"/>
                <a:cs typeface="Calibri" panose="020F0502020204030204" pitchFamily="34" charset="0"/>
              </a:rPr>
              <a:t>des intéressé(e)s </a:t>
            </a:r>
            <a:r>
              <a:rPr lang="fr-MA" sz="1800" dirty="0">
                <a:effectLst/>
                <a:latin typeface="Avenir Book" panose="02000503020000020003" pitchFamily="2" charset="0"/>
                <a:ea typeface="Times New Roman" panose="02020603050405020304" pitchFamily="18" charset="0"/>
                <a:cs typeface="Calibri" panose="020F0502020204030204" pitchFamily="34" charset="0"/>
              </a:rPr>
              <a:t>pour </a:t>
            </a:r>
            <a:r>
              <a:rPr lang="fr-MA" sz="1800" dirty="0">
                <a:latin typeface="Avenir Book" panose="02000503020000020003" pitchFamily="2" charset="0"/>
                <a:ea typeface="Times New Roman" panose="02020603050405020304" pitchFamily="18" charset="0"/>
                <a:cs typeface="Calibri" panose="020F0502020204030204" pitchFamily="34" charset="0"/>
              </a:rPr>
              <a:t>leur procurer rapidement et surtout </a:t>
            </a:r>
            <a:r>
              <a:rPr lang="fr-MA" sz="1800" b="1" dirty="0">
                <a:solidFill>
                  <a:srgbClr val="0070C0"/>
                </a:solidFill>
                <a:effectLst/>
                <a:latin typeface="Avenir Book" panose="02000503020000020003" pitchFamily="2" charset="0"/>
                <a:ea typeface="Times New Roman" panose="02020603050405020304" pitchFamily="18" charset="0"/>
                <a:cs typeface="Calibri" panose="020F0502020204030204" pitchFamily="34" charset="0"/>
              </a:rPr>
              <a:t>sans excès littéraire, </a:t>
            </a:r>
            <a:r>
              <a:rPr lang="fr-MA" sz="1800" dirty="0">
                <a:latin typeface="Avenir Book" panose="02000503020000020003" pitchFamily="2" charset="0"/>
                <a:cs typeface="Calibri" panose="020F0502020204030204" pitchFamily="34" charset="0"/>
              </a:rPr>
              <a:t>des</a:t>
            </a:r>
            <a:r>
              <a:rPr lang="fr-MA" sz="1800" b="1" dirty="0">
                <a:solidFill>
                  <a:srgbClr val="0070C0"/>
                </a:solidFill>
                <a:effectLst/>
                <a:latin typeface="Avenir Book" panose="02000503020000020003" pitchFamily="2" charset="0"/>
                <a:ea typeface="Times New Roman" panose="02020603050405020304" pitchFamily="18" charset="0"/>
                <a:cs typeface="Calibri" panose="020F0502020204030204" pitchFamily="34" charset="0"/>
              </a:rPr>
              <a:t> Informations technico-économiques </a:t>
            </a:r>
            <a:r>
              <a:rPr lang="fr-MA" sz="1800" dirty="0">
                <a:effectLst/>
                <a:latin typeface="Avenir Book" panose="02000503020000020003" pitchFamily="2" charset="0"/>
                <a:ea typeface="Times New Roman" panose="02020603050405020304" pitchFamily="18" charset="0"/>
                <a:cs typeface="Calibri" panose="020F0502020204030204" pitchFamily="34" charset="0"/>
              </a:rPr>
              <a:t>et des </a:t>
            </a:r>
            <a:r>
              <a:rPr lang="fr-MA" sz="1800" b="1" dirty="0">
                <a:solidFill>
                  <a:srgbClr val="0070C0"/>
                </a:solidFill>
                <a:effectLst/>
                <a:latin typeface="Avenir Book" panose="02000503020000020003" pitchFamily="2" charset="0"/>
                <a:ea typeface="Times New Roman" panose="02020603050405020304" pitchFamily="18" charset="0"/>
                <a:cs typeface="Calibri" panose="020F0502020204030204" pitchFamily="34" charset="0"/>
              </a:rPr>
              <a:t>Données chiffrées, </a:t>
            </a:r>
            <a:r>
              <a:rPr lang="fr-MA" sz="1800" b="1"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à portée de main, juste au bout de leur Smartphone</a:t>
            </a:r>
            <a:r>
              <a:rPr lang="fr-MA" sz="1800" dirty="0">
                <a:effectLst/>
                <a:latin typeface="Avenir Book" panose="02000503020000020003" pitchFamily="2" charset="0"/>
                <a:ea typeface="Times New Roman" panose="02020603050405020304" pitchFamily="18" charset="0"/>
                <a:cs typeface="Calibri" panose="020F0502020204030204" pitchFamily="34" charset="0"/>
              </a:rPr>
              <a:t>.</a:t>
            </a:r>
            <a:r>
              <a:rPr lang="fr-MA" sz="2000" dirty="0">
                <a:effectLst/>
                <a:latin typeface="Avenir Book" panose="02000503020000020003" pitchFamily="2" charset="0"/>
                <a:ea typeface="Times New Roman" panose="02020603050405020304" pitchFamily="18" charset="0"/>
                <a:cs typeface="Calibri" panose="020F0502020204030204" pitchFamily="34" charset="0"/>
              </a:rPr>
              <a:t> </a:t>
            </a:r>
          </a:p>
          <a:p>
            <a:pPr marL="0" indent="0">
              <a:lnSpc>
                <a:spcPct val="150000"/>
              </a:lnSpc>
              <a:spcBef>
                <a:spcPts val="0"/>
              </a:spcBef>
              <a:buNone/>
            </a:pPr>
            <a:r>
              <a:rPr lang="fr-MA" sz="1600" b="1" dirty="0">
                <a:latin typeface="Avenir Book" panose="02000503020000020003" pitchFamily="2" charset="0"/>
                <a:ea typeface="Times New Roman" panose="02020603050405020304" pitchFamily="18" charset="0"/>
                <a:cs typeface="Calibri" panose="020F0502020204030204" pitchFamily="34" charset="0"/>
              </a:rPr>
              <a:t>N</a:t>
            </a:r>
            <a:r>
              <a:rPr lang="fr-MA" sz="1600" b="1" dirty="0">
                <a:effectLst/>
                <a:latin typeface="Avenir Book" panose="02000503020000020003" pitchFamily="2" charset="0"/>
                <a:ea typeface="Times New Roman" panose="02020603050405020304" pitchFamily="18" charset="0"/>
                <a:cs typeface="Calibri" panose="020F0502020204030204" pitchFamily="34" charset="0"/>
              </a:rPr>
              <a:t>otre méthodologie et nos processus </a:t>
            </a:r>
            <a:r>
              <a:rPr lang="fr-MA" sz="2000" b="1" dirty="0">
                <a:effectLst/>
                <a:latin typeface="Avenir Book" panose="02000503020000020003" pitchFamily="2" charset="0"/>
                <a:ea typeface="Times New Roman" panose="02020603050405020304" pitchFamily="18" charset="0"/>
                <a:cs typeface="Calibri" panose="020F0502020204030204" pitchFamily="34" charset="0"/>
              </a:rPr>
              <a:t>:</a:t>
            </a:r>
            <a:endParaRPr lang="fr-MA" sz="2000" b="1" dirty="0">
              <a:solidFill>
                <a:schemeClr val="accent1"/>
              </a:solidFill>
              <a:latin typeface="Avenir Book" panose="02000503020000020003" pitchFamily="2" charset="0"/>
              <a:cs typeface="Calibri" panose="020F0502020204030204" pitchFamily="34" charset="0"/>
            </a:endParaRPr>
          </a:p>
          <a:p>
            <a:pPr marL="0" indent="0">
              <a:lnSpc>
                <a:spcPct val="100000"/>
              </a:lnSpc>
              <a:spcBef>
                <a:spcPts val="0"/>
              </a:spcBef>
              <a:buNone/>
            </a:pPr>
            <a:r>
              <a:rPr lang="fr-MA" sz="1800" b="1" dirty="0">
                <a:solidFill>
                  <a:schemeClr val="accent1"/>
                </a:solidFill>
                <a:latin typeface="Avenir Book" panose="02000503020000020003" pitchFamily="2" charset="0"/>
                <a:cs typeface="Calibri" panose="020F0502020204030204" pitchFamily="34" charset="0"/>
              </a:rPr>
              <a:t>° </a:t>
            </a:r>
            <a:r>
              <a:rPr lang="fr-MA" b="1" dirty="0">
                <a:solidFill>
                  <a:schemeClr val="accent1"/>
                </a:solidFill>
                <a:latin typeface="Avenir Book" panose="02000503020000020003" pitchFamily="2" charset="0"/>
                <a:cs typeface="Calibri" panose="020F0502020204030204" pitchFamily="34" charset="0"/>
              </a:rPr>
              <a:t>P</a:t>
            </a:r>
            <a:r>
              <a:rPr lang="fr-MA" sz="1800" b="1" dirty="0">
                <a:solidFill>
                  <a:schemeClr val="accent1"/>
                </a:solidFill>
                <a:latin typeface="Avenir Book" panose="02000503020000020003" pitchFamily="2" charset="0"/>
                <a:cs typeface="Calibri" panose="020F0502020204030204" pitchFamily="34" charset="0"/>
              </a:rPr>
              <a:t>ratiquer </a:t>
            </a:r>
            <a:r>
              <a:rPr lang="fr-MA" sz="1600" b="1" dirty="0">
                <a:solidFill>
                  <a:srgbClr val="0070C0"/>
                </a:solidFill>
                <a:latin typeface="Avenir Book" panose="02000503020000020003" pitchFamily="2" charset="0"/>
                <a:cs typeface="Calibri" panose="020F0502020204030204" pitchFamily="34" charset="0"/>
              </a:rPr>
              <a:t>une Veille informationnelle continue </a:t>
            </a:r>
            <a:r>
              <a:rPr lang="fr-MA" sz="1800" b="1" dirty="0">
                <a:latin typeface="Avenir Book" panose="02000503020000020003" pitchFamily="2" charset="0"/>
                <a:cs typeface="Calibri" panose="020F0502020204030204" pitchFamily="34" charset="0"/>
              </a:rPr>
              <a:t>sur quelques centaines de sources marocaines et </a:t>
            </a:r>
            <a:r>
              <a:rPr lang="fr-MA" b="1" dirty="0">
                <a:latin typeface="Avenir Book" panose="02000503020000020003" pitchFamily="2" charset="0"/>
                <a:cs typeface="Calibri" panose="020F0502020204030204" pitchFamily="34" charset="0"/>
              </a:rPr>
              <a:t>étrangères en procédant à </a:t>
            </a:r>
            <a:r>
              <a:rPr lang="fr-MA" sz="1600" b="1" dirty="0">
                <a:solidFill>
                  <a:srgbClr val="0070C0"/>
                </a:solidFill>
                <a:latin typeface="Avenir Book" panose="02000503020000020003" pitchFamily="2" charset="0"/>
                <a:cs typeface="Calibri" panose="020F0502020204030204" pitchFamily="34" charset="0"/>
              </a:rPr>
              <a:t>la Prospection, la Sélection, le Décryptage et l’Analyse </a:t>
            </a:r>
            <a:r>
              <a:rPr lang="fr-MA" sz="1800" dirty="0">
                <a:solidFill>
                  <a:schemeClr val="tx1"/>
                </a:solidFill>
                <a:latin typeface="Avenir Book" panose="02000503020000020003" pitchFamily="2" charset="0"/>
                <a:cs typeface="Calibri" panose="020F0502020204030204" pitchFamily="34" charset="0"/>
              </a:rPr>
              <a:t>des sujets qui les intéressent. </a:t>
            </a:r>
            <a:endParaRPr lang="fr-MA" sz="2000" b="1" dirty="0">
              <a:solidFill>
                <a:srgbClr val="0070C0"/>
              </a:solidFill>
              <a:latin typeface="Avenir Book" panose="02000503020000020003" pitchFamily="2" charset="0"/>
              <a:cs typeface="Calibri" panose="020F0502020204030204" pitchFamily="34" charset="0"/>
            </a:endParaRPr>
          </a:p>
          <a:p>
            <a:pPr marL="0" indent="0">
              <a:lnSpc>
                <a:spcPct val="100000"/>
              </a:lnSpc>
              <a:spcBef>
                <a:spcPts val="0"/>
              </a:spcBef>
              <a:buNone/>
            </a:pPr>
            <a:r>
              <a:rPr lang="fr-MA" sz="1800" b="1" dirty="0">
                <a:solidFill>
                  <a:schemeClr val="accent1"/>
                </a:solidFill>
                <a:latin typeface="Avenir Book" panose="02000503020000020003" pitchFamily="2" charset="0"/>
                <a:cs typeface="Calibri" panose="020F0502020204030204" pitchFamily="34" charset="0"/>
              </a:rPr>
              <a:t>° Traiter </a:t>
            </a:r>
            <a:r>
              <a:rPr lang="fr-MA" sz="1800" dirty="0">
                <a:latin typeface="Avenir Book" panose="02000503020000020003" pitchFamily="2" charset="0"/>
                <a:cs typeface="Calibri" panose="020F0502020204030204" pitchFamily="34" charset="0"/>
              </a:rPr>
              <a:t>ensuite </a:t>
            </a:r>
            <a:r>
              <a:rPr lang="fr-MA" sz="1600" b="1" dirty="0">
                <a:solidFill>
                  <a:srgbClr val="0070C0"/>
                </a:solidFill>
                <a:latin typeface="Avenir Book" panose="02000503020000020003" pitchFamily="2" charset="0"/>
                <a:cs typeface="Calibri" panose="020F0502020204030204" pitchFamily="34" charset="0"/>
              </a:rPr>
              <a:t>les informations essentielles et les plus pertinentes </a:t>
            </a:r>
            <a:r>
              <a:rPr lang="fr-MA" sz="1800" dirty="0">
                <a:latin typeface="Avenir Book" panose="02000503020000020003" pitchFamily="2" charset="0"/>
                <a:cs typeface="Calibri" panose="020F0502020204030204" pitchFamily="34" charset="0"/>
              </a:rPr>
              <a:t>que nous estimions utiles pour aider le plus grand nombre d’intéressé(</a:t>
            </a:r>
            <a:r>
              <a:rPr lang="fr-MA" dirty="0">
                <a:latin typeface="Avenir Book" panose="02000503020000020003" pitchFamily="2" charset="0"/>
                <a:cs typeface="Calibri" panose="020F0502020204030204" pitchFamily="34" charset="0"/>
              </a:rPr>
              <a:t>e</a:t>
            </a:r>
            <a:r>
              <a:rPr lang="fr-MA" sz="1800" dirty="0">
                <a:latin typeface="Avenir Book" panose="02000503020000020003" pitchFamily="2" charset="0"/>
                <a:cs typeface="Calibri" panose="020F0502020204030204" pitchFamily="34" charset="0"/>
              </a:rPr>
              <a:t>)s dans leurs propres recherches</a:t>
            </a:r>
            <a:r>
              <a:rPr lang="fr-MA" dirty="0">
                <a:latin typeface="Avenir Book" panose="02000503020000020003" pitchFamily="2" charset="0"/>
                <a:cs typeface="Calibri" panose="020F0502020204030204" pitchFamily="34" charset="0"/>
              </a:rPr>
              <a:t>, ceci passe par le </a:t>
            </a:r>
            <a:r>
              <a:rPr lang="fr-FR" sz="1800" dirty="0">
                <a:latin typeface="Avenir Book" panose="02000503020000020003" pitchFamily="2" charset="0"/>
                <a:cs typeface="Calibri" panose="020F0502020204030204" pitchFamily="34" charset="0"/>
              </a:rPr>
              <a:t>filtrage de l'information contre l'infobésité pour séparer les données inutiles des informations pertinentes et en extraire les connaissances cruciales.</a:t>
            </a:r>
            <a:endParaRPr lang="fr-MA" sz="1800" dirty="0">
              <a:latin typeface="Avenir Book" panose="02000503020000020003" pitchFamily="2" charset="0"/>
              <a:cs typeface="Calibri" panose="020F0502020204030204" pitchFamily="34" charset="0"/>
            </a:endParaRPr>
          </a:p>
          <a:p>
            <a:pPr marL="0" indent="0">
              <a:buNone/>
            </a:pPr>
            <a:r>
              <a:rPr lang="fr-MA" sz="1800" b="1" dirty="0">
                <a:solidFill>
                  <a:schemeClr val="accent1"/>
                </a:solidFill>
                <a:latin typeface="Avenir Book" panose="02000503020000020003" pitchFamily="2" charset="0"/>
                <a:cs typeface="Calibri" panose="020F0502020204030204" pitchFamily="34" charset="0"/>
              </a:rPr>
              <a:t>° </a:t>
            </a:r>
            <a:r>
              <a:rPr lang="fr-FR" b="1" dirty="0">
                <a:solidFill>
                  <a:schemeClr val="accent1"/>
                </a:solidFill>
                <a:latin typeface="Avenir Book" panose="02000503020000020003" pitchFamily="2" charset="0"/>
                <a:cs typeface="Calibri" panose="020F0502020204030204" pitchFamily="34" charset="0"/>
              </a:rPr>
              <a:t>Notre ambition</a:t>
            </a:r>
            <a:r>
              <a:rPr lang="fr-FR" sz="1800" kern="100" dirty="0">
                <a:effectLst/>
                <a:latin typeface="Avenir Book" panose="02000503020000020003" pitchFamily="2" charset="0"/>
                <a:ea typeface="Calibri" panose="020F0502020204030204" pitchFamily="34" charset="0"/>
                <a:cs typeface="Arial" panose="020B0604020202020204" pitchFamily="34" charset="0"/>
              </a:rPr>
              <a:t>, c’est d’essayer de faire en sorte qu</a:t>
            </a:r>
            <a:r>
              <a:rPr lang="fr-FR" kern="100" dirty="0">
                <a:latin typeface="Avenir Book" panose="02000503020000020003" pitchFamily="2" charset="0"/>
                <a:ea typeface="Calibri" panose="020F0502020204030204" pitchFamily="34" charset="0"/>
                <a:cs typeface="Arial" panose="020B0604020202020204" pitchFamily="34" charset="0"/>
              </a:rPr>
              <a:t>e, </a:t>
            </a:r>
            <a:r>
              <a:rPr lang="fr-FR" sz="1600" b="1" kern="100" dirty="0">
                <a:solidFill>
                  <a:schemeClr val="tx1"/>
                </a:solidFill>
                <a:effectLst/>
                <a:latin typeface="Avenir Book" panose="02000503020000020003" pitchFamily="2" charset="0"/>
                <a:ea typeface="Calibri" panose="020F0502020204030204" pitchFamily="34" charset="0"/>
                <a:cs typeface="Arial" panose="020B0604020202020204" pitchFamily="34" charset="0"/>
              </a:rPr>
              <a:t>par l’enrichissement des données récoltées</a:t>
            </a:r>
            <a:r>
              <a:rPr lang="fr-FR" sz="1800" kern="100" dirty="0">
                <a:effectLst/>
                <a:latin typeface="Avenir Book" panose="02000503020000020003" pitchFamily="2" charset="0"/>
                <a:ea typeface="Calibri" panose="020F0502020204030204" pitchFamily="34" charset="0"/>
                <a:cs typeface="Arial" panose="020B0604020202020204" pitchFamily="34" charset="0"/>
              </a:rPr>
              <a:t>, </a:t>
            </a:r>
            <a:r>
              <a:rPr lang="fr-FR" sz="1600" b="1" dirty="0">
                <a:solidFill>
                  <a:srgbClr val="0070C0"/>
                </a:solidFill>
                <a:latin typeface="Avenir Book" panose="02000503020000020003" pitchFamily="2" charset="0"/>
                <a:cs typeface="Calibri" panose="020F0502020204030204" pitchFamily="34" charset="0"/>
              </a:rPr>
              <a:t>l’information soit transformée in fine en </a:t>
            </a:r>
            <a:r>
              <a:rPr lang="fr-FR" sz="1600" b="1" dirty="0">
                <a:solidFill>
                  <a:schemeClr val="tx1"/>
                </a:solidFill>
                <a:latin typeface="Avenir Book" panose="02000503020000020003" pitchFamily="2" charset="0"/>
                <a:cs typeface="Calibri" panose="020F0502020204030204" pitchFamily="34" charset="0"/>
              </a:rPr>
              <a:t>Savoir.</a:t>
            </a:r>
            <a:r>
              <a:rPr lang="fr-MA" sz="1600" b="1" dirty="0">
                <a:solidFill>
                  <a:schemeClr val="tx1"/>
                </a:solidFill>
                <a:latin typeface="Avenir Book" panose="02000503020000020003" pitchFamily="2" charset="0"/>
                <a:cs typeface="Calibri" panose="020F0502020204030204" pitchFamily="34" charset="0"/>
              </a:rPr>
              <a:t>                                                   </a:t>
            </a:r>
            <a:endParaRPr lang="fr-FR" sz="1600" b="1" dirty="0">
              <a:solidFill>
                <a:schemeClr val="tx1"/>
              </a:solidFill>
              <a:latin typeface="Avenir Book" panose="02000503020000020003" pitchFamily="2" charset="0"/>
              <a:cs typeface="Calibri" panose="020F0502020204030204" pitchFamily="34" charset="0"/>
            </a:endParaRPr>
          </a:p>
        </p:txBody>
      </p:sp>
    </p:spTree>
    <p:extLst>
      <p:ext uri="{BB962C8B-B14F-4D97-AF65-F5344CB8AC3E}">
        <p14:creationId xmlns:p14="http://schemas.microsoft.com/office/powerpoint/2010/main" val="183514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A63207-77DA-EAFF-AC90-0747EACEDAFD}"/>
              </a:ext>
            </a:extLst>
          </p:cNvPr>
          <p:cNvSpPr>
            <a:spLocks noGrp="1"/>
          </p:cNvSpPr>
          <p:nvPr>
            <p:ph type="title"/>
          </p:nvPr>
        </p:nvSpPr>
        <p:spPr/>
        <p:txBody>
          <a:bodyPr>
            <a:normAutofit/>
          </a:bodyPr>
          <a:lstStyle/>
          <a:p>
            <a:r>
              <a:rPr lang="fr-FR" sz="2400" b="1" dirty="0">
                <a:latin typeface="Avenir Book" panose="02000503020000020003" pitchFamily="2" charset="0"/>
              </a:rPr>
              <a:t>							</a:t>
            </a:r>
            <a:r>
              <a:rPr lang="fr-FR" sz="2400" dirty="0">
                <a:solidFill>
                  <a:schemeClr val="accent5"/>
                </a:solidFill>
                <a:latin typeface="Gill Sans MT" panose="020B0502020104020203" pitchFamily="34" charset="77"/>
              </a:rPr>
              <a:t> 											</a:t>
            </a:r>
            <a:br>
              <a:rPr lang="fr-FR" sz="2400" b="1" dirty="0">
                <a:latin typeface="Avenir Book" panose="02000503020000020003" pitchFamily="2" charset="0"/>
              </a:rPr>
            </a:br>
            <a:r>
              <a:rPr lang="fr-FR" sz="2400" b="1"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l</a:t>
            </a:r>
            <a:r>
              <a:rPr lang="fr-FR" sz="2400"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a:t>
            </a:r>
            <a:r>
              <a:rPr lang="fr-FR" sz="2400" b="1"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E</a:t>
            </a:r>
            <a:r>
              <a:rPr lang="fr-FR" sz="2000" b="1"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SSENTIEL</a:t>
            </a:r>
            <a:r>
              <a:rPr lang="fr-FR" sz="2000" b="1" dirty="0">
                <a:solidFill>
                  <a:schemeClr val="accent1"/>
                </a:solidFill>
                <a:latin typeface="Avenir Book" panose="02000503020000020003" pitchFamily="2" charset="0"/>
                <a:ea typeface="Times New Roman" panose="02020603050405020304" pitchFamily="18" charset="0"/>
                <a:cs typeface="Calibri" panose="020F0502020204030204" pitchFamily="34" charset="0"/>
              </a:rPr>
              <a:t>, juste l’essentiel,</a:t>
            </a:r>
            <a:r>
              <a:rPr lang="fr-FR" sz="2400" b="1"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a:t>
            </a:r>
            <a:r>
              <a:rPr lang="fr-FR" sz="24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dans </a:t>
            </a:r>
            <a:r>
              <a:rPr lang="fr-FR" sz="2400" b="1" dirty="0">
                <a:solidFill>
                  <a:srgbClr val="4472C4"/>
                </a:solidFill>
                <a:effectLst/>
                <a:latin typeface="Avenir Book" panose="02000503020000020003" pitchFamily="2" charset="0"/>
                <a:ea typeface="Times New Roman" panose="02020603050405020304" pitchFamily="18" charset="0"/>
                <a:cs typeface="Calibri" panose="020F0502020204030204" pitchFamily="34" charset="0"/>
              </a:rPr>
              <a:t>une seule page.</a:t>
            </a:r>
            <a:br>
              <a:rPr lang="fr-FR" sz="2400" b="1" dirty="0">
                <a:solidFill>
                  <a:srgbClr val="4472C4"/>
                </a:solidFill>
                <a:effectLst/>
                <a:latin typeface="Avenir Book" panose="02000503020000020003" pitchFamily="2" charset="0"/>
                <a:ea typeface="Times New Roman" panose="02020603050405020304" pitchFamily="18" charset="0"/>
                <a:cs typeface="Calibri" panose="020F0502020204030204" pitchFamily="34" charset="0"/>
              </a:rPr>
            </a:br>
            <a:r>
              <a:rPr lang="fr-FR" sz="2400" b="1" dirty="0">
                <a:solidFill>
                  <a:srgbClr val="4472C4"/>
                </a:solidFill>
                <a:effectLst/>
                <a:latin typeface="Avenir Book" panose="02000503020000020003" pitchFamily="2" charset="0"/>
                <a:ea typeface="Times New Roman" panose="02020603050405020304" pitchFamily="18" charset="0"/>
                <a:cs typeface="Calibri" panose="020F0502020204030204" pitchFamily="34" charset="0"/>
              </a:rPr>
              <a:t>        </a:t>
            </a:r>
            <a:r>
              <a:rPr lang="fr-FR" sz="2000" b="1" dirty="0">
                <a:solidFill>
                  <a:srgbClr val="0070C0"/>
                </a:solidFill>
                <a:effectLst/>
                <a:latin typeface="Avenir Book" panose="02000503020000020003" pitchFamily="2" charset="0"/>
                <a:ea typeface="Times New Roman" panose="02020603050405020304" pitchFamily="18" charset="0"/>
                <a:cs typeface="Calibri" panose="020F0502020204030204" pitchFamily="34" charset="0"/>
              </a:rPr>
              <a:t>Y compris </a:t>
            </a:r>
            <a:r>
              <a:rPr lang="fr-FR" sz="2000" b="1" dirty="0">
                <a:solidFill>
                  <a:schemeClr val="tx1"/>
                </a:solidFill>
                <a:effectLst/>
                <a:latin typeface="Avenir Book" panose="02000503020000020003" pitchFamily="2" charset="0"/>
                <a:ea typeface="Times New Roman" panose="02020603050405020304" pitchFamily="18" charset="0"/>
                <a:cs typeface="Calibri" panose="020F0502020204030204" pitchFamily="34" charset="0"/>
              </a:rPr>
              <a:t>Tableau, Graphique ou Illustration. </a:t>
            </a:r>
            <a:endParaRPr lang="fr-FR" sz="2000" b="1" dirty="0">
              <a:solidFill>
                <a:schemeClr val="tx1"/>
              </a:solidFill>
              <a:latin typeface="Avenir Book" panose="02000503020000020003" pitchFamily="2" charset="0"/>
            </a:endParaRPr>
          </a:p>
        </p:txBody>
      </p:sp>
      <p:sp>
        <p:nvSpPr>
          <p:cNvPr id="3" name="Espace réservé du contenu 2">
            <a:extLst>
              <a:ext uri="{FF2B5EF4-FFF2-40B4-BE49-F238E27FC236}">
                <a16:creationId xmlns:a16="http://schemas.microsoft.com/office/drawing/2014/main" id="{A949F58B-EBD3-13B0-8D64-42E9D099A34B}"/>
              </a:ext>
            </a:extLst>
          </p:cNvPr>
          <p:cNvSpPr>
            <a:spLocks noGrp="1"/>
          </p:cNvSpPr>
          <p:nvPr>
            <p:ph idx="1"/>
          </p:nvPr>
        </p:nvSpPr>
        <p:spPr>
          <a:xfrm>
            <a:off x="2589212" y="1990846"/>
            <a:ext cx="8915400" cy="3920376"/>
          </a:xfrm>
        </p:spPr>
        <p:txBody>
          <a:bodyPr>
            <a:normAutofit fontScale="25000" lnSpcReduction="20000"/>
          </a:bodyPr>
          <a:lstStyle/>
          <a:p>
            <a:pPr marL="342900" lvl="0" indent="-342900">
              <a:lnSpc>
                <a:spcPct val="115000"/>
              </a:lnSpc>
              <a:buFont typeface="Arial" panose="020B0604020202020204" pitchFamily="34" charset="0"/>
              <a:buChar char="•"/>
              <a:tabLst>
                <a:tab pos="457200" algn="l"/>
              </a:tabLst>
            </a:pPr>
            <a:r>
              <a:rPr lang="fr-FR" sz="64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Pour nous, il faudrait traiter toujours une masse volumineuse d’informations, très souvent de sources différentes et diversifiées qu’il faudrait vérifier et comparer pour vous livrer </a:t>
            </a:r>
            <a:r>
              <a:rPr lang="fr-FR" sz="6400" b="1"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l</a:t>
            </a:r>
            <a:r>
              <a:rPr lang="fr-FR" sz="6400"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a:t>
            </a:r>
            <a:r>
              <a:rPr lang="fr-FR" sz="6400" b="1"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E</a:t>
            </a:r>
            <a:r>
              <a:rPr lang="fr-FR" sz="5600" b="1"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SSENTIEL</a:t>
            </a:r>
            <a:r>
              <a:rPr lang="fr-FR" sz="6400" b="1"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a:t>
            </a:r>
            <a:r>
              <a:rPr lang="fr-FR" sz="64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dans </a:t>
            </a:r>
            <a:r>
              <a:rPr lang="fr-FR" sz="6400" b="1" dirty="0">
                <a:solidFill>
                  <a:srgbClr val="4472C4"/>
                </a:solidFill>
                <a:effectLst/>
                <a:latin typeface="Avenir Book" panose="02000503020000020003" pitchFamily="2" charset="0"/>
                <a:ea typeface="Times New Roman" panose="02020603050405020304" pitchFamily="18" charset="0"/>
                <a:cs typeface="Calibri" panose="020F0502020204030204" pitchFamily="34" charset="0"/>
              </a:rPr>
              <a:t>une seule page </a:t>
            </a:r>
            <a:r>
              <a:rPr lang="fr-FR" sz="64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pour un</a:t>
            </a:r>
            <a:r>
              <a:rPr lang="fr-FR" sz="6400" dirty="0">
                <a:solidFill>
                  <a:srgbClr val="4472C4"/>
                </a:solidFill>
                <a:effectLst/>
                <a:latin typeface="Avenir Book" panose="02000503020000020003" pitchFamily="2" charset="0"/>
                <a:ea typeface="Times New Roman" panose="02020603050405020304" pitchFamily="18" charset="0"/>
                <a:cs typeface="Calibri" panose="020F0502020204030204" pitchFamily="34" charset="0"/>
              </a:rPr>
              <a:t> </a:t>
            </a:r>
            <a:r>
              <a:rPr lang="fr-FR" sz="6400" b="1" dirty="0">
                <a:solidFill>
                  <a:srgbClr val="4472C4"/>
                </a:solidFill>
                <a:effectLst/>
                <a:latin typeface="Avenir Book" panose="02000503020000020003" pitchFamily="2" charset="0"/>
                <a:ea typeface="Times New Roman" panose="02020603050405020304" pitchFamily="18" charset="0"/>
                <a:cs typeface="Calibri" panose="020F0502020204030204" pitchFamily="34" charset="0"/>
              </a:rPr>
              <a:t>sujet précis.</a:t>
            </a:r>
            <a:endParaRPr lang="fr-MA" sz="6400" b="1" dirty="0">
              <a:effectLst/>
              <a:latin typeface="Avenir Book" panose="02000503020000020003" pitchFamily="2" charset="0"/>
              <a:ea typeface="Calibri" panose="020F0502020204030204" pitchFamily="34" charset="0"/>
              <a:cs typeface="Times New Roman" panose="02020603050405020304" pitchFamily="18" charset="0"/>
            </a:endParaRPr>
          </a:p>
          <a:p>
            <a:pPr marL="342900" lvl="0" indent="-342900">
              <a:lnSpc>
                <a:spcPct val="115000"/>
              </a:lnSpc>
              <a:buFont typeface="Arial" panose="020B0604020202020204" pitchFamily="34" charset="0"/>
              <a:buChar char="•"/>
              <a:tabLst>
                <a:tab pos="457200" algn="l"/>
              </a:tabLst>
            </a:pPr>
            <a:r>
              <a:rPr lang="fr-FR" sz="5600" b="1"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Pour cela, nous devons lire, explorer ou parcourir des Publications officielles, des Rapports institutionnels, voire des Études sectorielles comportant parfois </a:t>
            </a:r>
            <a:r>
              <a:rPr lang="fr-FR" sz="5600" b="1"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20, 50,150 pages et plus</a:t>
            </a:r>
            <a:r>
              <a:rPr lang="fr-FR" sz="5600" b="1" dirty="0">
                <a:solidFill>
                  <a:schemeClr val="accent2"/>
                </a:solidFill>
                <a:effectLst/>
                <a:latin typeface="Avenir Book" panose="02000503020000020003" pitchFamily="2" charset="0"/>
                <a:ea typeface="Times New Roman" panose="02020603050405020304" pitchFamily="18" charset="0"/>
                <a:cs typeface="Calibri" panose="020F0502020204030204" pitchFamily="34" charset="0"/>
              </a:rPr>
              <a:t> </a:t>
            </a:r>
            <a:r>
              <a:rPr lang="fr-FR" sz="5600" b="1"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pour en extraire </a:t>
            </a:r>
            <a:r>
              <a:rPr lang="fr-FR" sz="5600" b="1" dirty="0">
                <a:solidFill>
                  <a:srgbClr val="4472C4"/>
                </a:solidFill>
                <a:effectLst/>
                <a:latin typeface="Avenir Book" panose="02000503020000020003" pitchFamily="2" charset="0"/>
                <a:ea typeface="Times New Roman" panose="02020603050405020304" pitchFamily="18" charset="0"/>
                <a:cs typeface="Calibri" panose="020F0502020204030204" pitchFamily="34" charset="0"/>
              </a:rPr>
              <a:t>l’ESSENTIEL. </a:t>
            </a:r>
            <a:endParaRPr lang="fr-MA" sz="5600" b="1" dirty="0">
              <a:effectLst/>
              <a:latin typeface="Avenir Book" panose="02000503020000020003" pitchFamily="2" charset="0"/>
              <a:ea typeface="Calibri" panose="020F0502020204030204" pitchFamily="34" charset="0"/>
              <a:cs typeface="Times New Roman" panose="02020603050405020304" pitchFamily="18" charset="0"/>
            </a:endParaRPr>
          </a:p>
          <a:p>
            <a:pPr marL="342900" lvl="0" indent="-342900">
              <a:lnSpc>
                <a:spcPct val="115000"/>
              </a:lnSpc>
              <a:buFont typeface="Arial" panose="020B0604020202020204" pitchFamily="34" charset="0"/>
              <a:buChar char="•"/>
              <a:tabLst>
                <a:tab pos="457200" algn="l"/>
              </a:tabLst>
            </a:pPr>
            <a:r>
              <a:rPr lang="fr-FR" sz="5600" b="1"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A titre d’exemple, </a:t>
            </a:r>
            <a:endParaRPr lang="fr-MA" sz="5600" b="1" dirty="0">
              <a:solidFill>
                <a:schemeClr val="accent1"/>
              </a:solidFill>
              <a:effectLst/>
              <a:latin typeface="Avenir Book" panose="02000503020000020003" pitchFamily="2" charset="0"/>
              <a:ea typeface="Calibri" panose="020F0502020204030204" pitchFamily="34" charset="0"/>
              <a:cs typeface="Times New Roman" panose="02020603050405020304" pitchFamily="18" charset="0"/>
            </a:endParaRPr>
          </a:p>
          <a:p>
            <a:pPr marL="742950" lvl="1" indent="-285750">
              <a:lnSpc>
                <a:spcPct val="115000"/>
              </a:lnSpc>
              <a:buFont typeface="Arial" panose="020B0604020202020204" pitchFamily="34" charset="0"/>
              <a:buChar char="•"/>
              <a:tabLst>
                <a:tab pos="914400" algn="l"/>
              </a:tabLst>
            </a:pPr>
            <a:r>
              <a:rPr lang="fr-FR" sz="64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Si le Rapport du Conseil de la Concurrence sur les prix et les marges du carburant paru en 2023 comptait </a:t>
            </a:r>
            <a:r>
              <a:rPr lang="fr-FR" sz="6400" u="sng" dirty="0">
                <a:solidFill>
                  <a:srgbClr val="4472C4"/>
                </a:solidFill>
                <a:effectLst/>
                <a:latin typeface="Avenir Book" panose="02000503020000020003" pitchFamily="2" charset="0"/>
                <a:ea typeface="Times New Roman" panose="02020603050405020304" pitchFamily="18" charset="0"/>
                <a:cs typeface="Calibri" panose="020F0502020204030204" pitchFamily="34" charset="0"/>
              </a:rPr>
              <a:t>20</a:t>
            </a:r>
            <a:r>
              <a:rPr lang="fr-FR" sz="64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pages, nous en avons dû extraire juste</a:t>
            </a:r>
            <a:r>
              <a:rPr lang="fr-FR" sz="6400" b="1"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a:t>
            </a:r>
            <a:r>
              <a:rPr lang="fr-FR" sz="6400" b="1" u="sng" dirty="0">
                <a:solidFill>
                  <a:srgbClr val="C45911"/>
                </a:solidFill>
                <a:effectLst/>
                <a:latin typeface="Avenir Book" panose="02000503020000020003" pitchFamily="2" charset="0"/>
                <a:ea typeface="Times New Roman" panose="02020603050405020304" pitchFamily="18" charset="0"/>
                <a:cs typeface="Calibri" panose="020F0502020204030204" pitchFamily="34" charset="0"/>
              </a:rPr>
              <a:t>6</a:t>
            </a:r>
            <a:r>
              <a:rPr lang="fr-FR" sz="6400" b="1"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a:t>
            </a:r>
            <a:r>
              <a:rPr lang="fr-FR" sz="6400" dirty="0">
                <a:solidFill>
                  <a:srgbClr val="C45911"/>
                </a:solidFill>
                <a:effectLst/>
                <a:latin typeface="Avenir Book" panose="02000503020000020003" pitchFamily="2" charset="0"/>
                <a:ea typeface="Times New Roman" panose="02020603050405020304" pitchFamily="18" charset="0"/>
                <a:cs typeface="Calibri" panose="020F0502020204030204" pitchFamily="34" charset="0"/>
              </a:rPr>
              <a:t>Documents. </a:t>
            </a:r>
            <a:endParaRPr lang="fr-MA" sz="6400" dirty="0">
              <a:effectLst/>
              <a:latin typeface="Avenir Book" panose="02000503020000020003" pitchFamily="2" charset="0"/>
              <a:ea typeface="Calibri" panose="020F0502020204030204" pitchFamily="34" charset="0"/>
              <a:cs typeface="Times New Roman" panose="02020603050405020304" pitchFamily="18" charset="0"/>
            </a:endParaRPr>
          </a:p>
          <a:p>
            <a:pPr marL="742950" lvl="1" indent="-285750">
              <a:lnSpc>
                <a:spcPct val="115000"/>
              </a:lnSpc>
              <a:buFont typeface="Arial" panose="020B0604020202020204" pitchFamily="34" charset="0"/>
              <a:buChar char="•"/>
              <a:tabLst>
                <a:tab pos="914400" algn="l"/>
              </a:tabLst>
            </a:pPr>
            <a:r>
              <a:rPr lang="fr-FR" sz="64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L’Étude publiée par BANK AL MAGHRIB en 2016 sur la ‘’Richesse Globale du Maroc entre 1999 et 2013 nécessitait la lecture de </a:t>
            </a:r>
            <a:r>
              <a:rPr lang="fr-FR" sz="6400" u="sng" dirty="0">
                <a:solidFill>
                  <a:srgbClr val="4472C4"/>
                </a:solidFill>
                <a:effectLst/>
                <a:latin typeface="Avenir Book" panose="02000503020000020003" pitchFamily="2" charset="0"/>
                <a:ea typeface="Times New Roman" panose="02020603050405020304" pitchFamily="18" charset="0"/>
                <a:cs typeface="Calibri" panose="020F0502020204030204" pitchFamily="34" charset="0"/>
              </a:rPr>
              <a:t>196</a:t>
            </a:r>
            <a:r>
              <a:rPr lang="fr-FR" sz="64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pages, pour en extraire </a:t>
            </a:r>
            <a:r>
              <a:rPr lang="fr-FR" sz="6400" b="1" u="sng" dirty="0">
                <a:solidFill>
                  <a:srgbClr val="C45911"/>
                </a:solidFill>
                <a:effectLst/>
                <a:latin typeface="Avenir Book" panose="02000503020000020003" pitchFamily="2" charset="0"/>
                <a:ea typeface="Times New Roman" panose="02020603050405020304" pitchFamily="18" charset="0"/>
                <a:cs typeface="Calibri" panose="020F0502020204030204" pitchFamily="34" charset="0"/>
              </a:rPr>
              <a:t>10</a:t>
            </a:r>
            <a:r>
              <a:rPr lang="fr-FR" sz="6400" b="1" dirty="0">
                <a:solidFill>
                  <a:srgbClr val="C45911"/>
                </a:solidFill>
                <a:effectLst/>
                <a:latin typeface="Avenir Book" panose="02000503020000020003" pitchFamily="2" charset="0"/>
                <a:ea typeface="Times New Roman" panose="02020603050405020304" pitchFamily="18" charset="0"/>
                <a:cs typeface="Calibri" panose="020F0502020204030204" pitchFamily="34" charset="0"/>
              </a:rPr>
              <a:t> </a:t>
            </a:r>
            <a:r>
              <a:rPr lang="fr-FR" sz="6400" dirty="0">
                <a:solidFill>
                  <a:srgbClr val="C45911"/>
                </a:solidFill>
                <a:effectLst/>
                <a:latin typeface="Avenir Book" panose="02000503020000020003" pitchFamily="2" charset="0"/>
                <a:ea typeface="Times New Roman" panose="02020603050405020304" pitchFamily="18" charset="0"/>
                <a:cs typeface="Calibri" panose="020F0502020204030204" pitchFamily="34" charset="0"/>
              </a:rPr>
              <a:t>Documents </a:t>
            </a:r>
            <a:r>
              <a:rPr lang="fr-FR" sz="64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seulement que nous avons considéré comme essentiels pour nos lecteurs, alors que </a:t>
            </a:r>
            <a:endParaRPr lang="fr-MA" sz="6400" dirty="0">
              <a:effectLst/>
              <a:latin typeface="Avenir Book" panose="02000503020000020003" pitchFamily="2" charset="0"/>
              <a:ea typeface="Calibri" panose="020F0502020204030204" pitchFamily="34" charset="0"/>
              <a:cs typeface="Times New Roman" panose="02020603050405020304" pitchFamily="18" charset="0"/>
            </a:endParaRPr>
          </a:p>
          <a:p>
            <a:pPr marL="742950" lvl="1" indent="-285750">
              <a:lnSpc>
                <a:spcPct val="115000"/>
              </a:lnSpc>
              <a:spcAft>
                <a:spcPts val="800"/>
              </a:spcAft>
              <a:buFont typeface="Arial" panose="020B0604020202020204" pitchFamily="34" charset="0"/>
              <a:buChar char="•"/>
              <a:tabLst>
                <a:tab pos="914400" algn="l"/>
              </a:tabLst>
            </a:pPr>
            <a:r>
              <a:rPr lang="fr-FR" sz="64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Le Rapport annuel 2024 de </a:t>
            </a:r>
            <a:r>
              <a:rPr lang="fr-MA" sz="64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l'Observatoire Marocain de la TPME, lui, comporte </a:t>
            </a:r>
            <a:r>
              <a:rPr lang="fr-FR" sz="6400" u="sng" dirty="0">
                <a:solidFill>
                  <a:srgbClr val="4472C4"/>
                </a:solidFill>
                <a:effectLst/>
                <a:latin typeface="Avenir Book" panose="02000503020000020003" pitchFamily="2" charset="0"/>
                <a:ea typeface="Times New Roman" panose="02020603050405020304" pitchFamily="18" charset="0"/>
                <a:cs typeface="Calibri" panose="020F0502020204030204" pitchFamily="34" charset="0"/>
              </a:rPr>
              <a:t>152</a:t>
            </a:r>
            <a:r>
              <a:rPr lang="fr-MA" sz="64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pages, nous </a:t>
            </a:r>
            <a:r>
              <a:rPr lang="fr-MA" sz="44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n’en avons extrait que </a:t>
            </a:r>
            <a:r>
              <a:rPr lang="fr-FR" sz="4400" b="1" u="sng" dirty="0">
                <a:solidFill>
                  <a:srgbClr val="C45911"/>
                </a:solidFill>
                <a:effectLst/>
                <a:latin typeface="Avenir Book" panose="02000503020000020003" pitchFamily="2" charset="0"/>
                <a:ea typeface="Times New Roman" panose="02020603050405020304" pitchFamily="18" charset="0"/>
                <a:cs typeface="Calibri" panose="020F0502020204030204" pitchFamily="34" charset="0"/>
              </a:rPr>
              <a:t>7</a:t>
            </a:r>
            <a:r>
              <a:rPr lang="fr-FR" sz="4400" dirty="0">
                <a:solidFill>
                  <a:srgbClr val="C45911"/>
                </a:solidFill>
                <a:effectLst/>
                <a:latin typeface="Avenir Book" panose="02000503020000020003" pitchFamily="2" charset="0"/>
                <a:ea typeface="Times New Roman" panose="02020603050405020304" pitchFamily="18" charset="0"/>
                <a:cs typeface="Calibri" panose="020F0502020204030204" pitchFamily="34" charset="0"/>
              </a:rPr>
              <a:t> Documents essentiels</a:t>
            </a:r>
            <a:r>
              <a:rPr lang="fr-MA" sz="44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a:t>
            </a:r>
            <a:endParaRPr lang="fr-MA" sz="4400" dirty="0">
              <a:effectLst/>
              <a:latin typeface="Avenir Book" panose="02000503020000020003" pitchFamily="2" charset="0"/>
              <a:ea typeface="Calibri" panose="020F0502020204030204" pitchFamily="34" charset="0"/>
              <a:cs typeface="Times New Roman" panose="02020603050405020304" pitchFamily="18" charset="0"/>
            </a:endParaRPr>
          </a:p>
          <a:p>
            <a:pPr marL="0" indent="0">
              <a:buNone/>
            </a:pPr>
            <a:r>
              <a:rPr lang="fr-FR" sz="4400" dirty="0">
                <a:solidFill>
                  <a:schemeClr val="accent1"/>
                </a:solidFill>
                <a:latin typeface="Avenir Book" panose="02000503020000020003" pitchFamily="2" charset="0"/>
              </a:rPr>
              <a:t>NB </a:t>
            </a:r>
            <a:r>
              <a:rPr lang="fr-FR" sz="4400" dirty="0">
                <a:latin typeface="Avenir Book" panose="02000503020000020003" pitchFamily="2" charset="0"/>
              </a:rPr>
              <a:t>: </a:t>
            </a:r>
            <a:r>
              <a:rPr lang="fr-FR" sz="4400" b="1" dirty="0">
                <a:latin typeface="Avenir Book" panose="02000503020000020003" pitchFamily="2" charset="0"/>
              </a:rPr>
              <a:t>Tous les Documents, Rapports ou Etudes officiels-Sources sont mis </a:t>
            </a:r>
            <a:r>
              <a:rPr lang="fr-FR" sz="4400" b="1" dirty="0">
                <a:solidFill>
                  <a:schemeClr val="accent1"/>
                </a:solidFill>
                <a:latin typeface="Avenir Book" panose="02000503020000020003" pitchFamily="2" charset="0"/>
              </a:rPr>
              <a:t>gratuitement </a:t>
            </a:r>
            <a:r>
              <a:rPr lang="fr-FR" sz="4400" b="1" dirty="0">
                <a:latin typeface="Avenir Book" panose="02000503020000020003" pitchFamily="2" charset="0"/>
              </a:rPr>
              <a:t>à la disposition de nos lecteurs.</a:t>
            </a:r>
            <a:endParaRPr lang="fr-FR" sz="4400" dirty="0"/>
          </a:p>
        </p:txBody>
      </p:sp>
    </p:spTree>
    <p:extLst>
      <p:ext uri="{BB962C8B-B14F-4D97-AF65-F5344CB8AC3E}">
        <p14:creationId xmlns:p14="http://schemas.microsoft.com/office/powerpoint/2010/main" val="3404711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EB64C6-BC1E-88F3-440F-0EA3AC8F2EFB}"/>
              </a:ext>
            </a:extLst>
          </p:cNvPr>
          <p:cNvSpPr>
            <a:spLocks noGrp="1"/>
          </p:cNvSpPr>
          <p:nvPr>
            <p:ph type="title"/>
          </p:nvPr>
        </p:nvSpPr>
        <p:spPr/>
        <p:txBody>
          <a:bodyPr>
            <a:normAutofit fontScale="90000"/>
          </a:bodyPr>
          <a:lstStyle/>
          <a:p>
            <a:r>
              <a:rPr lang="fr-FR" sz="3600" dirty="0">
                <a:solidFill>
                  <a:schemeClr val="accent5"/>
                </a:solidFill>
                <a:latin typeface="Gill Sans MT" panose="020B0502020104020203" pitchFamily="34" charset="77"/>
              </a:rPr>
              <a:t>																		</a:t>
            </a:r>
            <a:br>
              <a:rPr lang="fr-FR" dirty="0"/>
            </a:br>
            <a:r>
              <a:rPr lang="fr-MA" sz="2700" b="1" cap="none"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Et un outil, aujourd’hui, </a:t>
            </a:r>
            <a:r>
              <a:rPr lang="fr-MA" sz="2400" b="1" cap="none" dirty="0">
                <a:solidFill>
                  <a:schemeClr val="tx1"/>
                </a:solidFill>
                <a:effectLst/>
                <a:latin typeface="Avenir Book" panose="02000503020000020003" pitchFamily="2" charset="0"/>
                <a:ea typeface="Times New Roman" panose="02020603050405020304" pitchFamily="18" charset="0"/>
                <a:cs typeface="Calibri" panose="020F0502020204030204" pitchFamily="34" charset="0"/>
              </a:rPr>
              <a:t>à la portée de tous </a:t>
            </a:r>
            <a:r>
              <a:rPr lang="fr-MA" sz="2400" b="1" cap="none"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 </a:t>
            </a:r>
            <a:br>
              <a:rPr lang="fr-MA" sz="2800" cap="none" dirty="0">
                <a:solidFill>
                  <a:schemeClr val="accent1"/>
                </a:solidFill>
                <a:effectLst/>
                <a:latin typeface="Avenir Book" panose="02000503020000020003" pitchFamily="2" charset="0"/>
                <a:ea typeface="Calibri" panose="020F0502020204030204" pitchFamily="34" charset="0"/>
                <a:cs typeface="Arial" panose="020B0604020202020204" pitchFamily="34" charset="0"/>
              </a:rPr>
            </a:br>
            <a:r>
              <a:rPr lang="fr-MA" sz="2800" cap="none" dirty="0">
                <a:solidFill>
                  <a:schemeClr val="accent1"/>
                </a:solidFill>
                <a:effectLst/>
                <a:latin typeface="Avenir Book" panose="02000503020000020003" pitchFamily="2" charset="0"/>
                <a:ea typeface="Calibri" panose="020F0502020204030204" pitchFamily="34" charset="0"/>
                <a:cs typeface="Arial" panose="020B0604020202020204" pitchFamily="34" charset="0"/>
              </a:rPr>
              <a:t>                                                                    </a:t>
            </a:r>
            <a:r>
              <a:rPr lang="fr-MA" sz="2400" b="1" cap="none" dirty="0">
                <a:solidFill>
                  <a:srgbClr val="0070C0"/>
                </a:solidFill>
                <a:latin typeface="Avenir Book" panose="02000503020000020003" pitchFamily="2" charset="0"/>
                <a:ea typeface="Calibri" panose="020F0502020204030204" pitchFamily="34" charset="0"/>
                <a:cs typeface="Calibri" panose="020F0502020204030204" pitchFamily="34" charset="0"/>
              </a:rPr>
              <a:t>Le</a:t>
            </a:r>
            <a:r>
              <a:rPr lang="fr-MA" sz="2400" b="1" cap="none" dirty="0">
                <a:solidFill>
                  <a:srgbClr val="0070C0"/>
                </a:solidFill>
                <a:effectLst/>
                <a:latin typeface="Avenir Book" panose="02000503020000020003" pitchFamily="2" charset="0"/>
                <a:ea typeface="Times New Roman" panose="02020603050405020304" pitchFamily="18" charset="0"/>
                <a:cs typeface="Calibri" panose="020F0502020204030204" pitchFamily="34" charset="0"/>
              </a:rPr>
              <a:t> Smartphone </a:t>
            </a:r>
            <a:r>
              <a:rPr lang="fr-MA" sz="2800" b="1" cap="none"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a:t>
            </a:r>
            <a:endParaRPr lang="fr-FR" sz="2400" b="1" dirty="0">
              <a:latin typeface="Avenir Book" panose="02000503020000020003" pitchFamily="2" charset="0"/>
            </a:endParaRPr>
          </a:p>
        </p:txBody>
      </p:sp>
      <p:sp>
        <p:nvSpPr>
          <p:cNvPr id="3" name="Espace réservé du contenu 2">
            <a:extLst>
              <a:ext uri="{FF2B5EF4-FFF2-40B4-BE49-F238E27FC236}">
                <a16:creationId xmlns:a16="http://schemas.microsoft.com/office/drawing/2014/main" id="{87FB7B78-1FFC-E0DE-D402-A596EA91938E}"/>
              </a:ext>
            </a:extLst>
          </p:cNvPr>
          <p:cNvSpPr>
            <a:spLocks noGrp="1"/>
          </p:cNvSpPr>
          <p:nvPr>
            <p:ph idx="1"/>
          </p:nvPr>
        </p:nvSpPr>
        <p:spPr>
          <a:xfrm>
            <a:off x="2589212" y="1905000"/>
            <a:ext cx="8915400" cy="4328890"/>
          </a:xfrm>
        </p:spPr>
        <p:txBody>
          <a:bodyPr>
            <a:normAutofit/>
          </a:bodyPr>
          <a:lstStyle/>
          <a:p>
            <a:pPr marL="0" indent="0">
              <a:lnSpc>
                <a:spcPct val="150000"/>
              </a:lnSpc>
              <a:spcBef>
                <a:spcPts val="0"/>
              </a:spcBef>
              <a:buNone/>
            </a:pPr>
            <a:r>
              <a:rPr lang="fr-FR" sz="2000" dirty="0">
                <a:latin typeface="Avenir Book" panose="02000503020000020003" pitchFamily="2" charset="0"/>
              </a:rPr>
              <a:t>Le principe est simple :</a:t>
            </a:r>
          </a:p>
          <a:p>
            <a:pPr marL="0" indent="0">
              <a:spcBef>
                <a:spcPts val="0"/>
              </a:spcBef>
              <a:buNone/>
            </a:pPr>
            <a:r>
              <a:rPr lang="fr-FR" b="1" dirty="0">
                <a:latin typeface="Avenir Book" panose="02000503020000020003" pitchFamily="2" charset="0"/>
              </a:rPr>
              <a:t>Nul besoin d’un ordinateur sous la main ni des heures de recherche.</a:t>
            </a:r>
          </a:p>
          <a:p>
            <a:pPr marL="0" indent="0">
              <a:spcBef>
                <a:spcPts val="0"/>
              </a:spcBef>
              <a:buNone/>
            </a:pPr>
            <a:endParaRPr lang="fr-FR" sz="2000" dirty="0">
              <a:latin typeface="Avenir Book" panose="02000503020000020003" pitchFamily="2" charset="0"/>
            </a:endParaRPr>
          </a:p>
          <a:p>
            <a:pPr marL="0" indent="0">
              <a:spcBef>
                <a:spcPts val="0"/>
              </a:spcBef>
              <a:buNone/>
            </a:pPr>
            <a:r>
              <a:rPr lang="fr-FR" sz="2000" dirty="0">
                <a:latin typeface="Avenir Book" panose="02000503020000020003" pitchFamily="2" charset="0"/>
              </a:rPr>
              <a:t>Disposant simplement d’un </a:t>
            </a:r>
            <a:r>
              <a:rPr lang="fr-FR" b="1" dirty="0">
                <a:solidFill>
                  <a:srgbClr val="0070C0"/>
                </a:solidFill>
                <a:latin typeface="Avenir Book" panose="02000503020000020003" pitchFamily="2" charset="0"/>
              </a:rPr>
              <a:t>Smartphone</a:t>
            </a:r>
            <a:r>
              <a:rPr lang="fr-FR" sz="2000" dirty="0">
                <a:latin typeface="Avenir Book" panose="02000503020000020003" pitchFamily="2" charset="0"/>
              </a:rPr>
              <a:t> et de notre </a:t>
            </a:r>
            <a:r>
              <a:rPr lang="fr-FR" b="1" dirty="0">
                <a:solidFill>
                  <a:srgbClr val="0070C0"/>
                </a:solidFill>
                <a:latin typeface="Avenir Book" panose="02000503020000020003" pitchFamily="2" charset="0"/>
              </a:rPr>
              <a:t>Application mobile, </a:t>
            </a:r>
            <a:r>
              <a:rPr lang="fr-FR" sz="2000" dirty="0">
                <a:latin typeface="Avenir Book" panose="02000503020000020003" pitchFamily="2" charset="0"/>
              </a:rPr>
              <a:t>il suffira de quelques clics sur des </a:t>
            </a:r>
            <a:r>
              <a:rPr lang="fr-FR" sz="2000" dirty="0">
                <a:solidFill>
                  <a:schemeClr val="accent1"/>
                </a:solidFill>
                <a:latin typeface="Avenir Book" panose="02000503020000020003" pitchFamily="2" charset="0"/>
              </a:rPr>
              <a:t>Mots clés</a:t>
            </a:r>
            <a:r>
              <a:rPr lang="fr-FR" sz="2000" dirty="0">
                <a:latin typeface="Avenir Book" panose="02000503020000020003" pitchFamily="2" charset="0"/>
              </a:rPr>
              <a:t>, un </a:t>
            </a:r>
            <a:r>
              <a:rPr lang="fr-FR" sz="2000" dirty="0">
                <a:solidFill>
                  <a:schemeClr val="accent1"/>
                </a:solidFill>
                <a:latin typeface="Avenir Book" panose="02000503020000020003" pitchFamily="2" charset="0"/>
              </a:rPr>
              <a:t>Thème</a:t>
            </a:r>
            <a:r>
              <a:rPr lang="fr-FR" sz="2000" dirty="0">
                <a:latin typeface="Avenir Book" panose="02000503020000020003" pitchFamily="2" charset="0"/>
              </a:rPr>
              <a:t>, un </a:t>
            </a:r>
            <a:r>
              <a:rPr lang="fr-FR" sz="2000" dirty="0">
                <a:solidFill>
                  <a:schemeClr val="accent1"/>
                </a:solidFill>
                <a:latin typeface="Avenir Book" panose="02000503020000020003" pitchFamily="2" charset="0"/>
              </a:rPr>
              <a:t>Secteur d’activité économique</a:t>
            </a:r>
            <a:r>
              <a:rPr lang="fr-FR" sz="2000" dirty="0">
                <a:latin typeface="Avenir Book" panose="02000503020000020003" pitchFamily="2" charset="0"/>
              </a:rPr>
              <a:t> pour pouvoir accéder rapidement aux informations chiffrées.  </a:t>
            </a:r>
          </a:p>
          <a:p>
            <a:pPr marL="0" indent="0">
              <a:lnSpc>
                <a:spcPct val="100000"/>
              </a:lnSpc>
              <a:spcBef>
                <a:spcPts val="0"/>
              </a:spcBef>
              <a:buNone/>
            </a:pPr>
            <a:endParaRPr lang="fr-MA" sz="2000"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endParaRPr>
          </a:p>
          <a:p>
            <a:pPr marL="0" indent="0">
              <a:spcBef>
                <a:spcPts val="0"/>
              </a:spcBef>
              <a:buNone/>
            </a:pPr>
            <a:r>
              <a:rPr lang="fr-MA"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3.000 à 5.000 </a:t>
            </a:r>
            <a:r>
              <a:rPr lang="fr-MA" sz="20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Articles lors du lancement, pour atteindre</a:t>
            </a:r>
            <a:r>
              <a:rPr lang="fr-MA" sz="2000" dirty="0">
                <a:solidFill>
                  <a:schemeClr val="accent1"/>
                </a:solidFill>
                <a:latin typeface="Avenir Book" panose="02000503020000020003" pitchFamily="2" charset="0"/>
                <a:cs typeface="Calibri" panose="020F0502020204030204" pitchFamily="34" charset="0"/>
              </a:rPr>
              <a:t> </a:t>
            </a:r>
            <a:r>
              <a:rPr lang="fr-MA"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10</a:t>
            </a:r>
            <a:r>
              <a:rPr lang="fr-MA" dirty="0">
                <a:solidFill>
                  <a:schemeClr val="accent1"/>
                </a:solidFill>
                <a:latin typeface="Avenir Book" panose="02000503020000020003" pitchFamily="2" charset="0"/>
                <a:cs typeface="Calibri" panose="020F0502020204030204" pitchFamily="34" charset="0"/>
              </a:rPr>
              <a:t>.000</a:t>
            </a:r>
            <a:r>
              <a:rPr lang="fr-MA" sz="2000" dirty="0">
                <a:solidFill>
                  <a:schemeClr val="accent1"/>
                </a:solidFill>
                <a:latin typeface="Avenir Book" panose="02000503020000020003" pitchFamily="2" charset="0"/>
                <a:cs typeface="Calibri" panose="020F0502020204030204" pitchFamily="34" charset="0"/>
              </a:rPr>
              <a:t> Documents </a:t>
            </a:r>
          </a:p>
          <a:p>
            <a:pPr marL="0" indent="0">
              <a:lnSpc>
                <a:spcPct val="100000"/>
              </a:lnSpc>
              <a:spcBef>
                <a:spcPts val="0"/>
              </a:spcBef>
              <a:buNone/>
            </a:pPr>
            <a:r>
              <a:rPr lang="fr-MA" sz="2000" dirty="0">
                <a:solidFill>
                  <a:schemeClr val="accent1"/>
                </a:solidFill>
                <a:latin typeface="Avenir Book" panose="02000503020000020003" pitchFamily="2" charset="0"/>
                <a:cs typeface="Calibri" panose="020F0502020204030204" pitchFamily="34" charset="0"/>
              </a:rPr>
              <a:t>à moyen terme </a:t>
            </a:r>
            <a:r>
              <a:rPr lang="fr-MA" sz="20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dès que l’équipe de travail sera mis en place.</a:t>
            </a:r>
          </a:p>
          <a:p>
            <a:pPr marL="0" indent="0">
              <a:lnSpc>
                <a:spcPct val="100000"/>
              </a:lnSpc>
              <a:spcBef>
                <a:spcPts val="0"/>
              </a:spcBef>
              <a:buNone/>
            </a:pPr>
            <a:endParaRPr lang="fr-MA" sz="2000" dirty="0">
              <a:solidFill>
                <a:srgbClr val="000000"/>
              </a:solidFill>
              <a:latin typeface="Avenir Book" panose="02000503020000020003" pitchFamily="2" charset="0"/>
              <a:ea typeface="Times New Roman" panose="02020603050405020304" pitchFamily="18" charset="0"/>
              <a:cs typeface="Calibri" panose="020F0502020204030204" pitchFamily="34" charset="0"/>
            </a:endParaRPr>
          </a:p>
          <a:p>
            <a:pPr marL="0" indent="0">
              <a:lnSpc>
                <a:spcPct val="100000"/>
              </a:lnSpc>
              <a:spcBef>
                <a:spcPts val="0"/>
              </a:spcBef>
              <a:buNone/>
            </a:pPr>
            <a:r>
              <a:rPr lang="fr-MA" sz="20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L’ensemble traite plus de </a:t>
            </a:r>
            <a:r>
              <a:rPr lang="fr-MA" sz="2000"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250 Thèmes.</a:t>
            </a:r>
          </a:p>
        </p:txBody>
      </p:sp>
    </p:spTree>
    <p:extLst>
      <p:ext uri="{BB962C8B-B14F-4D97-AF65-F5344CB8AC3E}">
        <p14:creationId xmlns:p14="http://schemas.microsoft.com/office/powerpoint/2010/main" val="201929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A107EE-D148-8410-069C-9DB0D098B6A1}"/>
              </a:ext>
            </a:extLst>
          </p:cNvPr>
          <p:cNvSpPr>
            <a:spLocks noGrp="1"/>
          </p:cNvSpPr>
          <p:nvPr>
            <p:ph type="title"/>
          </p:nvPr>
        </p:nvSpPr>
        <p:spPr/>
        <p:txBody>
          <a:bodyPr>
            <a:normAutofit fontScale="90000"/>
          </a:bodyPr>
          <a:lstStyle/>
          <a:p>
            <a:r>
              <a:rPr lang="fr-FR" sz="3600" dirty="0">
                <a:solidFill>
                  <a:schemeClr val="accent5"/>
                </a:solidFill>
                <a:latin typeface="Gill Sans MT" panose="020B0502020104020203" pitchFamily="34" charset="77"/>
              </a:rPr>
              <a:t>																		</a:t>
            </a:r>
            <a:br>
              <a:rPr lang="fr-FR" sz="3600" b="1" cap="none" dirty="0">
                <a:solidFill>
                  <a:schemeClr val="accent1"/>
                </a:solidFill>
                <a:latin typeface="Avenir Book" panose="02000503020000020003" pitchFamily="2" charset="0"/>
              </a:rPr>
            </a:br>
            <a:r>
              <a:rPr lang="fr-FR" sz="2700" b="1" cap="none" dirty="0">
                <a:solidFill>
                  <a:schemeClr val="accent1"/>
                </a:solidFill>
                <a:latin typeface="Avenir Book" panose="02000503020000020003" pitchFamily="2" charset="0"/>
              </a:rPr>
              <a:t> A qui s’adresse notre Base documentaire ?</a:t>
            </a:r>
            <a:br>
              <a:rPr lang="fr-FR" dirty="0"/>
            </a:br>
            <a:endParaRPr lang="fr-FR" dirty="0"/>
          </a:p>
        </p:txBody>
      </p:sp>
      <p:sp>
        <p:nvSpPr>
          <p:cNvPr id="3" name="Espace réservé du contenu 2">
            <a:extLst>
              <a:ext uri="{FF2B5EF4-FFF2-40B4-BE49-F238E27FC236}">
                <a16:creationId xmlns:a16="http://schemas.microsoft.com/office/drawing/2014/main" id="{8FF93DBC-34F8-D88B-E71D-3D2B0361F961}"/>
              </a:ext>
            </a:extLst>
          </p:cNvPr>
          <p:cNvSpPr>
            <a:spLocks noGrp="1"/>
          </p:cNvSpPr>
          <p:nvPr>
            <p:ph idx="1"/>
          </p:nvPr>
        </p:nvSpPr>
        <p:spPr>
          <a:xfrm>
            <a:off x="2146300" y="1905000"/>
            <a:ext cx="9358312" cy="4006222"/>
          </a:xfrm>
        </p:spPr>
        <p:txBody>
          <a:bodyPr>
            <a:normAutofit/>
          </a:bodyPr>
          <a:lstStyle/>
          <a:p>
            <a:pPr>
              <a:spcAft>
                <a:spcPts val="800"/>
              </a:spcAft>
            </a:pPr>
            <a:r>
              <a:rPr lang="fr-MA" sz="1650" dirty="0">
                <a:solidFill>
                  <a:schemeClr val="accent1"/>
                </a:solidFill>
                <a:latin typeface="Century Gothic" panose="020B0502020202020204" pitchFamily="34" charset="0"/>
                <a:cs typeface="Calibri" panose="020F0502020204030204" pitchFamily="34" charset="0"/>
              </a:rPr>
              <a:t>Les Services d’Information et des Études économiques et financières autant que les Journalistes</a:t>
            </a:r>
            <a:r>
              <a:rPr lang="fr-MA" sz="1650" dirty="0">
                <a:solidFill>
                  <a:srgbClr val="002060"/>
                </a:solidFill>
                <a:latin typeface="Century Gothic" panose="020B0502020202020204" pitchFamily="34" charset="0"/>
                <a:cs typeface="Calibri" panose="020F0502020204030204" pitchFamily="34" charset="0"/>
              </a:rPr>
              <a:t> </a:t>
            </a:r>
            <a:r>
              <a:rPr lang="fr-MA" sz="1400" dirty="0">
                <a:solidFill>
                  <a:schemeClr val="tx1"/>
                </a:solidFill>
                <a:latin typeface="Century Gothic" panose="020B0502020202020204" pitchFamily="34" charset="0"/>
                <a:cs typeface="Calibri" panose="020F0502020204030204" pitchFamily="34" charset="0"/>
              </a:rPr>
              <a:t>(</a:t>
            </a:r>
            <a:r>
              <a:rPr lang="fr-MA" sz="1400" b="1" dirty="0">
                <a:solidFill>
                  <a:schemeClr val="tx1"/>
                </a:solidFill>
                <a:latin typeface="Century Gothic" panose="020B0502020202020204" pitchFamily="34" charset="0"/>
                <a:cs typeface="Calibri" panose="020F0502020204030204" pitchFamily="34" charset="0"/>
              </a:rPr>
              <a:t>Datajournalisme et Journalisme d’Investigation</a:t>
            </a:r>
            <a:r>
              <a:rPr lang="fr-MA" sz="1400" dirty="0">
                <a:solidFill>
                  <a:schemeClr val="tx1"/>
                </a:solidFill>
                <a:latin typeface="Century Gothic" panose="020B0502020202020204" pitchFamily="34" charset="0"/>
                <a:cs typeface="Calibri" panose="020F0502020204030204" pitchFamily="34" charset="0"/>
              </a:rPr>
              <a:t>) </a:t>
            </a:r>
            <a:r>
              <a:rPr lang="fr-MA" sz="1650" dirty="0">
                <a:solidFill>
                  <a:schemeClr val="accent1"/>
                </a:solidFill>
                <a:latin typeface="Century Gothic" panose="020B0502020202020204" pitchFamily="34" charset="0"/>
                <a:cs typeface="Calibri" panose="020F0502020204030204" pitchFamily="34" charset="0"/>
              </a:rPr>
              <a:t>et les Commerciaux </a:t>
            </a:r>
            <a:r>
              <a:rPr lang="fr-MA" sz="1400" dirty="0">
                <a:solidFill>
                  <a:schemeClr val="tx1"/>
                </a:solidFill>
                <a:latin typeface="Century Gothic" panose="020B0502020202020204" pitchFamily="34" charset="0"/>
                <a:cs typeface="Calibri" panose="020F0502020204030204" pitchFamily="34" charset="0"/>
              </a:rPr>
              <a:t>(</a:t>
            </a:r>
            <a:r>
              <a:rPr lang="fr-FR" sz="1400" b="1" dirty="0" err="1">
                <a:solidFill>
                  <a:schemeClr val="tx1"/>
                </a:solidFill>
                <a:latin typeface="Century Gothic" panose="020B0502020202020204" pitchFamily="34" charset="0"/>
                <a:cs typeface="Calibri" panose="020F0502020204030204" pitchFamily="34" charset="0"/>
              </a:rPr>
              <a:t>Market</a:t>
            </a:r>
            <a:r>
              <a:rPr lang="fr-FR" sz="1400" b="1" dirty="0">
                <a:solidFill>
                  <a:schemeClr val="tx1"/>
                </a:solidFill>
                <a:latin typeface="Century Gothic" panose="020B0502020202020204" pitchFamily="34" charset="0"/>
                <a:cs typeface="Calibri" panose="020F0502020204030204" pitchFamily="34" charset="0"/>
              </a:rPr>
              <a:t> intelligence</a:t>
            </a:r>
            <a:r>
              <a:rPr lang="fr-FR" sz="1400" dirty="0">
                <a:solidFill>
                  <a:schemeClr val="tx1"/>
                </a:solidFill>
                <a:latin typeface="Century Gothic" panose="020B0502020202020204" pitchFamily="34" charset="0"/>
                <a:cs typeface="Calibri" panose="020F0502020204030204" pitchFamily="34" charset="0"/>
              </a:rPr>
              <a:t>)</a:t>
            </a:r>
            <a:r>
              <a:rPr lang="fr-MA" sz="1400" dirty="0">
                <a:solidFill>
                  <a:schemeClr val="tx1"/>
                </a:solidFill>
                <a:latin typeface="Century Gothic" panose="020B0502020202020204" pitchFamily="34" charset="0"/>
                <a:cs typeface="Calibri" panose="020F0502020204030204" pitchFamily="34" charset="0"/>
              </a:rPr>
              <a:t> </a:t>
            </a:r>
            <a:r>
              <a:rPr lang="fr-MA" sz="1650" dirty="0">
                <a:solidFill>
                  <a:schemeClr val="accent1"/>
                </a:solidFill>
                <a:latin typeface="Century Gothic" panose="020B0502020202020204" pitchFamily="34" charset="0"/>
                <a:cs typeface="Calibri" panose="020F0502020204030204" pitchFamily="34" charset="0"/>
              </a:rPr>
              <a:t>seraient certainement les premiers intéressés.</a:t>
            </a:r>
          </a:p>
          <a:p>
            <a:pPr>
              <a:lnSpc>
                <a:spcPct val="115000"/>
              </a:lnSpc>
              <a:spcAft>
                <a:spcPts val="800"/>
              </a:spcAft>
            </a:pPr>
            <a:r>
              <a:rPr lang="fr-MA" sz="1800" dirty="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Mais notre base documentaire s’adresse aussi et plus particulièrement à ceux qui disposent de peu de temps pour chercher, </a:t>
            </a:r>
            <a:r>
              <a:rPr lang="fr-MA" dirty="0">
                <a:solidFill>
                  <a:srgbClr val="000000"/>
                </a:solidFill>
                <a:latin typeface="Century Gothic" panose="020B0502020202020204" pitchFamily="34" charset="0"/>
                <a:ea typeface="Times New Roman" panose="02020603050405020304" pitchFamily="18" charset="0"/>
                <a:cs typeface="Calibri" panose="020F0502020204030204" pitchFamily="34" charset="0"/>
              </a:rPr>
              <a:t>pour </a:t>
            </a:r>
            <a:r>
              <a:rPr lang="fr-MA" sz="1800" dirty="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analyser et traiter  rapidement des informations d’intérêt lié à l’Économie et à l’Entreprise tels que les </a:t>
            </a:r>
            <a:r>
              <a:rPr lang="fr-MA" sz="1650" dirty="0">
                <a:solidFill>
                  <a:schemeClr val="accent1"/>
                </a:solidFill>
                <a:effectLst/>
                <a:latin typeface="Century Gothic" panose="020B0502020202020204" pitchFamily="34" charset="0"/>
                <a:ea typeface="Times New Roman" panose="02020603050405020304" pitchFamily="18" charset="0"/>
                <a:cs typeface="Calibri" panose="020F0502020204030204" pitchFamily="34" charset="0"/>
              </a:rPr>
              <a:t>Cadres de Bureaux d’études,</a:t>
            </a:r>
            <a:r>
              <a:rPr lang="fr-MA" sz="1650" dirty="0">
                <a:solidFill>
                  <a:schemeClr val="accent1"/>
                </a:solidFill>
                <a:latin typeface="Century Gothic" panose="020B0502020202020204" pitchFamily="34" charset="0"/>
                <a:ea typeface="Times New Roman" panose="02020603050405020304" pitchFamily="18" charset="0"/>
                <a:cs typeface="Calibri" panose="020F0502020204030204" pitchFamily="34" charset="0"/>
              </a:rPr>
              <a:t> </a:t>
            </a:r>
            <a:r>
              <a:rPr lang="fr-MA" sz="1650" dirty="0">
                <a:solidFill>
                  <a:schemeClr val="accent1"/>
                </a:solidFill>
                <a:effectLst/>
                <a:latin typeface="Century Gothic" panose="020B0502020202020204" pitchFamily="34" charset="0"/>
                <a:ea typeface="Times New Roman" panose="02020603050405020304" pitchFamily="18" charset="0"/>
                <a:cs typeface="Calibri" panose="020F0502020204030204" pitchFamily="34" charset="0"/>
              </a:rPr>
              <a:t>Directeurs administratifs et financiers, Experts comptables, Dirigeants, Chercheurs universitaires, Journalistes et Chef de rédaction, voire aussi des Hommes politique</a:t>
            </a:r>
            <a:r>
              <a:rPr lang="fr-MA" sz="1650" dirty="0">
                <a:solidFill>
                  <a:schemeClr val="accent1"/>
                </a:solidFill>
                <a:latin typeface="Century Gothic" panose="020B0502020202020204" pitchFamily="34" charset="0"/>
                <a:cs typeface="Calibri" panose="020F0502020204030204" pitchFamily="34" charset="0"/>
              </a:rPr>
              <a:t>s</a:t>
            </a:r>
            <a:r>
              <a:rPr lang="fr-MA" sz="1800" dirty="0">
                <a:solidFill>
                  <a:schemeClr val="accent1"/>
                </a:solidFill>
                <a:effectLst/>
                <a:latin typeface="Century Gothic" panose="020B0502020202020204" pitchFamily="34" charset="0"/>
                <a:ea typeface="Times New Roman" panose="02020603050405020304" pitchFamily="18" charset="0"/>
                <a:cs typeface="Calibri" panose="020F0502020204030204" pitchFamily="34" charset="0"/>
              </a:rPr>
              <a:t>. </a:t>
            </a:r>
          </a:p>
          <a:p>
            <a:pPr marL="0" indent="0">
              <a:lnSpc>
                <a:spcPct val="115000"/>
              </a:lnSpc>
              <a:spcAft>
                <a:spcPts val="800"/>
              </a:spcAft>
              <a:buNone/>
            </a:pPr>
            <a:r>
              <a:rPr lang="fr-MA" sz="1800" dirty="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Tous trouveront ici une source d’informations très utile pour compléter en cas de besoin leurs propres sources, avancer leurs travaux et développer leurs réflexions.</a:t>
            </a:r>
            <a:endParaRPr lang="fr-MA" sz="1800" dirty="0">
              <a:effectLst/>
              <a:latin typeface="Century Gothic" panose="020B0502020202020204" pitchFamily="34" charset="0"/>
              <a:ea typeface="Calibri" panose="020F0502020204030204" pitchFamily="34"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1625463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5EA895-7FAF-7E98-B26C-24C46594E49D}"/>
              </a:ext>
            </a:extLst>
          </p:cNvPr>
          <p:cNvSpPr>
            <a:spLocks noGrp="1"/>
          </p:cNvSpPr>
          <p:nvPr>
            <p:ph type="title"/>
          </p:nvPr>
        </p:nvSpPr>
        <p:spPr/>
        <p:txBody>
          <a:bodyPr>
            <a:normAutofit/>
          </a:bodyPr>
          <a:lstStyle/>
          <a:p>
            <a:r>
              <a:rPr lang="fr-FR" sz="3600" dirty="0">
                <a:solidFill>
                  <a:schemeClr val="accent5"/>
                </a:solidFill>
                <a:latin typeface="Gill Sans MT" panose="020B0502020104020203" pitchFamily="34" charset="77"/>
              </a:rPr>
              <a:t>																		</a:t>
            </a:r>
            <a:br>
              <a:rPr lang="fr-FR" dirty="0"/>
            </a:br>
            <a:r>
              <a:rPr lang="fr-FR" sz="2700" b="1" dirty="0"/>
              <a:t> </a:t>
            </a:r>
            <a:r>
              <a:rPr lang="fr-FR" sz="2700" b="1" cap="none" dirty="0">
                <a:solidFill>
                  <a:schemeClr val="accent1"/>
                </a:solidFill>
                <a:latin typeface="Avenir Book" panose="02000503020000020003" pitchFamily="2" charset="0"/>
              </a:rPr>
              <a:t>Comment se présente notre </a:t>
            </a:r>
            <a:r>
              <a:rPr lang="fr-FR" sz="2700" cap="none" dirty="0">
                <a:solidFill>
                  <a:schemeClr val="accent1"/>
                </a:solidFill>
                <a:latin typeface="Avenir Book" panose="02000503020000020003" pitchFamily="2" charset="0"/>
              </a:rPr>
              <a:t>‘’ </a:t>
            </a:r>
            <a:r>
              <a:rPr lang="fr-FR" sz="2700" cap="none" dirty="0">
                <a:solidFill>
                  <a:srgbClr val="0070C0"/>
                </a:solidFill>
                <a:latin typeface="Avenir Book" panose="02000503020000020003" pitchFamily="2" charset="0"/>
              </a:rPr>
              <a:t>Base documentaire </a:t>
            </a:r>
            <a:r>
              <a:rPr lang="fr-FR" sz="2700" cap="none" dirty="0">
                <a:solidFill>
                  <a:schemeClr val="accent1"/>
                </a:solidFill>
                <a:latin typeface="Avenir Book" panose="02000503020000020003" pitchFamily="2" charset="0"/>
              </a:rPr>
              <a:t>’’ ?</a:t>
            </a:r>
            <a:endParaRPr lang="fr-FR" sz="2700" dirty="0"/>
          </a:p>
        </p:txBody>
      </p:sp>
      <p:sp>
        <p:nvSpPr>
          <p:cNvPr id="3" name="Espace réservé du contenu 2">
            <a:extLst>
              <a:ext uri="{FF2B5EF4-FFF2-40B4-BE49-F238E27FC236}">
                <a16:creationId xmlns:a16="http://schemas.microsoft.com/office/drawing/2014/main" id="{406BD515-7CC1-3DDA-0556-92AAFAA8E773}"/>
              </a:ext>
            </a:extLst>
          </p:cNvPr>
          <p:cNvSpPr>
            <a:spLocks noGrp="1"/>
          </p:cNvSpPr>
          <p:nvPr>
            <p:ph idx="1"/>
          </p:nvPr>
        </p:nvSpPr>
        <p:spPr>
          <a:xfrm>
            <a:off x="1490133" y="1905000"/>
            <a:ext cx="10014479" cy="4006222"/>
          </a:xfrm>
        </p:spPr>
        <p:txBody>
          <a:bodyPr/>
          <a:lstStyle/>
          <a:p>
            <a:pPr marL="0" indent="0">
              <a:spcBef>
                <a:spcPts val="0"/>
              </a:spcBef>
              <a:buNone/>
            </a:pPr>
            <a:r>
              <a:rPr lang="fr-MA" sz="1800" dirty="0">
                <a:solidFill>
                  <a:srgbClr val="002060"/>
                </a:solidFill>
                <a:latin typeface="Avenir Book" panose="02000503020000020003" pitchFamily="2" charset="0"/>
                <a:cs typeface="Calibri" panose="020F0502020204030204" pitchFamily="34" charset="0"/>
              </a:rPr>
              <a:t>Notre Base est </a:t>
            </a:r>
            <a:r>
              <a:rPr lang="fr-MA" sz="1800" b="1" dirty="0">
                <a:solidFill>
                  <a:schemeClr val="tx1"/>
                </a:solidFill>
                <a:latin typeface="Avenir Book" panose="02000503020000020003" pitchFamily="2" charset="0"/>
                <a:cs typeface="Calibri" panose="020F0502020204030204" pitchFamily="34" charset="0"/>
              </a:rPr>
              <a:t>organisée </a:t>
            </a:r>
            <a:r>
              <a:rPr lang="fr-MA" sz="1800" dirty="0">
                <a:solidFill>
                  <a:srgbClr val="002060"/>
                </a:solidFill>
                <a:latin typeface="Avenir Book" panose="02000503020000020003" pitchFamily="2" charset="0"/>
                <a:cs typeface="Calibri" panose="020F0502020204030204" pitchFamily="34" charset="0"/>
              </a:rPr>
              <a:t>selon la </a:t>
            </a:r>
            <a:r>
              <a:rPr lang="fr-MA" b="1" dirty="0">
                <a:solidFill>
                  <a:srgbClr val="0070C0"/>
                </a:solidFill>
                <a:latin typeface="Avenir Book" panose="02000503020000020003" pitchFamily="2" charset="0"/>
                <a:cs typeface="Calibri" panose="020F0502020204030204" pitchFamily="34" charset="0"/>
              </a:rPr>
              <a:t>Structure arborescente</a:t>
            </a:r>
            <a:r>
              <a:rPr lang="fr-MA" sz="2000" b="1" dirty="0">
                <a:solidFill>
                  <a:srgbClr val="002060"/>
                </a:solidFill>
                <a:latin typeface="Avenir Book" panose="02000503020000020003" pitchFamily="2" charset="0"/>
                <a:cs typeface="Calibri" panose="020F0502020204030204" pitchFamily="34" charset="0"/>
              </a:rPr>
              <a:t> </a:t>
            </a:r>
            <a:r>
              <a:rPr lang="fr-MA" sz="2000" dirty="0">
                <a:solidFill>
                  <a:srgbClr val="002060"/>
                </a:solidFill>
                <a:latin typeface="Avenir Book" panose="02000503020000020003" pitchFamily="2" charset="0"/>
                <a:cs typeface="Calibri" panose="020F0502020204030204" pitchFamily="34" charset="0"/>
              </a:rPr>
              <a:t>et la </a:t>
            </a:r>
            <a:r>
              <a:rPr lang="fr-MA" b="1" dirty="0">
                <a:solidFill>
                  <a:srgbClr val="0070C0"/>
                </a:solidFill>
                <a:latin typeface="Avenir Book" panose="02000503020000020003" pitchFamily="2" charset="0"/>
                <a:cs typeface="Calibri" panose="020F0502020204030204" pitchFamily="34" charset="0"/>
              </a:rPr>
              <a:t>Nomenclature</a:t>
            </a:r>
            <a:r>
              <a:rPr lang="fr-MA" sz="2000" dirty="0">
                <a:solidFill>
                  <a:srgbClr val="002060"/>
                </a:solidFill>
                <a:latin typeface="Avenir Book" panose="02000503020000020003" pitchFamily="2" charset="0"/>
                <a:cs typeface="Calibri" panose="020F0502020204030204" pitchFamily="34" charset="0"/>
              </a:rPr>
              <a:t> </a:t>
            </a:r>
            <a:r>
              <a:rPr lang="fr-MA" sz="1800" cap="none" dirty="0">
                <a:effectLst/>
                <a:latin typeface="Avenir Book" panose="02000503020000020003" pitchFamily="2" charset="0"/>
                <a:ea typeface="Calibri" panose="020F0502020204030204" pitchFamily="34" charset="0"/>
                <a:cs typeface="Calibri" panose="020F0502020204030204" pitchFamily="34" charset="0"/>
              </a:rPr>
              <a:t>des activités suivantes :</a:t>
            </a:r>
            <a:endParaRPr lang="fr-MA" sz="1800" dirty="0">
              <a:latin typeface="Avenir Book" panose="02000503020000020003" pitchFamily="2" charset="0"/>
              <a:ea typeface="Times New Roman" panose="02020603050405020304" pitchFamily="18" charset="0"/>
            </a:endParaRPr>
          </a:p>
          <a:p>
            <a:pPr marL="0" indent="0">
              <a:spcBef>
                <a:spcPts val="0"/>
              </a:spcBef>
              <a:buNone/>
            </a:pPr>
            <a:r>
              <a:rPr lang="fr-MA" sz="1800" b="1" dirty="0">
                <a:solidFill>
                  <a:schemeClr val="accent1"/>
                </a:solidFill>
                <a:latin typeface="Avenir Book" panose="02000503020000020003" pitchFamily="2" charset="0"/>
                <a:ea typeface="Times New Roman" panose="02020603050405020304" pitchFamily="18" charset="0"/>
              </a:rPr>
              <a:t>Les</a:t>
            </a:r>
            <a:r>
              <a:rPr lang="fr-MA" sz="1800" dirty="0">
                <a:solidFill>
                  <a:schemeClr val="accent1"/>
                </a:solidFill>
                <a:latin typeface="Avenir Book" panose="02000503020000020003" pitchFamily="2" charset="0"/>
                <a:ea typeface="Times New Roman" panose="02020603050405020304" pitchFamily="18" charset="0"/>
              </a:rPr>
              <a:t> </a:t>
            </a:r>
            <a:r>
              <a:rPr lang="fr-MA" b="1" dirty="0">
                <a:solidFill>
                  <a:schemeClr val="accent1"/>
                </a:solidFill>
                <a:latin typeface="Avenir Book" panose="02000503020000020003" pitchFamily="2" charset="0"/>
                <a:ea typeface="Times New Roman" panose="02020603050405020304" pitchFamily="18" charset="0"/>
              </a:rPr>
              <a:t>10</a:t>
            </a:r>
            <a:r>
              <a:rPr lang="fr-MA" sz="2000" b="1" dirty="0">
                <a:solidFill>
                  <a:schemeClr val="accent1"/>
                </a:solidFill>
                <a:latin typeface="Avenir Book" panose="02000503020000020003" pitchFamily="2" charset="0"/>
                <a:ea typeface="Times New Roman" panose="02020603050405020304" pitchFamily="18" charset="0"/>
              </a:rPr>
              <a:t> </a:t>
            </a:r>
            <a:r>
              <a:rPr lang="fr-MA" b="1" dirty="0">
                <a:latin typeface="Avenir Book" panose="02000503020000020003" pitchFamily="2" charset="0"/>
                <a:ea typeface="Times New Roman" panose="02020603050405020304" pitchFamily="18" charset="0"/>
              </a:rPr>
              <a:t>Secteurs d’activité </a:t>
            </a:r>
            <a:r>
              <a:rPr lang="fr-MA" sz="1800" b="1" dirty="0">
                <a:solidFill>
                  <a:schemeClr val="accent1"/>
                </a:solidFill>
                <a:latin typeface="Avenir Book" panose="02000503020000020003" pitchFamily="2" charset="0"/>
                <a:ea typeface="Times New Roman" panose="02020603050405020304" pitchFamily="18" charset="0"/>
              </a:rPr>
              <a:t>s’ouvrent sur les </a:t>
            </a:r>
            <a:r>
              <a:rPr lang="fr-MA" b="1" dirty="0">
                <a:latin typeface="Avenir Book" panose="02000503020000020003" pitchFamily="2" charset="0"/>
              </a:rPr>
              <a:t>Domaines d’intérêt économique </a:t>
            </a:r>
            <a:r>
              <a:rPr lang="fr-MA" sz="1800" dirty="0">
                <a:latin typeface="Avenir Book" panose="02000503020000020003" pitchFamily="2" charset="0"/>
                <a:ea typeface="Times New Roman" panose="02020603050405020304" pitchFamily="18" charset="0"/>
              </a:rPr>
              <a:t>(ex</a:t>
            </a:r>
            <a:r>
              <a:rPr lang="fr-MA" dirty="0">
                <a:latin typeface="Avenir Book" panose="02000503020000020003" pitchFamily="2" charset="0"/>
                <a:ea typeface="Times New Roman" panose="02020603050405020304" pitchFamily="18" charset="0"/>
              </a:rPr>
              <a:t>emple</a:t>
            </a:r>
            <a:r>
              <a:rPr lang="fr-MA" sz="1800" dirty="0">
                <a:latin typeface="Avenir Book" panose="02000503020000020003" pitchFamily="2" charset="0"/>
                <a:ea typeface="Times New Roman" panose="02020603050405020304" pitchFamily="18" charset="0"/>
              </a:rPr>
              <a:t> : </a:t>
            </a:r>
            <a:r>
              <a:rPr lang="fr-MA" sz="1800" dirty="0">
                <a:solidFill>
                  <a:srgbClr val="0070C0"/>
                </a:solidFill>
                <a:latin typeface="Avenir Book" panose="02000503020000020003" pitchFamily="2" charset="0"/>
                <a:ea typeface="Times New Roman" panose="02020603050405020304" pitchFamily="18" charset="0"/>
              </a:rPr>
              <a:t>Transport)</a:t>
            </a:r>
            <a:r>
              <a:rPr lang="fr-MA" sz="1800" b="1" dirty="0">
                <a:solidFill>
                  <a:schemeClr val="accent1"/>
                </a:solidFill>
                <a:latin typeface="Avenir Book" panose="02000503020000020003" pitchFamily="2" charset="0"/>
                <a:ea typeface="Times New Roman" panose="02020603050405020304" pitchFamily="18" charset="0"/>
              </a:rPr>
              <a:t>.</a:t>
            </a:r>
            <a:r>
              <a:rPr lang="fr-MA" sz="1800" b="1" dirty="0">
                <a:solidFill>
                  <a:schemeClr val="accent1"/>
                </a:solidFill>
                <a:latin typeface="Avenir Book" panose="02000503020000020003" pitchFamily="2" charset="0"/>
              </a:rPr>
              <a:t>  Lesquels</a:t>
            </a:r>
            <a:r>
              <a:rPr lang="fr-MA" sz="1800" dirty="0">
                <a:latin typeface="Avenir Book" panose="02000503020000020003" pitchFamily="2" charset="0"/>
                <a:ea typeface="Times New Roman" panose="02020603050405020304" pitchFamily="18" charset="0"/>
              </a:rPr>
              <a:t> </a:t>
            </a:r>
            <a:r>
              <a:rPr lang="fr-MA" sz="1800" b="1" dirty="0">
                <a:solidFill>
                  <a:schemeClr val="accent1"/>
                </a:solidFill>
                <a:latin typeface="Avenir Book" panose="02000503020000020003" pitchFamily="2" charset="0"/>
                <a:ea typeface="Times New Roman" panose="02020603050405020304" pitchFamily="18" charset="0"/>
              </a:rPr>
              <a:t>mènent aux</a:t>
            </a:r>
            <a:r>
              <a:rPr lang="fr-MA" sz="1800" dirty="0">
                <a:solidFill>
                  <a:schemeClr val="accent1"/>
                </a:solidFill>
                <a:latin typeface="Avenir Book" panose="02000503020000020003" pitchFamily="2" charset="0"/>
                <a:ea typeface="Times New Roman" panose="02020603050405020304" pitchFamily="18" charset="0"/>
              </a:rPr>
              <a:t> </a:t>
            </a:r>
            <a:r>
              <a:rPr lang="fr-MA" b="1" dirty="0">
                <a:latin typeface="Avenir Book" panose="02000503020000020003" pitchFamily="2" charset="0"/>
              </a:rPr>
              <a:t>Thèmes</a:t>
            </a:r>
            <a:r>
              <a:rPr lang="fr-MA" sz="2000" b="1" dirty="0">
                <a:latin typeface="Avenir Book" panose="02000503020000020003" pitchFamily="2" charset="0"/>
              </a:rPr>
              <a:t> </a:t>
            </a:r>
            <a:r>
              <a:rPr lang="fr-MA" sz="1800" dirty="0">
                <a:latin typeface="Avenir Book" panose="02000503020000020003" pitchFamily="2" charset="0"/>
              </a:rPr>
              <a:t>(exemple : </a:t>
            </a:r>
            <a:r>
              <a:rPr lang="fr-MA" sz="1800" dirty="0">
                <a:solidFill>
                  <a:srgbClr val="0070C0"/>
                </a:solidFill>
                <a:latin typeface="Avenir Book" panose="02000503020000020003" pitchFamily="2" charset="0"/>
              </a:rPr>
              <a:t>Transport terrestre</a:t>
            </a:r>
            <a:r>
              <a:rPr lang="fr-MA" sz="1800" dirty="0">
                <a:latin typeface="Avenir Book" panose="02000503020000020003" pitchFamily="2" charset="0"/>
              </a:rPr>
              <a:t>)</a:t>
            </a:r>
            <a:r>
              <a:rPr lang="fr-MA" sz="1800" dirty="0">
                <a:solidFill>
                  <a:schemeClr val="accent1"/>
                </a:solidFill>
                <a:latin typeface="Avenir Book" panose="02000503020000020003" pitchFamily="2" charset="0"/>
              </a:rPr>
              <a:t>.</a:t>
            </a:r>
          </a:p>
          <a:p>
            <a:pPr marL="0" indent="0">
              <a:buNone/>
            </a:pPr>
            <a:endParaRPr lang="fr-FR" dirty="0"/>
          </a:p>
        </p:txBody>
      </p:sp>
      <p:pic>
        <p:nvPicPr>
          <p:cNvPr id="4" name="Image 3">
            <a:extLst>
              <a:ext uri="{FF2B5EF4-FFF2-40B4-BE49-F238E27FC236}">
                <a16:creationId xmlns:a16="http://schemas.microsoft.com/office/drawing/2014/main" id="{96959CE7-B25C-3F30-F8F3-CBB3152CE29B}"/>
              </a:ext>
            </a:extLst>
          </p:cNvPr>
          <p:cNvPicPr>
            <a:picLocks noChangeAspect="1"/>
          </p:cNvPicPr>
          <p:nvPr/>
        </p:nvPicPr>
        <p:blipFill>
          <a:blip/>
          <a:stretch>
            <a:fillRect/>
          </a:stretch>
        </p:blipFill>
        <p:spPr>
          <a:xfrm>
            <a:off x="1655180" y="3429000"/>
            <a:ext cx="5011838" cy="2323618"/>
          </a:xfrm>
          <a:prstGeom prst="rect">
            <a:avLst/>
          </a:prstGeom>
        </p:spPr>
      </p:pic>
      <p:pic>
        <p:nvPicPr>
          <p:cNvPr id="6" name="Image 5">
            <a:extLst>
              <a:ext uri="{FF2B5EF4-FFF2-40B4-BE49-F238E27FC236}">
                <a16:creationId xmlns:a16="http://schemas.microsoft.com/office/drawing/2014/main" id="{41865366-580D-1DD6-3CD7-384E6AED9A6B}"/>
              </a:ext>
            </a:extLst>
          </p:cNvPr>
          <p:cNvPicPr>
            <a:picLocks noChangeAspect="1"/>
          </p:cNvPicPr>
          <p:nvPr/>
        </p:nvPicPr>
        <p:blipFill>
          <a:blip/>
          <a:stretch>
            <a:fillRect/>
          </a:stretch>
        </p:blipFill>
        <p:spPr>
          <a:xfrm>
            <a:off x="6991108" y="4062714"/>
            <a:ext cx="4190035" cy="1797782"/>
          </a:xfrm>
          <a:prstGeom prst="rect">
            <a:avLst/>
          </a:prstGeom>
        </p:spPr>
      </p:pic>
      <p:pic>
        <p:nvPicPr>
          <p:cNvPr id="8" name="Image 7">
            <a:extLst>
              <a:ext uri="{FF2B5EF4-FFF2-40B4-BE49-F238E27FC236}">
                <a16:creationId xmlns:a16="http://schemas.microsoft.com/office/drawing/2014/main" id="{50BE05A0-B2E1-4FD9-8F73-1E9535C33D8C}"/>
              </a:ext>
            </a:extLst>
          </p:cNvPr>
          <p:cNvPicPr>
            <a:picLocks noChangeAspect="1"/>
          </p:cNvPicPr>
          <p:nvPr/>
        </p:nvPicPr>
        <p:blipFill>
          <a:blip r:embed="rId2"/>
          <a:stretch>
            <a:fillRect/>
          </a:stretch>
        </p:blipFill>
        <p:spPr>
          <a:xfrm>
            <a:off x="1655180" y="3185890"/>
            <a:ext cx="5011838" cy="2725332"/>
          </a:xfrm>
          <a:prstGeom prst="rect">
            <a:avLst/>
          </a:prstGeom>
        </p:spPr>
      </p:pic>
      <p:pic>
        <p:nvPicPr>
          <p:cNvPr id="10" name="Image 9">
            <a:extLst>
              <a:ext uri="{FF2B5EF4-FFF2-40B4-BE49-F238E27FC236}">
                <a16:creationId xmlns:a16="http://schemas.microsoft.com/office/drawing/2014/main" id="{B1F2471F-204C-0BB9-87AE-2B9059ADFA67}"/>
              </a:ext>
            </a:extLst>
          </p:cNvPr>
          <p:cNvPicPr>
            <a:picLocks noChangeAspect="1"/>
          </p:cNvPicPr>
          <p:nvPr/>
        </p:nvPicPr>
        <p:blipFill>
          <a:blip r:embed="rId3"/>
          <a:stretch>
            <a:fillRect/>
          </a:stretch>
        </p:blipFill>
        <p:spPr>
          <a:xfrm>
            <a:off x="6991108" y="3536878"/>
            <a:ext cx="4190034" cy="2323618"/>
          </a:xfrm>
          <a:prstGeom prst="rect">
            <a:avLst/>
          </a:prstGeom>
        </p:spPr>
      </p:pic>
    </p:spTree>
    <p:extLst>
      <p:ext uri="{BB962C8B-B14F-4D97-AF65-F5344CB8AC3E}">
        <p14:creationId xmlns:p14="http://schemas.microsoft.com/office/powerpoint/2010/main" val="2501162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4A8056-1005-A21B-9AED-CF8060DC899D}"/>
              </a:ext>
            </a:extLst>
          </p:cNvPr>
          <p:cNvSpPr>
            <a:spLocks noGrp="1"/>
          </p:cNvSpPr>
          <p:nvPr>
            <p:ph type="title"/>
          </p:nvPr>
        </p:nvSpPr>
        <p:spPr/>
        <p:txBody>
          <a:bodyPr>
            <a:normAutofit/>
          </a:bodyPr>
          <a:lstStyle/>
          <a:p>
            <a:br>
              <a:rPr lang="fr-FR" sz="2400" b="1" u="sng" cap="none" dirty="0">
                <a:solidFill>
                  <a:schemeClr val="tx1"/>
                </a:solidFill>
                <a:latin typeface="Avenir Book" panose="02000503020000020003" pitchFamily="2" charset="0"/>
                <a:cs typeface="Calibri" panose="020F0502020204030204" pitchFamily="34" charset="0"/>
              </a:rPr>
            </a:br>
            <a:r>
              <a:rPr lang="fr-FR" sz="2400" b="1" cap="none" dirty="0">
                <a:solidFill>
                  <a:srgbClr val="C00000"/>
                </a:solidFill>
                <a:latin typeface="Avenir Book" panose="02000503020000020003" pitchFamily="2" charset="0"/>
                <a:cs typeface="Calibri" panose="020F0502020204030204" pitchFamily="34" charset="0"/>
              </a:rPr>
              <a:t> </a:t>
            </a:r>
            <a:r>
              <a:rPr lang="fr-MA" sz="2400" b="1" cap="none" dirty="0">
                <a:solidFill>
                  <a:srgbClr val="C00000"/>
                </a:solidFill>
                <a:latin typeface="Avenir Book" panose="02000503020000020003" pitchFamily="2" charset="0"/>
                <a:cs typeface="Calibri" panose="020F0502020204030204" pitchFamily="34" charset="0"/>
              </a:rPr>
              <a:t>Notre </a:t>
            </a:r>
            <a:r>
              <a:rPr lang="fr-MA" sz="2400" b="1" cap="none" dirty="0">
                <a:solidFill>
                  <a:srgbClr val="C00000"/>
                </a:solidFill>
                <a:latin typeface="Avenir Book" panose="02000503020000020003" pitchFamily="2" charset="0"/>
                <a:ea typeface="Calibri" panose="020F0502020204030204" pitchFamily="34" charset="0"/>
                <a:cs typeface="Calibri" panose="020F0502020204030204" pitchFamily="34" charset="0"/>
              </a:rPr>
              <a:t>Base documentaire traite </a:t>
            </a:r>
            <a:r>
              <a:rPr lang="fr-MA" sz="2000" b="1" cap="none" dirty="0">
                <a:solidFill>
                  <a:srgbClr val="C00000"/>
                </a:solidFill>
                <a:latin typeface="Avenir Book" panose="02000503020000020003" pitchFamily="2" charset="0"/>
                <a:ea typeface="Calibri" panose="020F0502020204030204" pitchFamily="34" charset="0"/>
                <a:cs typeface="Calibri" panose="020F0502020204030204" pitchFamily="34" charset="0"/>
              </a:rPr>
              <a:t>+ </a:t>
            </a:r>
            <a:r>
              <a:rPr lang="fr-MA" sz="2000" b="1" cap="none" dirty="0">
                <a:solidFill>
                  <a:srgbClr val="C00000"/>
                </a:solidFill>
                <a:effectLst/>
                <a:latin typeface="Avenir Book" panose="02000503020000020003" pitchFamily="2" charset="0"/>
                <a:ea typeface="Calibri" panose="020F0502020204030204" pitchFamily="34" charset="0"/>
                <a:cs typeface="Calibri" panose="020F0502020204030204" pitchFamily="34" charset="0"/>
              </a:rPr>
              <a:t>de </a:t>
            </a:r>
            <a:r>
              <a:rPr lang="fr-MA" sz="2400" b="1" cap="none" dirty="0">
                <a:solidFill>
                  <a:srgbClr val="0070C0"/>
                </a:solidFill>
                <a:latin typeface="Avenir Book" panose="02000503020000020003" pitchFamily="2" charset="0"/>
                <a:ea typeface="Calibri" panose="020F0502020204030204" pitchFamily="34" charset="0"/>
                <a:cs typeface="Calibri" panose="020F0502020204030204" pitchFamily="34" charset="0"/>
              </a:rPr>
              <a:t>250 T</a:t>
            </a:r>
            <a:r>
              <a:rPr lang="fr-MA" sz="2400" b="1" cap="none" dirty="0">
                <a:solidFill>
                  <a:srgbClr val="0070C0"/>
                </a:solidFill>
                <a:effectLst/>
                <a:latin typeface="Avenir Book" panose="02000503020000020003" pitchFamily="2" charset="0"/>
                <a:ea typeface="Calibri" panose="020F0502020204030204" pitchFamily="34" charset="0"/>
                <a:cs typeface="Calibri" panose="020F0502020204030204" pitchFamily="34" charset="0"/>
              </a:rPr>
              <a:t>hèmes. </a:t>
            </a:r>
            <a:endParaRPr lang="fr-FR" sz="2400" b="1" dirty="0"/>
          </a:p>
        </p:txBody>
      </p:sp>
      <p:sp>
        <p:nvSpPr>
          <p:cNvPr id="3" name="Espace réservé du contenu 2">
            <a:extLst>
              <a:ext uri="{FF2B5EF4-FFF2-40B4-BE49-F238E27FC236}">
                <a16:creationId xmlns:a16="http://schemas.microsoft.com/office/drawing/2014/main" id="{1C29B8B1-2202-1309-6D29-87D2BC2C3832}"/>
              </a:ext>
            </a:extLst>
          </p:cNvPr>
          <p:cNvSpPr>
            <a:spLocks noGrp="1"/>
          </p:cNvSpPr>
          <p:nvPr>
            <p:ph idx="1"/>
          </p:nvPr>
        </p:nvSpPr>
        <p:spPr>
          <a:xfrm>
            <a:off x="2589212" y="1904999"/>
            <a:ext cx="8915400" cy="5062959"/>
          </a:xfrm>
        </p:spPr>
        <p:txBody>
          <a:bodyPr/>
          <a:lstStyle/>
          <a:p>
            <a:r>
              <a:rPr lang="fr-MA" sz="1800" b="1" dirty="0">
                <a:latin typeface="Avenir Book" panose="02000503020000020003" pitchFamily="2" charset="0"/>
                <a:cs typeface="Calibri" panose="020F0502020204030204" pitchFamily="34" charset="0"/>
              </a:rPr>
              <a:t>Chaque Thème comporte plusieurs Articles, parfois même quelques dizaines : </a:t>
            </a:r>
            <a:endParaRPr lang="fr-MA" sz="1800" dirty="0">
              <a:effectLst/>
              <a:latin typeface="Avenir Book" panose="02000503020000020003" pitchFamily="2" charset="0"/>
              <a:ea typeface="Times New Roman" panose="02020603050405020304" pitchFamily="18" charset="0"/>
            </a:endParaRPr>
          </a:p>
        </p:txBody>
      </p:sp>
      <p:sp>
        <p:nvSpPr>
          <p:cNvPr id="6" name="ZoneTexte 5">
            <a:extLst>
              <a:ext uri="{FF2B5EF4-FFF2-40B4-BE49-F238E27FC236}">
                <a16:creationId xmlns:a16="http://schemas.microsoft.com/office/drawing/2014/main" id="{EF230B40-CEFE-F8A8-CC9E-C03D744A2EB6}"/>
              </a:ext>
            </a:extLst>
          </p:cNvPr>
          <p:cNvSpPr txBox="1"/>
          <p:nvPr/>
        </p:nvSpPr>
        <p:spPr>
          <a:xfrm>
            <a:off x="7218744" y="2914159"/>
            <a:ext cx="4710897" cy="2893100"/>
          </a:xfrm>
          <a:prstGeom prst="rect">
            <a:avLst/>
          </a:prstGeom>
          <a:noFill/>
        </p:spPr>
        <p:txBody>
          <a:bodyPr wrap="square">
            <a:spAutoFit/>
          </a:bodyPr>
          <a:lstStyle/>
          <a:p>
            <a:pPr marL="0" indent="0">
              <a:buNone/>
            </a:pPr>
            <a:r>
              <a:rPr lang="fr-MA" sz="1400" b="1" dirty="0">
                <a:solidFill>
                  <a:schemeClr val="accent1"/>
                </a:solidFill>
                <a:effectLst/>
                <a:latin typeface="Avenir Book" panose="02000503020000020003" pitchFamily="2" charset="0"/>
                <a:ea typeface="Calibri" panose="020F0502020204030204" pitchFamily="34" charset="0"/>
                <a:cs typeface="Calibri" panose="020F0502020204030204" pitchFamily="34" charset="0"/>
              </a:rPr>
              <a:t>En cliquant </a:t>
            </a:r>
            <a:r>
              <a:rPr lang="fr-MA" sz="1400" b="1" dirty="0">
                <a:effectLst/>
                <a:latin typeface="Avenir Book" panose="02000503020000020003" pitchFamily="2" charset="0"/>
                <a:ea typeface="Calibri" panose="020F0502020204030204" pitchFamily="34" charset="0"/>
                <a:cs typeface="Calibri" panose="020F0502020204030204" pitchFamily="34" charset="0"/>
              </a:rPr>
              <a:t>par exemple comme ici, </a:t>
            </a:r>
            <a:r>
              <a:rPr lang="fr-MA" sz="1400" b="1" dirty="0">
                <a:solidFill>
                  <a:schemeClr val="accent1"/>
                </a:solidFill>
                <a:effectLst/>
                <a:latin typeface="Avenir Book" panose="02000503020000020003" pitchFamily="2" charset="0"/>
                <a:ea typeface="Calibri" panose="020F0502020204030204" pitchFamily="34" charset="0"/>
                <a:cs typeface="Calibri" panose="020F0502020204030204" pitchFamily="34" charset="0"/>
              </a:rPr>
              <a:t>sur le Thème                        </a:t>
            </a:r>
            <a:r>
              <a:rPr lang="fr-MA" sz="1400" b="1" dirty="0">
                <a:effectLst/>
                <a:latin typeface="Avenir Book" panose="02000503020000020003" pitchFamily="2" charset="0"/>
                <a:ea typeface="Calibri" panose="020F0502020204030204" pitchFamily="34" charset="0"/>
                <a:cs typeface="Calibri" panose="020F0502020204030204" pitchFamily="34" charset="0"/>
              </a:rPr>
              <a:t>‘’ </a:t>
            </a:r>
            <a:r>
              <a:rPr lang="fr-MA" sz="1400" b="1" dirty="0">
                <a:solidFill>
                  <a:srgbClr val="0070C0"/>
                </a:solidFill>
                <a:effectLst/>
                <a:latin typeface="Avenir Book" panose="02000503020000020003" pitchFamily="2" charset="0"/>
                <a:ea typeface="Calibri" panose="020F0502020204030204" pitchFamily="34" charset="0"/>
                <a:cs typeface="Calibri" panose="020F0502020204030204" pitchFamily="34" charset="0"/>
              </a:rPr>
              <a:t>Coûts économiques ‘’ dans le Secteur des ‘’ Transports </a:t>
            </a:r>
            <a:r>
              <a:rPr lang="fr-MA" sz="1400" b="1" dirty="0">
                <a:effectLst/>
                <a:latin typeface="Avenir Book" panose="02000503020000020003" pitchFamily="2" charset="0"/>
                <a:ea typeface="Calibri" panose="020F0502020204030204" pitchFamily="34" charset="0"/>
                <a:cs typeface="Calibri" panose="020F0502020204030204" pitchFamily="34" charset="0"/>
              </a:rPr>
              <a:t>‘’</a:t>
            </a:r>
            <a:r>
              <a:rPr lang="fr-MA" sz="1400" b="1" dirty="0">
                <a:effectLst/>
                <a:latin typeface="Avenir Book" panose="02000503020000020003" pitchFamily="2" charset="0"/>
                <a:ea typeface="Calibri" panose="020F0502020204030204" pitchFamily="34" charset="0"/>
                <a:cs typeface="Segoe UI" panose="020B0502040204020203" pitchFamily="34" charset="0"/>
              </a:rPr>
              <a:t>, </a:t>
            </a:r>
            <a:r>
              <a:rPr lang="fr-MA" sz="1400" b="1" dirty="0">
                <a:solidFill>
                  <a:schemeClr val="accent1"/>
                </a:solidFill>
                <a:latin typeface="Avenir Book" panose="02000503020000020003" pitchFamily="2" charset="0"/>
                <a:ea typeface="Calibri" panose="020F0502020204030204" pitchFamily="34" charset="0"/>
                <a:cs typeface="Calibri" panose="020F0502020204030204" pitchFamily="34" charset="0"/>
              </a:rPr>
              <a:t>v</a:t>
            </a:r>
            <a:r>
              <a:rPr lang="fr-MA" sz="1400" b="1" dirty="0">
                <a:solidFill>
                  <a:schemeClr val="accent1"/>
                </a:solidFill>
                <a:latin typeface="Avenir Book" panose="02000503020000020003" pitchFamily="2" charset="0"/>
                <a:cs typeface="Calibri" panose="020F0502020204030204" pitchFamily="34" charset="0"/>
              </a:rPr>
              <a:t>ous obtiendrez </a:t>
            </a:r>
            <a:r>
              <a:rPr lang="fr-MA" sz="14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une liste de tous  </a:t>
            </a:r>
            <a:r>
              <a:rPr lang="fr-MA" sz="1400" b="1" dirty="0">
                <a:solidFill>
                  <a:schemeClr val="accent1"/>
                </a:solidFill>
                <a:latin typeface="Avenir Book" panose="02000503020000020003" pitchFamily="2" charset="0"/>
                <a:cs typeface="Calibri" panose="020F0502020204030204" pitchFamily="34" charset="0"/>
              </a:rPr>
              <a:t>les Articles disponibles</a:t>
            </a:r>
            <a:r>
              <a:rPr lang="fr-MA" sz="14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 </a:t>
            </a:r>
            <a:r>
              <a:rPr lang="fr-MA" sz="1400" dirty="0">
                <a:solidFill>
                  <a:srgbClr val="000000"/>
                </a:solidFill>
                <a:latin typeface="Avenir Book" panose="02000503020000020003" pitchFamily="2" charset="0"/>
                <a:ea typeface="Calibri" panose="020F0502020204030204" pitchFamily="34" charset="0"/>
                <a:cs typeface="Segoe UI" panose="020B0502040204020203" pitchFamily="34" charset="0"/>
              </a:rPr>
              <a:t>telle que la suivante </a:t>
            </a:r>
            <a:r>
              <a:rPr lang="fr-MA" sz="14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a:t>
            </a:r>
          </a:p>
          <a:p>
            <a:pPr marL="0" indent="0">
              <a:buNone/>
            </a:pPr>
            <a:endParaRPr lang="fr-MA" dirty="0">
              <a:solidFill>
                <a:srgbClr val="000000"/>
              </a:solidFill>
              <a:latin typeface="Avenir Book" panose="02000503020000020003" pitchFamily="2" charset="0"/>
              <a:cs typeface="Segoe UI" panose="020B0502040204020203" pitchFamily="34" charset="0"/>
            </a:endParaRPr>
          </a:p>
          <a:p>
            <a:pPr marL="0" indent="0">
              <a:buNone/>
            </a:pPr>
            <a:r>
              <a:rPr lang="fr-MA" dirty="0">
                <a:solidFill>
                  <a:srgbClr val="000000"/>
                </a:solidFill>
                <a:latin typeface="Avenir Book" panose="02000503020000020003" pitchFamily="2" charset="0"/>
                <a:cs typeface="Segoe UI" panose="020B0502040204020203" pitchFamily="34" charset="0"/>
              </a:rPr>
              <a:t>;</a:t>
            </a:r>
          </a:p>
          <a:p>
            <a:pPr marL="0" indent="0">
              <a:buNone/>
            </a:pPr>
            <a:endParaRPr lang="fr-MA" dirty="0">
              <a:solidFill>
                <a:srgbClr val="000000"/>
              </a:solidFill>
              <a:latin typeface="Avenir Book" panose="02000503020000020003" pitchFamily="2" charset="0"/>
              <a:cs typeface="Segoe UI" panose="020B0502040204020203" pitchFamily="34" charset="0"/>
            </a:endParaRPr>
          </a:p>
          <a:p>
            <a:pPr marL="0" indent="0">
              <a:buNone/>
            </a:pPr>
            <a:endParaRPr lang="fr-MA" dirty="0">
              <a:solidFill>
                <a:srgbClr val="000000"/>
              </a:solidFill>
              <a:latin typeface="Avenir Book" panose="02000503020000020003" pitchFamily="2" charset="0"/>
              <a:cs typeface="Segoe UI" panose="020B0502040204020203" pitchFamily="34" charset="0"/>
            </a:endParaRPr>
          </a:p>
          <a:p>
            <a:pPr marL="0" indent="0">
              <a:buNone/>
            </a:pPr>
            <a:endParaRPr lang="fr-MA" dirty="0">
              <a:solidFill>
                <a:srgbClr val="000000"/>
              </a:solidFill>
              <a:latin typeface="Avenir Book" panose="02000503020000020003" pitchFamily="2" charset="0"/>
              <a:cs typeface="Segoe UI" panose="020B0502040204020203" pitchFamily="34" charset="0"/>
            </a:endParaRPr>
          </a:p>
          <a:p>
            <a:pPr marL="0" indent="0">
              <a:buNone/>
            </a:pPr>
            <a:endParaRPr lang="fr-MA" dirty="0">
              <a:solidFill>
                <a:srgbClr val="000000"/>
              </a:solidFill>
              <a:latin typeface="Avenir Book" panose="02000503020000020003" pitchFamily="2" charset="0"/>
              <a:cs typeface="Segoe UI" panose="020B0502040204020203" pitchFamily="34" charset="0"/>
            </a:endParaRPr>
          </a:p>
          <a:p>
            <a:pPr marL="0" indent="0">
              <a:buNone/>
            </a:pPr>
            <a:endParaRPr lang="fr-FR" dirty="0">
              <a:latin typeface="Avenir Book" panose="02000503020000020003" pitchFamily="2" charset="0"/>
            </a:endParaRPr>
          </a:p>
        </p:txBody>
      </p:sp>
      <p:pic>
        <p:nvPicPr>
          <p:cNvPr id="4" name="Image 3">
            <a:extLst>
              <a:ext uri="{FF2B5EF4-FFF2-40B4-BE49-F238E27FC236}">
                <a16:creationId xmlns:a16="http://schemas.microsoft.com/office/drawing/2014/main" id="{F5423319-814B-222C-2F86-B605D2AFFCB7}"/>
              </a:ext>
            </a:extLst>
          </p:cNvPr>
          <p:cNvPicPr>
            <a:picLocks noChangeAspect="1"/>
          </p:cNvPicPr>
          <p:nvPr/>
        </p:nvPicPr>
        <p:blipFill>
          <a:blip r:embed="rId2"/>
          <a:stretch>
            <a:fillRect/>
          </a:stretch>
        </p:blipFill>
        <p:spPr>
          <a:xfrm>
            <a:off x="2724151" y="2231032"/>
            <a:ext cx="3657600" cy="2395936"/>
          </a:xfrm>
          <a:prstGeom prst="rect">
            <a:avLst/>
          </a:prstGeom>
        </p:spPr>
      </p:pic>
      <p:pic>
        <p:nvPicPr>
          <p:cNvPr id="5" name="Image 4">
            <a:extLst>
              <a:ext uri="{FF2B5EF4-FFF2-40B4-BE49-F238E27FC236}">
                <a16:creationId xmlns:a16="http://schemas.microsoft.com/office/drawing/2014/main" id="{A8CE8913-920A-52BF-241E-77E415616D65}"/>
              </a:ext>
            </a:extLst>
          </p:cNvPr>
          <p:cNvPicPr>
            <a:picLocks noChangeAspect="1"/>
          </p:cNvPicPr>
          <p:nvPr/>
        </p:nvPicPr>
        <p:blipFill>
          <a:blip r:embed="rId3"/>
          <a:stretch>
            <a:fillRect/>
          </a:stretch>
        </p:blipFill>
        <p:spPr>
          <a:xfrm>
            <a:off x="7411243" y="3881859"/>
            <a:ext cx="4113212" cy="2057400"/>
          </a:xfrm>
          <a:prstGeom prst="rect">
            <a:avLst/>
          </a:prstGeom>
        </p:spPr>
      </p:pic>
    </p:spTree>
    <p:extLst>
      <p:ext uri="{BB962C8B-B14F-4D97-AF65-F5344CB8AC3E}">
        <p14:creationId xmlns:p14="http://schemas.microsoft.com/office/powerpoint/2010/main" val="2521267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1A3D53-AA37-CB47-40E7-29CF16BEDB25}"/>
              </a:ext>
            </a:extLst>
          </p:cNvPr>
          <p:cNvSpPr>
            <a:spLocks noGrp="1"/>
          </p:cNvSpPr>
          <p:nvPr>
            <p:ph type="title"/>
          </p:nvPr>
        </p:nvSpPr>
        <p:spPr>
          <a:xfrm>
            <a:off x="2592925" y="856526"/>
            <a:ext cx="8911687" cy="1048473"/>
          </a:xfrm>
        </p:spPr>
        <p:txBody>
          <a:bodyPr>
            <a:normAutofit fontScale="90000"/>
          </a:bodyPr>
          <a:lstStyle/>
          <a:p>
            <a:r>
              <a:rPr lang="fr-FR" sz="2700" b="1" cap="none" dirty="0">
                <a:latin typeface="Avenir Book" panose="02000503020000020003" pitchFamily="2" charset="0"/>
                <a:ea typeface="Calibri" panose="020F0502020204030204" pitchFamily="34" charset="0"/>
                <a:cs typeface="Times New Roman" panose="02020603050405020304" pitchFamily="18" charset="0"/>
              </a:rPr>
              <a:t>Il suffit donc de </a:t>
            </a:r>
            <a:r>
              <a:rPr lang="fr-MA" sz="2700" b="1" cap="none" dirty="0">
                <a:latin typeface="Avenir Book" panose="02000503020000020003" pitchFamily="2" charset="0"/>
              </a:rPr>
              <a:t>Cliquer</a:t>
            </a:r>
            <a:r>
              <a:rPr lang="fr-MA" sz="2700" b="1" cap="none" dirty="0">
                <a:solidFill>
                  <a:schemeClr val="accent1"/>
                </a:solidFill>
                <a:effectLst/>
                <a:latin typeface="Avenir Book" panose="02000503020000020003" pitchFamily="2" charset="0"/>
                <a:ea typeface="Calibri" panose="020F0502020204030204" pitchFamily="34" charset="0"/>
                <a:cs typeface="Segoe UI" panose="020B0502040204020203" pitchFamily="34" charset="0"/>
              </a:rPr>
              <a:t>, </a:t>
            </a:r>
            <a:r>
              <a:rPr lang="fr-MA" sz="2700" b="1" cap="none" dirty="0">
                <a:latin typeface="Avenir Book" panose="02000503020000020003" pitchFamily="2" charset="0"/>
              </a:rPr>
              <a:t>sur    								</a:t>
            </a:r>
            <a:br>
              <a:rPr lang="fr-MA" sz="2700" b="1" cap="none" dirty="0">
                <a:latin typeface="Avenir Book" panose="02000503020000020003" pitchFamily="2" charset="0"/>
              </a:rPr>
            </a:br>
            <a:r>
              <a:rPr lang="fr-MA" sz="2700" b="1" cap="none" dirty="0">
                <a:latin typeface="Avenir Book" panose="02000503020000020003" pitchFamily="2" charset="0"/>
              </a:rPr>
              <a:t>                                  un </a:t>
            </a:r>
            <a:r>
              <a:rPr lang="fr-MA" sz="2700" b="1" cap="none" dirty="0">
                <a:solidFill>
                  <a:schemeClr val="accent1"/>
                </a:solidFill>
                <a:latin typeface="Avenir Book" panose="02000503020000020003" pitchFamily="2" charset="0"/>
              </a:rPr>
              <a:t>Mot clé </a:t>
            </a:r>
            <a:r>
              <a:rPr lang="fr-MA" sz="2700" b="1" cap="none" dirty="0">
                <a:latin typeface="Avenir Book" panose="02000503020000020003" pitchFamily="2" charset="0"/>
              </a:rPr>
              <a:t>ou sur un </a:t>
            </a:r>
            <a:r>
              <a:rPr lang="fr-MA" sz="2700" b="1" cap="none" dirty="0">
                <a:solidFill>
                  <a:schemeClr val="accent1"/>
                </a:solidFill>
                <a:latin typeface="Avenir Book" panose="02000503020000020003" pitchFamily="2" charset="0"/>
              </a:rPr>
              <a:t>Article,</a:t>
            </a:r>
            <a:r>
              <a:rPr lang="fr-MA" sz="2700" b="1" cap="none" dirty="0">
                <a:latin typeface="Avenir Book" panose="02000503020000020003" pitchFamily="2" charset="0"/>
              </a:rPr>
              <a:t> un </a:t>
            </a:r>
            <a:r>
              <a:rPr lang="fr-MA" sz="2700" b="1" cap="none" dirty="0">
                <a:solidFill>
                  <a:schemeClr val="accent1"/>
                </a:solidFill>
                <a:latin typeface="Avenir Book" panose="02000503020000020003" pitchFamily="2" charset="0"/>
              </a:rPr>
              <a:t>Thème…</a:t>
            </a:r>
            <a:br>
              <a:rPr lang="fr-FR" dirty="0"/>
            </a:br>
            <a:endParaRPr lang="fr-FR" dirty="0"/>
          </a:p>
        </p:txBody>
      </p:sp>
      <p:sp>
        <p:nvSpPr>
          <p:cNvPr id="3" name="Espace réservé du contenu 2">
            <a:extLst>
              <a:ext uri="{FF2B5EF4-FFF2-40B4-BE49-F238E27FC236}">
                <a16:creationId xmlns:a16="http://schemas.microsoft.com/office/drawing/2014/main" id="{ED57DFDD-2062-25C5-D789-99DD1B55B4D9}"/>
              </a:ext>
            </a:extLst>
          </p:cNvPr>
          <p:cNvSpPr>
            <a:spLocks noGrp="1"/>
          </p:cNvSpPr>
          <p:nvPr>
            <p:ph idx="1"/>
          </p:nvPr>
        </p:nvSpPr>
        <p:spPr/>
        <p:txBody>
          <a:bodyPr/>
          <a:lstStyle/>
          <a:p>
            <a:pPr marL="0" indent="0">
              <a:lnSpc>
                <a:spcPct val="110000"/>
              </a:lnSpc>
              <a:buNone/>
            </a:pPr>
            <a:r>
              <a:rPr lang="fr-MA" sz="1800" b="1" kern="100" dirty="0">
                <a:solidFill>
                  <a:schemeClr val="accent1">
                    <a:lumMod val="75000"/>
                  </a:schemeClr>
                </a:solidFill>
                <a:latin typeface="Avenir Book" panose="02000503020000020003" pitchFamily="2" charset="0"/>
                <a:cs typeface="Arial" panose="020B0604020202020204" pitchFamily="34" charset="0"/>
              </a:rPr>
              <a:t>Nos Articles </a:t>
            </a:r>
            <a:r>
              <a:rPr lang="fr-MA" sz="1800" kern="100" dirty="0">
                <a:effectLst/>
                <a:latin typeface="Avenir Book" panose="02000503020000020003" pitchFamily="2" charset="0"/>
                <a:ea typeface="Times New Roman" panose="02020603050405020304" pitchFamily="18" charset="0"/>
                <a:cs typeface="Arial" panose="020B0604020202020204" pitchFamily="34" charset="0"/>
              </a:rPr>
              <a:t>(Documents) classés dans une </a:t>
            </a:r>
            <a:r>
              <a:rPr lang="fr-MA" sz="1800" b="1" kern="100" dirty="0">
                <a:solidFill>
                  <a:schemeClr val="accent1">
                    <a:lumMod val="75000"/>
                  </a:schemeClr>
                </a:solidFill>
                <a:effectLst/>
                <a:latin typeface="Avenir Book" panose="02000503020000020003" pitchFamily="2" charset="0"/>
                <a:ea typeface="Times New Roman" panose="02020603050405020304" pitchFamily="18" charset="0"/>
                <a:cs typeface="Arial" panose="020B0604020202020204" pitchFamily="34" charset="0"/>
              </a:rPr>
              <a:t>Thématique structurée</a:t>
            </a:r>
            <a:r>
              <a:rPr lang="fr-MA" sz="1800" kern="100" dirty="0">
                <a:effectLst/>
                <a:latin typeface="Avenir Book" panose="02000503020000020003" pitchFamily="2" charset="0"/>
                <a:ea typeface="Times New Roman" panose="02020603050405020304" pitchFamily="18" charset="0"/>
                <a:cs typeface="Arial" panose="020B0604020202020204" pitchFamily="34" charset="0"/>
              </a:rPr>
              <a:t>, accompagnées de </a:t>
            </a:r>
            <a:r>
              <a:rPr lang="fr-MA" sz="1800" b="1" kern="100" dirty="0">
                <a:solidFill>
                  <a:schemeClr val="accent1">
                    <a:lumMod val="75000"/>
                  </a:schemeClr>
                </a:solidFill>
                <a:latin typeface="Avenir Book" panose="02000503020000020003" pitchFamily="2" charset="0"/>
                <a:cs typeface="Arial" panose="020B0604020202020204" pitchFamily="34" charset="0"/>
              </a:rPr>
              <a:t>Données statistiques, </a:t>
            </a:r>
            <a:r>
              <a:rPr lang="fr-MA" sz="1800" b="1" kern="100" dirty="0">
                <a:latin typeface="Avenir Book" panose="02000503020000020003" pitchFamily="2" charset="0"/>
                <a:cs typeface="Arial" panose="020B0604020202020204" pitchFamily="34" charset="0"/>
              </a:rPr>
              <a:t>qui génère nécessairement de </a:t>
            </a:r>
            <a:r>
              <a:rPr lang="fr-MA" sz="1800" b="1" kern="100" dirty="0">
                <a:solidFill>
                  <a:schemeClr val="accent1">
                    <a:lumMod val="75000"/>
                  </a:schemeClr>
                </a:solidFill>
                <a:latin typeface="Avenir Book" panose="02000503020000020003" pitchFamily="2" charset="0"/>
                <a:cs typeface="Arial" panose="020B0604020202020204" pitchFamily="34" charset="0"/>
              </a:rPr>
              <a:t>l’Information pertinente </a:t>
            </a:r>
            <a:r>
              <a:rPr lang="fr-MA" sz="1800" kern="100" dirty="0">
                <a:effectLst/>
                <a:latin typeface="Avenir Book" panose="02000503020000020003" pitchFamily="2" charset="0"/>
                <a:ea typeface="Times New Roman" panose="02020603050405020304" pitchFamily="18" charset="0"/>
                <a:cs typeface="Arial" panose="020B0604020202020204" pitchFamily="34" charset="0"/>
              </a:rPr>
              <a:t>de nature à </a:t>
            </a:r>
            <a:r>
              <a:rPr lang="fr-MA" sz="1800" b="1" kern="100" dirty="0">
                <a:solidFill>
                  <a:schemeClr val="accent1">
                    <a:lumMod val="75000"/>
                  </a:schemeClr>
                </a:solidFill>
                <a:latin typeface="Avenir Book" panose="02000503020000020003" pitchFamily="2" charset="0"/>
                <a:cs typeface="Arial" panose="020B0604020202020204" pitchFamily="34" charset="0"/>
              </a:rPr>
              <a:t>produire de la </a:t>
            </a:r>
            <a:r>
              <a:rPr lang="fr-MA" sz="1800" b="1" kern="100" dirty="0">
                <a:solidFill>
                  <a:srgbClr val="00B0F0"/>
                </a:solidFill>
                <a:latin typeface="Avenir Book" panose="02000503020000020003" pitchFamily="2" charset="0"/>
                <a:cs typeface="Arial" panose="020B0604020202020204" pitchFamily="34" charset="0"/>
              </a:rPr>
              <a:t>Connaissance</a:t>
            </a:r>
            <a:r>
              <a:rPr lang="fr-MA" sz="1800" b="1" kern="100" dirty="0">
                <a:latin typeface="Avenir Book" panose="02000503020000020003" pitchFamily="2" charset="0"/>
                <a:cs typeface="Arial" panose="020B0604020202020204" pitchFamily="34" charset="0"/>
              </a:rPr>
              <a:t> </a:t>
            </a:r>
            <a:r>
              <a:rPr lang="fr-MA" sz="1800" kern="100" dirty="0">
                <a:effectLst/>
                <a:latin typeface="Avenir Book" panose="02000503020000020003" pitchFamily="2" charset="0"/>
                <a:ea typeface="Times New Roman" panose="02020603050405020304" pitchFamily="18" charset="0"/>
                <a:cs typeface="Arial" panose="020B0604020202020204" pitchFamily="34" charset="0"/>
              </a:rPr>
              <a:t>qui, seule, permet de </a:t>
            </a:r>
            <a:r>
              <a:rPr lang="fr-MA" kern="100" dirty="0">
                <a:latin typeface="Avenir Book" panose="02000503020000020003" pitchFamily="2" charset="0"/>
                <a:cs typeface="Arial" panose="020B0604020202020204" pitchFamily="34" charset="0"/>
              </a:rPr>
              <a:t>prendre une </a:t>
            </a:r>
            <a:r>
              <a:rPr lang="fr-MA" sz="1800" b="1" kern="100" dirty="0">
                <a:solidFill>
                  <a:srgbClr val="00B0F0"/>
                </a:solidFill>
                <a:latin typeface="Avenir Book" panose="02000503020000020003" pitchFamily="2" charset="0"/>
                <a:cs typeface="Arial" panose="020B0604020202020204" pitchFamily="34" charset="0"/>
              </a:rPr>
              <a:t>Décision</a:t>
            </a:r>
            <a:r>
              <a:rPr lang="fr-MA" sz="1800" kern="100" dirty="0">
                <a:effectLst/>
                <a:latin typeface="Avenir Book" panose="02000503020000020003" pitchFamily="2" charset="0"/>
                <a:ea typeface="Times New Roman" panose="02020603050405020304" pitchFamily="18" charset="0"/>
                <a:cs typeface="Arial" panose="020B0604020202020204" pitchFamily="34" charset="0"/>
              </a:rPr>
              <a:t>.</a:t>
            </a:r>
            <a:endParaRPr lang="fr-FR" sz="1800" dirty="0">
              <a:solidFill>
                <a:schemeClr val="accent1"/>
              </a:solidFill>
              <a:latin typeface="Avenir Book" panose="02000503020000020003" pitchFamily="2" charset="0"/>
              <a:ea typeface="Calibri" panose="020F0502020204030204" pitchFamily="34" charset="0"/>
              <a:cs typeface="Times New Roman" panose="02020603050405020304" pitchFamily="18" charset="0"/>
            </a:endParaRPr>
          </a:p>
          <a:p>
            <a:pPr marL="0" indent="0">
              <a:lnSpc>
                <a:spcPct val="110000"/>
              </a:lnSpc>
              <a:buNone/>
            </a:pPr>
            <a:r>
              <a:rPr lang="fr-FR" dirty="0">
                <a:solidFill>
                  <a:srgbClr val="0070C0"/>
                </a:solidFill>
                <a:latin typeface="Avenir Book" panose="02000503020000020003" pitchFamily="2" charset="0"/>
                <a:ea typeface="Calibri" panose="020F0502020204030204" pitchFamily="34" charset="0"/>
                <a:cs typeface="Times New Roman" panose="02020603050405020304" pitchFamily="18" charset="0"/>
              </a:rPr>
              <a:t>V</a:t>
            </a:r>
            <a:r>
              <a:rPr lang="fr-FR" dirty="0">
                <a:solidFill>
                  <a:srgbClr val="0070C0"/>
                </a:solidFill>
                <a:effectLst/>
                <a:latin typeface="Avenir Book" panose="02000503020000020003" pitchFamily="2" charset="0"/>
                <a:ea typeface="Calibri" panose="020F0502020204030204" pitchFamily="34" charset="0"/>
                <a:cs typeface="Times New Roman" panose="02020603050405020304" pitchFamily="18" charset="0"/>
              </a:rPr>
              <a:t>oir (ci-joint), à titre d’exemple, les 3 </a:t>
            </a:r>
            <a:r>
              <a:rPr lang="fr-MA" dirty="0">
                <a:solidFill>
                  <a:srgbClr val="0070C0"/>
                </a:solidFill>
                <a:effectLst/>
                <a:latin typeface="Avenir Book" panose="02000503020000020003" pitchFamily="2" charset="0"/>
                <a:ea typeface="Calibri" panose="020F0502020204030204" pitchFamily="34" charset="0"/>
                <a:cs typeface="Segoe UI" panose="020B0502040204020203" pitchFamily="34" charset="0"/>
              </a:rPr>
              <a:t>Articles suivants </a:t>
            </a:r>
            <a:r>
              <a:rPr lang="fr-MA" sz="1600" dirty="0">
                <a:solidFill>
                  <a:srgbClr val="0070C0"/>
                </a:solidFill>
                <a:effectLst/>
                <a:latin typeface="Avenir Book" panose="02000503020000020003" pitchFamily="2" charset="0"/>
                <a:ea typeface="Calibri" panose="020F0502020204030204" pitchFamily="34" charset="0"/>
                <a:cs typeface="Segoe UI" panose="020B0502040204020203" pitchFamily="34" charset="0"/>
              </a:rPr>
              <a:t>:</a:t>
            </a:r>
            <a:endParaRPr lang="fr-MA" sz="1600" dirty="0">
              <a:solidFill>
                <a:srgbClr val="0070C0"/>
              </a:solidFill>
              <a:effectLst/>
              <a:latin typeface="Avenir Book" panose="02000503020000020003" pitchFamily="2" charset="0"/>
              <a:ea typeface="Calibri" panose="020F0502020204030204" pitchFamily="34" charset="0"/>
              <a:cs typeface="Times New Roman" panose="02020603050405020304" pitchFamily="18" charset="0"/>
            </a:endParaRPr>
          </a:p>
          <a:p>
            <a:pPr marL="342900" lvl="0" indent="-342900">
              <a:lnSpc>
                <a:spcPct val="110000"/>
              </a:lnSpc>
              <a:spcBef>
                <a:spcPts val="0"/>
              </a:spcBef>
              <a:buFont typeface="Calibri" panose="020F0502020204030204" pitchFamily="34" charset="0"/>
              <a:buChar char="-"/>
            </a:pPr>
            <a:r>
              <a:rPr lang="fr-MA" dirty="0">
                <a:effectLst/>
                <a:latin typeface="Avenir Book" panose="02000503020000020003" pitchFamily="2" charset="0"/>
                <a:ea typeface="Calibri" panose="020F0502020204030204" pitchFamily="34" charset="0"/>
                <a:cs typeface="Segoe UI" panose="020B0502040204020203" pitchFamily="34" charset="0"/>
              </a:rPr>
              <a:t>Prix de référence du transport de marchandises.</a:t>
            </a:r>
            <a:endParaRPr lang="fr-MA" dirty="0">
              <a:effectLst/>
              <a:latin typeface="Avenir Book" panose="02000503020000020003" pitchFamily="2" charset="0"/>
              <a:ea typeface="Calibri" panose="020F0502020204030204" pitchFamily="34" charset="0"/>
              <a:cs typeface="Times New Roman" panose="02020603050405020304" pitchFamily="18" charset="0"/>
            </a:endParaRPr>
          </a:p>
          <a:p>
            <a:pPr marL="342900" lvl="0" indent="-342900">
              <a:lnSpc>
                <a:spcPct val="110000"/>
              </a:lnSpc>
              <a:spcBef>
                <a:spcPts val="0"/>
              </a:spcBef>
              <a:buFont typeface="Calibri" panose="020F0502020204030204" pitchFamily="34" charset="0"/>
              <a:buChar char="-"/>
            </a:pPr>
            <a:r>
              <a:rPr lang="fr-MA" dirty="0">
                <a:effectLst/>
                <a:latin typeface="Avenir Book" panose="02000503020000020003" pitchFamily="2" charset="0"/>
                <a:ea typeface="Calibri" panose="020F0502020204030204" pitchFamily="34" charset="0"/>
                <a:cs typeface="Segoe UI" panose="020B0502040204020203" pitchFamily="34" charset="0"/>
              </a:rPr>
              <a:t>Structure des prix de revient de la Briqueterie.</a:t>
            </a:r>
            <a:endParaRPr lang="fr-MA" dirty="0">
              <a:effectLst/>
              <a:latin typeface="Avenir Book" panose="02000503020000020003" pitchFamily="2" charset="0"/>
              <a:ea typeface="Calibri" panose="020F0502020204030204" pitchFamily="34" charset="0"/>
              <a:cs typeface="Times New Roman" panose="02020603050405020304" pitchFamily="18" charset="0"/>
            </a:endParaRPr>
          </a:p>
          <a:p>
            <a:pPr marL="342900" lvl="0" indent="-342900">
              <a:lnSpc>
                <a:spcPct val="110000"/>
              </a:lnSpc>
              <a:spcBef>
                <a:spcPts val="0"/>
              </a:spcBef>
              <a:buFont typeface="Calibri" panose="020F0502020204030204" pitchFamily="34" charset="0"/>
              <a:buChar char="-"/>
            </a:pPr>
            <a:r>
              <a:rPr lang="fr-MA" dirty="0">
                <a:effectLst/>
                <a:latin typeface="Avenir Book" panose="02000503020000020003" pitchFamily="2" charset="0"/>
                <a:ea typeface="Calibri" panose="020F0502020204030204" pitchFamily="34" charset="0"/>
                <a:cs typeface="Segoe UI" panose="020B0502040204020203" pitchFamily="34" charset="0"/>
              </a:rPr>
              <a:t>Tunnel Maroc-Espagne</a:t>
            </a:r>
            <a:r>
              <a:rPr lang="fr-MA" dirty="0">
                <a:solidFill>
                  <a:srgbClr val="002060"/>
                </a:solidFill>
                <a:effectLst/>
                <a:latin typeface="Avenir Book" panose="02000503020000020003" pitchFamily="2" charset="0"/>
                <a:ea typeface="Calibri" panose="020F0502020204030204" pitchFamily="34" charset="0"/>
                <a:cs typeface="Segoe UI" panose="020B0502040204020203" pitchFamily="34" charset="0"/>
              </a:rPr>
              <a:t>,…</a:t>
            </a:r>
            <a:endParaRPr lang="fr-MA" dirty="0">
              <a:effectLst/>
              <a:latin typeface="Avenir Book" panose="02000503020000020003" pitchFamily="2" charset="0"/>
              <a:ea typeface="Calibri" panose="020F0502020204030204" pitchFamily="34" charset="0"/>
              <a:cs typeface="Times New Roman" panose="02020603050405020304" pitchFamily="18" charset="0"/>
            </a:endParaRPr>
          </a:p>
          <a:p>
            <a:pPr marL="0" indent="0">
              <a:lnSpc>
                <a:spcPct val="100000"/>
              </a:lnSpc>
              <a:buNone/>
            </a:pPr>
            <a:r>
              <a:rPr lang="fr-FR" sz="1700" dirty="0">
                <a:latin typeface="Avenir Book" panose="02000503020000020003" pitchFamily="2" charset="0"/>
              </a:rPr>
              <a:t>Une recherche simple et intuitive débouche directement sur l’Article-</a:t>
            </a:r>
            <a:r>
              <a:rPr lang="fr-FR" sz="1600" dirty="0">
                <a:latin typeface="Avenir Book" panose="02000503020000020003" pitchFamily="2" charset="0"/>
              </a:rPr>
              <a:t>Document</a:t>
            </a:r>
            <a:r>
              <a:rPr lang="fr-FR" sz="1700" dirty="0">
                <a:latin typeface="Avenir Book" panose="02000503020000020003" pitchFamily="2" charset="0"/>
              </a:rPr>
              <a:t> et un 2</a:t>
            </a:r>
            <a:r>
              <a:rPr lang="fr-FR" sz="1700" baseline="30000" dirty="0">
                <a:latin typeface="Avenir Book" panose="02000503020000020003" pitchFamily="2" charset="0"/>
              </a:rPr>
              <a:t>ème</a:t>
            </a:r>
            <a:r>
              <a:rPr lang="fr-FR" sz="1700" dirty="0">
                <a:latin typeface="Avenir Book" panose="02000503020000020003" pitchFamily="2" charset="0"/>
              </a:rPr>
              <a:t>  clic permettra d’accéder à tous les Articles de la même Thématique.</a:t>
            </a:r>
          </a:p>
          <a:p>
            <a:pPr marL="0" indent="0">
              <a:buNone/>
            </a:pPr>
            <a:endParaRPr lang="fr-FR" dirty="0"/>
          </a:p>
        </p:txBody>
      </p:sp>
    </p:spTree>
    <p:extLst>
      <p:ext uri="{BB962C8B-B14F-4D97-AF65-F5344CB8AC3E}">
        <p14:creationId xmlns:p14="http://schemas.microsoft.com/office/powerpoint/2010/main" val="2099264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CC09E9-CE93-063C-B068-46018133F6C3}"/>
              </a:ext>
            </a:extLst>
          </p:cNvPr>
          <p:cNvSpPr>
            <a:spLocks noGrp="1"/>
          </p:cNvSpPr>
          <p:nvPr>
            <p:ph type="title"/>
          </p:nvPr>
        </p:nvSpPr>
        <p:spPr>
          <a:xfrm>
            <a:off x="2592925" y="717630"/>
            <a:ext cx="8911687" cy="1187370"/>
          </a:xfrm>
        </p:spPr>
        <p:txBody>
          <a:bodyPr>
            <a:normAutofit fontScale="90000"/>
          </a:bodyPr>
          <a:lstStyle/>
          <a:p>
            <a:r>
              <a:rPr lang="fr-FR" sz="3600" dirty="0">
                <a:solidFill>
                  <a:schemeClr val="accent5"/>
                </a:solidFill>
                <a:latin typeface="Gill Sans MT" panose="020B0502020104020203" pitchFamily="34" charset="77"/>
              </a:rPr>
              <a:t> 																		</a:t>
            </a:r>
            <a:br>
              <a:rPr lang="fr-FR" dirty="0"/>
            </a:br>
            <a:r>
              <a:rPr lang="fr-MA" sz="2700" b="1" cap="none" dirty="0">
                <a:solidFill>
                  <a:schemeClr val="accent1"/>
                </a:solidFill>
                <a:latin typeface="Avenir Book" panose="02000503020000020003" pitchFamily="2" charset="0"/>
              </a:rPr>
              <a:t>L’Article </a:t>
            </a:r>
            <a:r>
              <a:rPr lang="fr-MA" sz="2200" b="1" cap="none" dirty="0">
                <a:latin typeface="Avenir Book" panose="02000503020000020003" pitchFamily="2" charset="0"/>
              </a:rPr>
              <a:t>(Un Document) </a:t>
            </a:r>
            <a:r>
              <a:rPr lang="fr-MA" sz="2700" b="1" cap="none" dirty="0">
                <a:solidFill>
                  <a:schemeClr val="accent1"/>
                </a:solidFill>
                <a:latin typeface="Avenir Book" panose="02000503020000020003" pitchFamily="2" charset="0"/>
              </a:rPr>
              <a:t>constitue l’unité de notre Base.</a:t>
            </a:r>
            <a:br>
              <a:rPr lang="fr-MA" cap="none" dirty="0">
                <a:solidFill>
                  <a:schemeClr val="accent1"/>
                </a:solidFill>
              </a:rPr>
            </a:br>
            <a:endParaRPr lang="fr-FR" dirty="0"/>
          </a:p>
        </p:txBody>
      </p:sp>
      <p:sp>
        <p:nvSpPr>
          <p:cNvPr id="3" name="Espace réservé du contenu 2">
            <a:extLst>
              <a:ext uri="{FF2B5EF4-FFF2-40B4-BE49-F238E27FC236}">
                <a16:creationId xmlns:a16="http://schemas.microsoft.com/office/drawing/2014/main" id="{EC29F7AE-E8A6-227C-F03A-E47FE6B379B9}"/>
              </a:ext>
            </a:extLst>
          </p:cNvPr>
          <p:cNvSpPr>
            <a:spLocks noGrp="1"/>
          </p:cNvSpPr>
          <p:nvPr>
            <p:ph idx="1"/>
          </p:nvPr>
        </p:nvSpPr>
        <p:spPr/>
        <p:txBody>
          <a:bodyPr>
            <a:normAutofit/>
          </a:bodyPr>
          <a:lstStyle/>
          <a:p>
            <a:pPr marL="0" indent="0">
              <a:lnSpc>
                <a:spcPct val="115000"/>
              </a:lnSpc>
              <a:buNone/>
            </a:pPr>
            <a:r>
              <a:rPr lang="fr-MA" sz="1800" cap="none" dirty="0">
                <a:latin typeface="Avenir Book" panose="02000503020000020003" pitchFamily="2" charset="0"/>
              </a:rPr>
              <a:t>De </a:t>
            </a:r>
            <a:r>
              <a:rPr lang="fr-MA" sz="1800" cap="none" dirty="0">
                <a:solidFill>
                  <a:schemeClr val="accent1"/>
                </a:solidFill>
                <a:latin typeface="Avenir Book" panose="02000503020000020003" pitchFamily="2" charset="0"/>
              </a:rPr>
              <a:t>3.000 </a:t>
            </a:r>
            <a:r>
              <a:rPr lang="fr-MA" sz="1800" cap="none" dirty="0">
                <a:latin typeface="Avenir Book" panose="02000503020000020003" pitchFamily="2" charset="0"/>
              </a:rPr>
              <a:t>Articles dans une 1</a:t>
            </a:r>
            <a:r>
              <a:rPr lang="fr-MA" sz="1800" cap="none" baseline="30000" dirty="0">
                <a:latin typeface="Avenir Book" panose="02000503020000020003" pitchFamily="2" charset="0"/>
              </a:rPr>
              <a:t>ère</a:t>
            </a:r>
            <a:r>
              <a:rPr lang="fr-MA" sz="1800" cap="none" dirty="0">
                <a:latin typeface="Avenir Book" panose="02000503020000020003" pitchFamily="2" charset="0"/>
              </a:rPr>
              <a:t> Etape, pour tendre prochainement à </a:t>
            </a:r>
            <a:r>
              <a:rPr lang="fr-MA" sz="1800" cap="none" dirty="0">
                <a:solidFill>
                  <a:schemeClr val="accent1"/>
                </a:solidFill>
                <a:latin typeface="Avenir Book" panose="02000503020000020003" pitchFamily="2" charset="0"/>
              </a:rPr>
              <a:t>5.000, voire 10.000, </a:t>
            </a:r>
            <a:r>
              <a:rPr lang="fr-MA" sz="1800" cap="none" dirty="0">
                <a:latin typeface="Avenir Book" panose="02000503020000020003" pitchFamily="2" charset="0"/>
              </a:rPr>
              <a:t>en mettant en place les structures de production administratives.</a:t>
            </a:r>
            <a:endParaRPr lang="fr-MA" sz="1800" dirty="0">
              <a:effectLst/>
              <a:latin typeface="Avenir Book" panose="02000503020000020003" pitchFamily="2" charset="0"/>
              <a:ea typeface="Calibri" panose="020F0502020204030204" pitchFamily="34" charset="0"/>
              <a:cs typeface="Calibri" panose="020F0502020204030204" pitchFamily="34" charset="0"/>
            </a:endParaRPr>
          </a:p>
          <a:p>
            <a:pPr marL="0" indent="0">
              <a:lnSpc>
                <a:spcPct val="115000"/>
              </a:lnSpc>
              <a:buNone/>
            </a:pPr>
            <a:r>
              <a:rPr lang="fr-MA" sz="1800" dirty="0">
                <a:solidFill>
                  <a:srgbClr val="002060"/>
                </a:solidFill>
                <a:effectLst/>
                <a:latin typeface="Avenir Book" panose="02000503020000020003" pitchFamily="2" charset="0"/>
                <a:ea typeface="Calibri" panose="020F0502020204030204" pitchFamily="34" charset="0"/>
                <a:cs typeface="Calibri" panose="020F0502020204030204" pitchFamily="34" charset="0"/>
              </a:rPr>
              <a:t>La </a:t>
            </a:r>
            <a:r>
              <a:rPr lang="fr-MA" sz="1800" b="1" dirty="0">
                <a:solidFill>
                  <a:srgbClr val="002060"/>
                </a:solidFill>
                <a:effectLst/>
                <a:latin typeface="Avenir Book" panose="02000503020000020003" pitchFamily="2" charset="0"/>
                <a:ea typeface="Calibri" panose="020F0502020204030204" pitchFamily="34" charset="0"/>
                <a:cs typeface="Calibri" panose="020F0502020204030204" pitchFamily="34" charset="0"/>
              </a:rPr>
              <a:t>Fiche Article </a:t>
            </a:r>
            <a:r>
              <a:rPr lang="fr-MA" sz="1800" dirty="0">
                <a:solidFill>
                  <a:srgbClr val="002060"/>
                </a:solidFill>
                <a:latin typeface="Avenir Book" panose="02000503020000020003" pitchFamily="2" charset="0"/>
                <a:cs typeface="Calibri" panose="020F0502020204030204" pitchFamily="34" charset="0"/>
              </a:rPr>
              <a:t>comporte</a:t>
            </a:r>
            <a:r>
              <a:rPr lang="fr-MA" sz="1800" dirty="0">
                <a:solidFill>
                  <a:schemeClr val="accent1"/>
                </a:solidFill>
                <a:latin typeface="Avenir Book" panose="02000503020000020003" pitchFamily="2" charset="0"/>
                <a:ea typeface="+mj-ea"/>
                <a:cs typeface="+mj-cs"/>
              </a:rPr>
              <a:t> </a:t>
            </a:r>
            <a:r>
              <a:rPr lang="fr-MA" sz="1800" b="1" dirty="0">
                <a:latin typeface="Avenir Book" panose="02000503020000020003" pitchFamily="2" charset="0"/>
                <a:cs typeface="Calibri" panose="020F0502020204030204" pitchFamily="34" charset="0"/>
              </a:rPr>
              <a:t>2 parties </a:t>
            </a:r>
            <a:r>
              <a:rPr lang="fr-MA" sz="1800" dirty="0">
                <a:solidFill>
                  <a:srgbClr val="002060"/>
                </a:solidFill>
                <a:effectLst/>
                <a:latin typeface="Avenir Book" panose="02000503020000020003" pitchFamily="2" charset="0"/>
                <a:ea typeface="Calibri" panose="020F0502020204030204" pitchFamily="34" charset="0"/>
                <a:cs typeface="Calibri" panose="020F0502020204030204" pitchFamily="34" charset="0"/>
              </a:rPr>
              <a:t>:</a:t>
            </a:r>
            <a:endParaRPr lang="fr-MA" sz="1800" dirty="0">
              <a:effectLst/>
              <a:latin typeface="Avenir Book" panose="02000503020000020003" pitchFamily="2" charset="0"/>
              <a:ea typeface="Calibri" panose="020F0502020204030204" pitchFamily="34" charset="0"/>
              <a:cs typeface="Times New Roman" panose="02020603050405020304" pitchFamily="18" charset="0"/>
            </a:endParaRPr>
          </a:p>
          <a:p>
            <a:pPr>
              <a:lnSpc>
                <a:spcPct val="115000"/>
              </a:lnSpc>
            </a:pPr>
            <a:r>
              <a:rPr lang="fr-MA" sz="1800" dirty="0">
                <a:solidFill>
                  <a:srgbClr val="002060"/>
                </a:solidFill>
                <a:effectLst/>
                <a:latin typeface="Avenir Book" panose="02000503020000020003" pitchFamily="2" charset="0"/>
                <a:ea typeface="Times New Roman" panose="02020603050405020304" pitchFamily="18" charset="0"/>
                <a:cs typeface="Calibri" panose="020F0502020204030204" pitchFamily="34" charset="0"/>
              </a:rPr>
              <a:t> </a:t>
            </a:r>
            <a:r>
              <a:rPr lang="fr-MA" sz="1800" b="1" dirty="0">
                <a:solidFill>
                  <a:schemeClr val="accent1"/>
                </a:solidFill>
                <a:latin typeface="Avenir Book" panose="02000503020000020003" pitchFamily="2" charset="0"/>
                <a:cs typeface="Calibri" panose="020F0502020204030204" pitchFamily="34" charset="0"/>
              </a:rPr>
              <a:t>le Titre</a:t>
            </a:r>
            <a:r>
              <a:rPr lang="fr-MA" sz="1800" dirty="0">
                <a:solidFill>
                  <a:srgbClr val="002060"/>
                </a:solidFill>
                <a:effectLst/>
                <a:latin typeface="Avenir Book" panose="02000503020000020003" pitchFamily="2" charset="0"/>
                <a:ea typeface="Times New Roman" panose="02020603050405020304" pitchFamily="18" charset="0"/>
                <a:cs typeface="Calibri" panose="020F0502020204030204" pitchFamily="34" charset="0"/>
              </a:rPr>
              <a:t>, </a:t>
            </a:r>
            <a:r>
              <a:rPr lang="fr-MA" sz="1800" b="1" dirty="0">
                <a:solidFill>
                  <a:schemeClr val="accent1"/>
                </a:solidFill>
                <a:latin typeface="Avenir Book" panose="02000503020000020003" pitchFamily="2" charset="0"/>
                <a:cs typeface="Calibri" panose="020F0502020204030204" pitchFamily="34" charset="0"/>
              </a:rPr>
              <a:t>un Extrait </a:t>
            </a:r>
            <a:r>
              <a:rPr lang="fr-MA" sz="1800" dirty="0">
                <a:solidFill>
                  <a:srgbClr val="002060"/>
                </a:solidFill>
                <a:effectLst/>
                <a:latin typeface="Avenir Book" panose="02000503020000020003" pitchFamily="2" charset="0"/>
                <a:ea typeface="Times New Roman" panose="02020603050405020304" pitchFamily="18" charset="0"/>
                <a:cs typeface="Calibri" panose="020F0502020204030204" pitchFamily="34" charset="0"/>
              </a:rPr>
              <a:t>du contenu, </a:t>
            </a:r>
            <a:r>
              <a:rPr lang="fr-MA" sz="1800" b="1" dirty="0">
                <a:solidFill>
                  <a:schemeClr val="accent1"/>
                </a:solidFill>
                <a:latin typeface="Avenir Book" panose="02000503020000020003" pitchFamily="2" charset="0"/>
                <a:cs typeface="Calibri" panose="020F0502020204030204" pitchFamily="34" charset="0"/>
              </a:rPr>
              <a:t>N° de l’Article et </a:t>
            </a:r>
            <a:r>
              <a:rPr lang="fr-MA" sz="1800" b="1" dirty="0">
                <a:latin typeface="Avenir Book" panose="02000503020000020003" pitchFamily="2" charset="0"/>
                <a:cs typeface="Calibri" panose="020F0502020204030204" pitchFamily="34" charset="0"/>
              </a:rPr>
              <a:t>Date</a:t>
            </a:r>
            <a:r>
              <a:rPr lang="fr-MA" b="1" dirty="0">
                <a:latin typeface="Avenir Book" panose="02000503020000020003" pitchFamily="2" charset="0"/>
                <a:cs typeface="Calibri" panose="020F0502020204030204" pitchFamily="34" charset="0"/>
              </a:rPr>
              <a:t>, </a:t>
            </a:r>
            <a:r>
              <a:rPr lang="fr-MA" sz="1800" b="1" dirty="0">
                <a:latin typeface="Avenir Book" panose="02000503020000020003" pitchFamily="2" charset="0"/>
                <a:cs typeface="Calibri" panose="020F0502020204030204" pitchFamily="34" charset="0"/>
              </a:rPr>
              <a:t>les Mots clés</a:t>
            </a:r>
            <a:r>
              <a:rPr lang="fr-MA" sz="1800" b="1" dirty="0">
                <a:solidFill>
                  <a:schemeClr val="accent1"/>
                </a:solidFill>
                <a:latin typeface="Avenir Book" panose="02000503020000020003" pitchFamily="2" charset="0"/>
                <a:cs typeface="Calibri" panose="020F0502020204030204" pitchFamily="34" charset="0"/>
              </a:rPr>
              <a:t>, la Source</a:t>
            </a:r>
            <a:r>
              <a:rPr lang="fr-MA" sz="1800" dirty="0">
                <a:solidFill>
                  <a:schemeClr val="accent2"/>
                </a:solidFill>
                <a:latin typeface="Avenir Book" panose="02000503020000020003" pitchFamily="2" charset="0"/>
                <a:cs typeface="Calibri" panose="020F0502020204030204" pitchFamily="34" charset="0"/>
              </a:rPr>
              <a:t>, </a:t>
            </a:r>
            <a:endParaRPr lang="fr-MA" sz="1800" dirty="0">
              <a:effectLst/>
              <a:latin typeface="Avenir Book" panose="02000503020000020003" pitchFamily="2" charset="0"/>
              <a:ea typeface="Times New Roman" panose="02020603050405020304" pitchFamily="18" charset="0"/>
            </a:endParaRPr>
          </a:p>
          <a:p>
            <a:pPr>
              <a:lnSpc>
                <a:spcPct val="115000"/>
              </a:lnSpc>
            </a:pPr>
            <a:r>
              <a:rPr lang="fr-MA" sz="1800" dirty="0">
                <a:solidFill>
                  <a:srgbClr val="002060"/>
                </a:solidFill>
                <a:effectLst/>
                <a:latin typeface="Avenir Book" panose="02000503020000020003" pitchFamily="2" charset="0"/>
                <a:ea typeface="Times New Roman" panose="02020603050405020304" pitchFamily="18" charset="0"/>
                <a:cs typeface="Calibri" panose="020F0502020204030204" pitchFamily="34" charset="0"/>
              </a:rPr>
              <a:t> </a:t>
            </a:r>
            <a:r>
              <a:rPr lang="fr-MA" sz="1800" b="1" dirty="0">
                <a:solidFill>
                  <a:schemeClr val="accent1"/>
                </a:solidFill>
                <a:latin typeface="Avenir Book" panose="02000503020000020003" pitchFamily="2" charset="0"/>
                <a:cs typeface="Calibri" panose="020F0502020204030204" pitchFamily="34" charset="0"/>
              </a:rPr>
              <a:t>le Corps de l’Article </a:t>
            </a:r>
            <a:r>
              <a:rPr lang="fr-MA" sz="1800" dirty="0">
                <a:solidFill>
                  <a:srgbClr val="002060"/>
                </a:solidFill>
                <a:effectLst/>
                <a:latin typeface="Avenir Book" panose="02000503020000020003" pitchFamily="2" charset="0"/>
                <a:ea typeface="Times New Roman" panose="02020603050405020304" pitchFamily="18" charset="0"/>
                <a:cs typeface="Calibri" panose="020F0502020204030204" pitchFamily="34" charset="0"/>
              </a:rPr>
              <a:t>: un texte de synthèse qui résume </a:t>
            </a:r>
            <a:r>
              <a:rPr lang="fr-MA" sz="1800" b="1" dirty="0">
                <a:solidFill>
                  <a:schemeClr val="accent1"/>
                </a:solidFill>
                <a:latin typeface="Avenir Book" panose="02000503020000020003" pitchFamily="2" charset="0"/>
                <a:cs typeface="Calibri" panose="020F0502020204030204" pitchFamily="34" charset="0"/>
              </a:rPr>
              <a:t>l’Essentiel</a:t>
            </a:r>
            <a:r>
              <a:rPr lang="fr-MA" sz="1800" dirty="0">
                <a:solidFill>
                  <a:srgbClr val="002060"/>
                </a:solidFill>
                <a:effectLst/>
                <a:latin typeface="Avenir Book" panose="02000503020000020003" pitchFamily="2" charset="0"/>
                <a:ea typeface="Times New Roman" panose="02020603050405020304" pitchFamily="18" charset="0"/>
                <a:cs typeface="Calibri" panose="020F0502020204030204" pitchFamily="34" charset="0"/>
              </a:rPr>
              <a:t>, très souvent appuyé par des cartes mentales (</a:t>
            </a:r>
            <a:r>
              <a:rPr lang="fr-MA" sz="1800" dirty="0">
                <a:solidFill>
                  <a:srgbClr val="0070C0"/>
                </a:solidFill>
                <a:effectLst/>
                <a:latin typeface="Avenir Book" panose="02000503020000020003" pitchFamily="2" charset="0"/>
                <a:ea typeface="Times New Roman" panose="02020603050405020304" pitchFamily="18" charset="0"/>
                <a:cs typeface="Calibri" panose="020F0502020204030204" pitchFamily="34" charset="0"/>
              </a:rPr>
              <a:t>Tableaux, Graphiques et Illustrations</a:t>
            </a:r>
            <a:r>
              <a:rPr lang="fr-MA" sz="1800" dirty="0">
                <a:solidFill>
                  <a:srgbClr val="002060"/>
                </a:solidFill>
                <a:effectLst/>
                <a:latin typeface="Avenir Book" panose="02000503020000020003" pitchFamily="2" charset="0"/>
                <a:ea typeface="Times New Roman" panose="02020603050405020304" pitchFamily="18" charset="0"/>
                <a:cs typeface="Calibri" panose="020F0502020204030204" pitchFamily="34" charset="0"/>
              </a:rPr>
              <a:t>) qui facilitent la lecture et aide à la mémorisation.</a:t>
            </a:r>
            <a:endParaRPr lang="fr-MA" sz="1800" dirty="0">
              <a:effectLst/>
              <a:latin typeface="Avenir Book" panose="02000503020000020003" pitchFamily="2" charset="0"/>
              <a:ea typeface="Times New Roman" panose="02020603050405020304" pitchFamily="18" charset="0"/>
            </a:endParaRPr>
          </a:p>
          <a:p>
            <a:pPr marL="0" indent="0">
              <a:lnSpc>
                <a:spcPct val="115000"/>
              </a:lnSpc>
              <a:buNone/>
            </a:pPr>
            <a:r>
              <a:rPr lang="fr-MA" sz="1800" b="1" dirty="0">
                <a:solidFill>
                  <a:schemeClr val="accent1"/>
                </a:solidFill>
                <a:effectLst/>
                <a:latin typeface="Avenir Book" panose="02000503020000020003" pitchFamily="2" charset="0"/>
                <a:ea typeface="Calibri" panose="020F0502020204030204" pitchFamily="34" charset="0"/>
                <a:cs typeface="Calibri" panose="020F0502020204030204" pitchFamily="34" charset="0"/>
              </a:rPr>
              <a:t>Une seule page </a:t>
            </a:r>
            <a:r>
              <a:rPr lang="fr-MA" sz="1800" dirty="0">
                <a:solidFill>
                  <a:srgbClr val="002060"/>
                </a:solidFill>
                <a:effectLst/>
                <a:latin typeface="Avenir Book" panose="02000503020000020003" pitchFamily="2" charset="0"/>
                <a:ea typeface="Calibri" panose="020F0502020204030204" pitchFamily="34" charset="0"/>
                <a:cs typeface="Calibri" panose="020F0502020204030204" pitchFamily="34" charset="0"/>
              </a:rPr>
              <a:t>pour traiter </a:t>
            </a:r>
            <a:r>
              <a:rPr lang="fr-MA" dirty="0">
                <a:solidFill>
                  <a:schemeClr val="tx1"/>
                </a:solidFill>
                <a:latin typeface="Avenir Book" panose="02000503020000020003" pitchFamily="2" charset="0"/>
                <a:cs typeface="Calibri" panose="020F0502020204030204" pitchFamily="34" charset="0"/>
              </a:rPr>
              <a:t>d’</a:t>
            </a:r>
            <a:r>
              <a:rPr lang="fr-MA" b="1" dirty="0">
                <a:solidFill>
                  <a:schemeClr val="accent1"/>
                </a:solidFill>
                <a:latin typeface="Avenir Book" panose="02000503020000020003" pitchFamily="2" charset="0"/>
                <a:cs typeface="Calibri" panose="020F0502020204030204" pitchFamily="34" charset="0"/>
              </a:rPr>
              <a:t>un sujet précis </a:t>
            </a:r>
            <a:r>
              <a:rPr lang="fr-MA" sz="1800" dirty="0">
                <a:solidFill>
                  <a:srgbClr val="002060"/>
                </a:solidFill>
                <a:effectLst/>
                <a:latin typeface="Avenir Book" panose="02000503020000020003" pitchFamily="2" charset="0"/>
                <a:ea typeface="Calibri" panose="020F0502020204030204" pitchFamily="34" charset="0"/>
                <a:cs typeface="Calibri" panose="020F0502020204030204" pitchFamily="34" charset="0"/>
              </a:rPr>
              <a:t>concernant l’activité des entreprises dans leur environnement économique et social </a:t>
            </a:r>
            <a:r>
              <a:rPr lang="fr-MA" sz="1800" b="1" dirty="0">
                <a:solidFill>
                  <a:schemeClr val="accent1"/>
                </a:solidFill>
                <a:latin typeface="Avenir Book" panose="02000503020000020003" pitchFamily="2" charset="0"/>
                <a:cs typeface="Calibri" panose="020F0502020204030204" pitchFamily="34" charset="0"/>
              </a:rPr>
              <a:t>appuyé par des </a:t>
            </a:r>
            <a:r>
              <a:rPr lang="fr-MA" sz="1800" dirty="0">
                <a:solidFill>
                  <a:srgbClr val="002060"/>
                </a:solidFill>
                <a:effectLst/>
                <a:latin typeface="Avenir Book" panose="02000503020000020003" pitchFamily="2" charset="0"/>
                <a:ea typeface="Calibri" panose="020F0502020204030204" pitchFamily="34" charset="0"/>
                <a:cs typeface="Calibri" panose="020F0502020204030204" pitchFamily="34" charset="0"/>
              </a:rPr>
              <a:t>‘’ </a:t>
            </a:r>
            <a:r>
              <a:rPr lang="fr-MA" sz="1800" b="1" dirty="0">
                <a:solidFill>
                  <a:srgbClr val="0070C0"/>
                </a:solidFill>
                <a:latin typeface="Avenir Book" panose="02000503020000020003" pitchFamily="2" charset="0"/>
                <a:cs typeface="Calibri" panose="020F0502020204030204" pitchFamily="34" charset="0"/>
              </a:rPr>
              <a:t>Chiffres clés</a:t>
            </a:r>
            <a:r>
              <a:rPr lang="fr-MA" sz="1800" dirty="0">
                <a:solidFill>
                  <a:srgbClr val="0070C0"/>
                </a:solidFill>
                <a:effectLst/>
                <a:latin typeface="Avenir Book" panose="02000503020000020003" pitchFamily="2" charset="0"/>
                <a:ea typeface="Calibri" panose="020F0502020204030204" pitchFamily="34" charset="0"/>
                <a:cs typeface="Calibri" panose="020F0502020204030204" pitchFamily="34" charset="0"/>
              </a:rPr>
              <a:t> </a:t>
            </a:r>
            <a:r>
              <a:rPr lang="fr-MA" sz="1800" dirty="0">
                <a:solidFill>
                  <a:srgbClr val="002060"/>
                </a:solidFill>
                <a:effectLst/>
                <a:latin typeface="Avenir Book" panose="02000503020000020003" pitchFamily="2" charset="0"/>
                <a:ea typeface="Calibri" panose="020F0502020204030204" pitchFamily="34" charset="0"/>
                <a:cs typeface="Calibri" panose="020F0502020204030204" pitchFamily="34" charset="0"/>
              </a:rPr>
              <a:t>‘’.</a:t>
            </a:r>
            <a:endParaRPr lang="fr-FR" sz="1800" dirty="0">
              <a:latin typeface="Avenir Book" panose="02000503020000020003" pitchFamily="2" charset="0"/>
            </a:endParaRPr>
          </a:p>
          <a:p>
            <a:pPr marL="0" indent="0">
              <a:buNone/>
            </a:pPr>
            <a:endParaRPr lang="fr-FR" dirty="0"/>
          </a:p>
        </p:txBody>
      </p:sp>
    </p:spTree>
    <p:extLst>
      <p:ext uri="{BB962C8B-B14F-4D97-AF65-F5344CB8AC3E}">
        <p14:creationId xmlns:p14="http://schemas.microsoft.com/office/powerpoint/2010/main" val="2932919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8C36D5-9E86-6553-DCF3-3D15ADC3FED2}"/>
              </a:ext>
            </a:extLst>
          </p:cNvPr>
          <p:cNvSpPr>
            <a:spLocks noGrp="1"/>
          </p:cNvSpPr>
          <p:nvPr>
            <p:ph type="title"/>
          </p:nvPr>
        </p:nvSpPr>
        <p:spPr>
          <a:xfrm>
            <a:off x="2592925" y="624110"/>
            <a:ext cx="9190103" cy="1280890"/>
          </a:xfrm>
        </p:spPr>
        <p:txBody>
          <a:bodyPr>
            <a:normAutofit fontScale="90000"/>
          </a:bodyPr>
          <a:lstStyle/>
          <a:p>
            <a:r>
              <a:rPr lang="fr-FR" sz="2700" b="1" cap="none" dirty="0">
                <a:solidFill>
                  <a:schemeClr val="tx1"/>
                </a:solidFill>
                <a:latin typeface="Avenir Book" panose="02000503020000020003" pitchFamily="2" charset="0"/>
              </a:rPr>
              <a:t>        										</a:t>
            </a:r>
            <a:br>
              <a:rPr lang="fr-FR" sz="2700" b="1" u="sng" cap="none" dirty="0">
                <a:solidFill>
                  <a:schemeClr val="tx1"/>
                </a:solidFill>
                <a:highlight>
                  <a:srgbClr val="C0C0C0"/>
                </a:highlight>
                <a:latin typeface="Avenir Book" panose="02000503020000020003" pitchFamily="2" charset="0"/>
              </a:rPr>
            </a:br>
            <a:r>
              <a:rPr lang="fr-FR" sz="2700" b="1" cap="none" dirty="0">
                <a:solidFill>
                  <a:schemeClr val="accent1"/>
                </a:solidFill>
                <a:latin typeface="Avenir Book" panose="02000503020000020003" pitchFamily="2" charset="0"/>
              </a:rPr>
              <a:t>Niveau de </a:t>
            </a:r>
            <a:r>
              <a:rPr lang="fr-FR" sz="2700" b="1" cap="none" dirty="0">
                <a:solidFill>
                  <a:srgbClr val="0070C0"/>
                </a:solidFill>
                <a:latin typeface="Avenir Book" panose="02000503020000020003" pitchFamily="2" charset="0"/>
              </a:rPr>
              <a:t>précision</a:t>
            </a:r>
            <a:r>
              <a:rPr lang="fr-FR" sz="2700" b="1" cap="none" dirty="0">
                <a:solidFill>
                  <a:schemeClr val="accent1"/>
                </a:solidFill>
                <a:latin typeface="Avenir Book" panose="02000503020000020003" pitchFamily="2" charset="0"/>
              </a:rPr>
              <a:t> des informations et </a:t>
            </a:r>
            <a:r>
              <a:rPr lang="fr-FR" sz="2700" b="1" cap="none" dirty="0">
                <a:solidFill>
                  <a:srgbClr val="0070C0"/>
                </a:solidFill>
                <a:latin typeface="Avenir Book" panose="02000503020000020003" pitchFamily="2" charset="0"/>
              </a:rPr>
              <a:t>exhaustivité</a:t>
            </a:r>
            <a:r>
              <a:rPr lang="fr-FR" sz="2700" b="1" cap="none" dirty="0">
                <a:solidFill>
                  <a:schemeClr val="accent1"/>
                </a:solidFill>
                <a:latin typeface="Avenir Book" panose="02000503020000020003" pitchFamily="2" charset="0"/>
              </a:rPr>
              <a:t>.</a:t>
            </a:r>
            <a:br>
              <a:rPr lang="fr-MA" sz="4000" cap="none" dirty="0">
                <a:solidFill>
                  <a:schemeClr val="accent1"/>
                </a:solidFill>
              </a:rPr>
            </a:br>
            <a:endParaRPr lang="fr-FR" dirty="0"/>
          </a:p>
        </p:txBody>
      </p:sp>
      <p:sp>
        <p:nvSpPr>
          <p:cNvPr id="3" name="Espace réservé du contenu 2">
            <a:extLst>
              <a:ext uri="{FF2B5EF4-FFF2-40B4-BE49-F238E27FC236}">
                <a16:creationId xmlns:a16="http://schemas.microsoft.com/office/drawing/2014/main" id="{FF709665-3059-8A90-7F68-11AAA57C7C90}"/>
              </a:ext>
            </a:extLst>
          </p:cNvPr>
          <p:cNvSpPr>
            <a:spLocks noGrp="1"/>
          </p:cNvSpPr>
          <p:nvPr>
            <p:ph idx="1"/>
          </p:nvPr>
        </p:nvSpPr>
        <p:spPr>
          <a:xfrm>
            <a:off x="2589212" y="1905000"/>
            <a:ext cx="8915400" cy="4328890"/>
          </a:xfrm>
        </p:spPr>
        <p:txBody>
          <a:bodyPr>
            <a:normAutofit lnSpcReduction="10000"/>
          </a:bodyPr>
          <a:lstStyle/>
          <a:p>
            <a:pPr>
              <a:lnSpc>
                <a:spcPct val="115000"/>
              </a:lnSpc>
              <a:spcAft>
                <a:spcPts val="600"/>
              </a:spcAft>
            </a:pP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En dépit de tout l’effort pour sélectionner et fournir la meilleure information possible, on pourra s’interroger sur le niveau de précision</a:t>
            </a:r>
            <a:r>
              <a:rPr lang="fr-MA" sz="1800" dirty="0">
                <a:solidFill>
                  <a:srgbClr val="000000"/>
                </a:solidFill>
                <a:latin typeface="Avenir Book" panose="02000503020000020003" pitchFamily="2" charset="0"/>
                <a:ea typeface="Calibri" panose="020F0502020204030204" pitchFamily="34" charset="0"/>
                <a:cs typeface="Segoe UI" panose="020B0502040204020203" pitchFamily="34" charset="0"/>
              </a:rPr>
              <a:t> </a:t>
            </a: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de certaines données publiées par certains organismes.</a:t>
            </a:r>
          </a:p>
          <a:p>
            <a:pPr>
              <a:lnSpc>
                <a:spcPct val="115000"/>
              </a:lnSpc>
              <a:spcAft>
                <a:spcPts val="600"/>
              </a:spcAft>
            </a:pP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Bien que notre Base documentaire ait </a:t>
            </a:r>
            <a:r>
              <a:rPr lang="fr-MA" sz="1800" dirty="0">
                <a:solidFill>
                  <a:srgbClr val="000000"/>
                </a:solidFill>
                <a:latin typeface="Avenir Book" panose="02000503020000020003" pitchFamily="2" charset="0"/>
                <a:ea typeface="Calibri" panose="020F0502020204030204" pitchFamily="34" charset="0"/>
                <a:cs typeface="Segoe UI" panose="020B0502040204020203" pitchFamily="34" charset="0"/>
              </a:rPr>
              <a:t>été </a:t>
            </a: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réalisée avec le plus grand soin pour apporter aux intéressé(es) l’information la plus pertinente et la plus fiable après avoir fait croisé souvent plusieurs sources pour comparer, analyser et synthétiser l’information, le </a:t>
            </a:r>
            <a:r>
              <a:rPr lang="fr-MA" sz="16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C</a:t>
            </a:r>
            <a:r>
              <a:rPr lang="fr-MA" sz="15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ERDOC</a:t>
            </a: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 ne garantit pas, de façon expresse ou implicite, ni l’exactitude des informations, ni l’</a:t>
            </a:r>
            <a:r>
              <a:rPr lang="fr-MA" sz="1800" dirty="0" err="1">
                <a:effectLst/>
                <a:latin typeface="Calibri" panose="020F0502020204030204" pitchFamily="34" charset="0"/>
                <a:ea typeface="Calibri" panose="020F0502020204030204" pitchFamily="34" charset="0"/>
                <a:cs typeface="Arial" panose="020B0604020202020204" pitchFamily="34" charset="0"/>
              </a:rPr>
              <a:t>exhaustivite</a:t>
            </a:r>
            <a:r>
              <a:rPr lang="fr-MA" sz="1800" dirty="0">
                <a:effectLst/>
                <a:latin typeface="Calibri" panose="020F0502020204030204" pitchFamily="34" charset="0"/>
                <a:ea typeface="Calibri" panose="020F0502020204030204" pitchFamily="34" charset="0"/>
                <a:cs typeface="Arial" panose="020B0604020202020204" pitchFamily="34" charset="0"/>
              </a:rPr>
              <a:t>́ des informations qu’elle  contient. O</a:t>
            </a: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n ne peut donc que décliner toute responsabilité découlant de l’utilisation de son contenu ou des données citées.</a:t>
            </a:r>
          </a:p>
          <a:p>
            <a:pPr>
              <a:lnSpc>
                <a:spcPct val="115000"/>
              </a:lnSpc>
              <a:spcAft>
                <a:spcPts val="600"/>
              </a:spcAft>
            </a:pPr>
            <a:r>
              <a:rPr lang="fr-MA" sz="1800" dirty="0">
                <a:solidFill>
                  <a:srgbClr val="000000"/>
                </a:solidFill>
                <a:latin typeface="Avenir Book" panose="02000503020000020003" pitchFamily="2" charset="0"/>
                <a:cs typeface="Segoe UI" panose="020B0502040204020203" pitchFamily="34" charset="0"/>
              </a:rPr>
              <a:t>Notre Base documentaire ne pourrait nullement prétendre aussi à l’exhaustivité souhaitée, elle n’exclue pas un effort de recherche complémentaire que suggère systématiquement nos Articles.</a:t>
            </a:r>
          </a:p>
          <a:p>
            <a:pPr marL="0" indent="0">
              <a:buNone/>
            </a:pPr>
            <a:endParaRPr lang="fr-FR" dirty="0"/>
          </a:p>
        </p:txBody>
      </p:sp>
    </p:spTree>
    <p:extLst>
      <p:ext uri="{BB962C8B-B14F-4D97-AF65-F5344CB8AC3E}">
        <p14:creationId xmlns:p14="http://schemas.microsoft.com/office/powerpoint/2010/main" val="2596873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9DEF79-D99E-CD7D-32B1-30F9ED901D13}"/>
              </a:ext>
            </a:extLst>
          </p:cNvPr>
          <p:cNvSpPr>
            <a:spLocks noGrp="1"/>
          </p:cNvSpPr>
          <p:nvPr>
            <p:ph type="title"/>
          </p:nvPr>
        </p:nvSpPr>
        <p:spPr>
          <a:xfrm>
            <a:off x="2592925" y="624110"/>
            <a:ext cx="9065675" cy="1280890"/>
          </a:xfrm>
        </p:spPr>
        <p:txBody>
          <a:bodyPr>
            <a:normAutofit fontScale="90000"/>
          </a:bodyPr>
          <a:lstStyle/>
          <a:p>
            <a:r>
              <a:rPr lang="fr-FR" dirty="0"/>
              <a:t> </a:t>
            </a:r>
            <a:r>
              <a:rPr lang="fr-FR" sz="2400" dirty="0">
                <a:latin typeface="Avenir Book" panose="02000503020000020003" pitchFamily="2" charset="0"/>
              </a:rPr>
              <a:t>Mais </a:t>
            </a:r>
            <a:r>
              <a:rPr lang="fr-FR" sz="2400" b="1" cap="none" dirty="0">
                <a:solidFill>
                  <a:schemeClr val="accent1"/>
                </a:solidFill>
                <a:latin typeface="Avenir Book" panose="02000503020000020003" pitchFamily="2" charset="0"/>
              </a:rPr>
              <a:t>Existe-t-il</a:t>
            </a:r>
            <a:r>
              <a:rPr lang="fr-FR" sz="2400" cap="none" dirty="0">
                <a:solidFill>
                  <a:schemeClr val="accent1"/>
                </a:solidFill>
                <a:latin typeface="Avenir Book" panose="02000503020000020003" pitchFamily="2" charset="0"/>
              </a:rPr>
              <a:t> des Bases documentaires similaires ?                </a:t>
            </a:r>
            <a:br>
              <a:rPr lang="fr-MA" sz="2700" cap="none" dirty="0">
                <a:solidFill>
                  <a:schemeClr val="accent1"/>
                </a:solidFill>
                <a:latin typeface="Avenir Book" panose="02000503020000020003" pitchFamily="2" charset="0"/>
              </a:rPr>
            </a:br>
            <a:r>
              <a:rPr lang="fr-MA" sz="2700" cap="none" dirty="0">
                <a:solidFill>
                  <a:schemeClr val="accent1"/>
                </a:solidFill>
                <a:latin typeface="Avenir Book" panose="02000503020000020003" pitchFamily="2" charset="0"/>
              </a:rPr>
              <a:t>         </a:t>
            </a:r>
            <a:r>
              <a:rPr lang="fr-MA" sz="2200" b="1" cap="none" dirty="0">
                <a:solidFill>
                  <a:srgbClr val="0070C0"/>
                </a:solidFill>
                <a:latin typeface="Avenir Book" panose="02000503020000020003" pitchFamily="2" charset="0"/>
                <a:cs typeface="Segoe UI" panose="020B0502040204020203" pitchFamily="34" charset="0"/>
              </a:rPr>
              <a:t>L</a:t>
            </a:r>
            <a:r>
              <a:rPr lang="fr-MA" sz="2200" b="1" cap="none" dirty="0">
                <a:solidFill>
                  <a:srgbClr val="0070C0"/>
                </a:solidFill>
                <a:effectLst/>
                <a:latin typeface="Avenir Book" panose="02000503020000020003" pitchFamily="2" charset="0"/>
                <a:ea typeface="Times New Roman" panose="02020603050405020304" pitchFamily="18" charset="0"/>
                <a:cs typeface="Segoe UI" panose="020B0502040204020203" pitchFamily="34" charset="0"/>
              </a:rPr>
              <a:t>a réponse est certainement non</a:t>
            </a:r>
            <a:r>
              <a:rPr lang="fr-MA" sz="2200" cap="none" dirty="0">
                <a:solidFill>
                  <a:srgbClr val="000000"/>
                </a:solidFill>
                <a:effectLst/>
                <a:latin typeface="Avenir Book" panose="02000503020000020003" pitchFamily="2" charset="0"/>
                <a:ea typeface="Times New Roman" panose="02020603050405020304" pitchFamily="18" charset="0"/>
                <a:cs typeface="Segoe UI" panose="020B0502040204020203" pitchFamily="34" charset="0"/>
              </a:rPr>
              <a:t>, </a:t>
            </a:r>
            <a:r>
              <a:rPr lang="fr-MA" sz="2000" cap="none" dirty="0">
                <a:solidFill>
                  <a:srgbClr val="000000"/>
                </a:solidFill>
                <a:effectLst/>
                <a:latin typeface="Avenir Book" panose="02000503020000020003" pitchFamily="2" charset="0"/>
                <a:ea typeface="Times New Roman" panose="02020603050405020304" pitchFamily="18" charset="0"/>
                <a:cs typeface="Segoe UI" panose="020B0502040204020203" pitchFamily="34" charset="0"/>
              </a:rPr>
              <a:t>et en </a:t>
            </a:r>
            <a:r>
              <a:rPr lang="fr-MA" sz="2000" cap="none" dirty="0">
                <a:solidFill>
                  <a:srgbClr val="000000"/>
                </a:solidFill>
                <a:latin typeface="Avenir Book" panose="02000503020000020003" pitchFamily="2" charset="0"/>
                <a:ea typeface="Times New Roman" panose="02020603050405020304" pitchFamily="18" charset="0"/>
                <a:cs typeface="Segoe UI" panose="020B0502040204020203" pitchFamily="34" charset="0"/>
              </a:rPr>
              <a:t>F</a:t>
            </a:r>
            <a:r>
              <a:rPr lang="fr-MA" sz="2000" cap="none" dirty="0">
                <a:solidFill>
                  <a:srgbClr val="000000"/>
                </a:solidFill>
                <a:effectLst/>
                <a:latin typeface="Avenir Book" panose="02000503020000020003" pitchFamily="2" charset="0"/>
                <a:ea typeface="Times New Roman" panose="02020603050405020304" pitchFamily="18" charset="0"/>
                <a:cs typeface="Segoe UI" panose="020B0502040204020203" pitchFamily="34" charset="0"/>
              </a:rPr>
              <a:t>rance non plus. </a:t>
            </a:r>
            <a:br>
              <a:rPr lang="fr-MA" sz="2000" cap="none" dirty="0">
                <a:solidFill>
                  <a:srgbClr val="000000"/>
                </a:solidFill>
                <a:effectLst/>
                <a:latin typeface="Avenir Book" panose="02000503020000020003" pitchFamily="2" charset="0"/>
                <a:ea typeface="Times New Roman" panose="02020603050405020304" pitchFamily="18" charset="0"/>
                <a:cs typeface="Segoe UI" panose="020B0502040204020203" pitchFamily="34" charset="0"/>
              </a:rPr>
            </a:br>
            <a:r>
              <a:rPr lang="fr-MA" sz="2000" cap="none" dirty="0">
                <a:solidFill>
                  <a:srgbClr val="000000"/>
                </a:solidFill>
                <a:effectLst/>
                <a:latin typeface="Avenir Book" panose="02000503020000020003" pitchFamily="2" charset="0"/>
                <a:ea typeface="Times New Roman" panose="02020603050405020304" pitchFamily="18" charset="0"/>
                <a:cs typeface="Segoe UI" panose="020B0502040204020203" pitchFamily="34" charset="0"/>
              </a:rPr>
              <a:t>            </a:t>
            </a:r>
            <a:r>
              <a:rPr lang="fr-MA" sz="1800" cap="none" dirty="0">
                <a:effectLst/>
                <a:latin typeface="Avenir Book" panose="02000503020000020003" pitchFamily="2" charset="0"/>
                <a:ea typeface="Calibri" panose="020F0502020204030204" pitchFamily="34" charset="0"/>
                <a:cs typeface="Times New Roman" panose="02020603050405020304" pitchFamily="18" charset="0"/>
              </a:rPr>
              <a:t>Le </a:t>
            </a:r>
            <a:r>
              <a:rPr lang="fr-MA" sz="1800" b="1" cap="none" dirty="0">
                <a:solidFill>
                  <a:schemeClr val="accent1"/>
                </a:solidFill>
                <a:latin typeface="Avenir Book" panose="02000503020000020003" pitchFamily="2" charset="0"/>
                <a:ea typeface="Calibri" panose="020F0502020204030204" pitchFamily="34" charset="0"/>
                <a:cs typeface="Calibri" panose="020F0502020204030204" pitchFamily="34" charset="0"/>
              </a:rPr>
              <a:t>C</a:t>
            </a:r>
            <a:r>
              <a:rPr lang="fr-MA" sz="1600" b="1" cap="none" dirty="0">
                <a:solidFill>
                  <a:schemeClr val="accent1"/>
                </a:solidFill>
                <a:latin typeface="Avenir Book" panose="02000503020000020003" pitchFamily="2" charset="0"/>
                <a:ea typeface="Calibri" panose="020F0502020204030204" pitchFamily="34" charset="0"/>
                <a:cs typeface="Calibri" panose="020F0502020204030204" pitchFamily="34" charset="0"/>
              </a:rPr>
              <a:t>ERD</a:t>
            </a:r>
            <a:r>
              <a:rPr lang="fr-MA" sz="1800" b="1" cap="none" dirty="0">
                <a:solidFill>
                  <a:schemeClr val="accent1"/>
                </a:solidFill>
                <a:latin typeface="Avenir Book" panose="02000503020000020003" pitchFamily="2" charset="0"/>
                <a:ea typeface="Calibri" panose="020F0502020204030204" pitchFamily="34" charset="0"/>
                <a:cs typeface="Times New Roman" panose="02020603050405020304" pitchFamily="18" charset="0"/>
              </a:rPr>
              <a:t> </a:t>
            </a:r>
            <a:r>
              <a:rPr lang="fr-MA" sz="1800" b="1" cap="none" dirty="0">
                <a:latin typeface="Avenir Book" panose="02000503020000020003" pitchFamily="2" charset="0"/>
                <a:cs typeface="Segoe UI" panose="020B0502040204020203" pitchFamily="34" charset="0"/>
              </a:rPr>
              <a:t>apparemment</a:t>
            </a:r>
            <a:r>
              <a:rPr lang="fr-MA" sz="1800" b="1" cap="none" dirty="0">
                <a:solidFill>
                  <a:schemeClr val="accent1"/>
                </a:solidFill>
                <a:latin typeface="Avenir Book" panose="02000503020000020003" pitchFamily="2" charset="0"/>
                <a:cs typeface="Segoe UI" panose="020B0502040204020203" pitchFamily="34" charset="0"/>
              </a:rPr>
              <a:t> </a:t>
            </a:r>
            <a:r>
              <a:rPr lang="fr-MA" sz="1800" b="1" cap="none" dirty="0">
                <a:solidFill>
                  <a:srgbClr val="0070C0"/>
                </a:solidFill>
                <a:latin typeface="Avenir Book" panose="02000503020000020003" pitchFamily="2" charset="0"/>
                <a:cs typeface="Segoe UI" panose="020B0502040204020203" pitchFamily="34" charset="0"/>
              </a:rPr>
              <a:t>innove aussi bien dans son contenu que dans sa présentation.</a:t>
            </a:r>
            <a:endParaRPr lang="fr-FR" sz="1800" dirty="0">
              <a:solidFill>
                <a:srgbClr val="0070C0"/>
              </a:solidFill>
              <a:latin typeface="Avenir Book" panose="02000503020000020003" pitchFamily="2" charset="0"/>
            </a:endParaRPr>
          </a:p>
        </p:txBody>
      </p:sp>
      <p:sp>
        <p:nvSpPr>
          <p:cNvPr id="3" name="Espace réservé du contenu 2">
            <a:extLst>
              <a:ext uri="{FF2B5EF4-FFF2-40B4-BE49-F238E27FC236}">
                <a16:creationId xmlns:a16="http://schemas.microsoft.com/office/drawing/2014/main" id="{CBCEC543-E5F5-7EC5-57EB-4B19782E8AA1}"/>
              </a:ext>
            </a:extLst>
          </p:cNvPr>
          <p:cNvSpPr>
            <a:spLocks noGrp="1"/>
          </p:cNvSpPr>
          <p:nvPr>
            <p:ph idx="1"/>
          </p:nvPr>
        </p:nvSpPr>
        <p:spPr>
          <a:xfrm>
            <a:off x="2589212" y="1905000"/>
            <a:ext cx="9069388" cy="4328890"/>
          </a:xfrm>
        </p:spPr>
        <p:txBody>
          <a:bodyPr>
            <a:normAutofit fontScale="85000" lnSpcReduction="10000"/>
          </a:bodyPr>
          <a:lstStyle/>
          <a:p>
            <a:pPr>
              <a:spcAft>
                <a:spcPts val="675"/>
              </a:spcAft>
            </a:pPr>
            <a:r>
              <a:rPr lang="fr-MA" sz="1800" b="1" dirty="0" err="1">
                <a:solidFill>
                  <a:schemeClr val="accent1"/>
                </a:solidFill>
                <a:latin typeface="Avenir Book" panose="02000503020000020003" pitchFamily="2" charset="0"/>
                <a:cs typeface="Times New Roman" panose="02020603050405020304" pitchFamily="18" charset="0"/>
              </a:rPr>
              <a:t>XerfI</a:t>
            </a:r>
            <a:r>
              <a:rPr lang="fr-MA" sz="1800" b="1" dirty="0">
                <a:solidFill>
                  <a:schemeClr val="accent1"/>
                </a:solidFill>
                <a:latin typeface="Avenir Book" panose="02000503020000020003" pitchFamily="2" charset="0"/>
                <a:cs typeface="Times New Roman" panose="02020603050405020304" pitchFamily="18" charset="0"/>
              </a:rPr>
              <a:t>,</a:t>
            </a:r>
            <a:r>
              <a:rPr lang="fr-MA" sz="1800" b="1" dirty="0">
                <a:solidFill>
                  <a:schemeClr val="accent1"/>
                </a:solidFill>
                <a:effectLst/>
                <a:latin typeface="Avenir Book" panose="02000503020000020003" pitchFamily="2" charset="0"/>
                <a:ea typeface="Calibri" panose="020F0502020204030204" pitchFamily="34" charset="0"/>
                <a:cs typeface="Segoe UI" panose="020B0502040204020203" pitchFamily="34" charset="0"/>
              </a:rPr>
              <a:t> </a:t>
            </a:r>
            <a:r>
              <a:rPr lang="fr-MA" sz="1800" dirty="0">
                <a:solidFill>
                  <a:srgbClr val="0070C0"/>
                </a:solidFill>
                <a:effectLst/>
                <a:latin typeface="Avenir Book" panose="02000503020000020003" pitchFamily="2" charset="0"/>
                <a:ea typeface="Calibri" panose="020F0502020204030204" pitchFamily="34" charset="0"/>
                <a:cs typeface="Segoe UI" panose="020B0502040204020203" pitchFamily="34" charset="0"/>
              </a:rPr>
              <a:t>en France, </a:t>
            </a: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constitue certes et sur un autre plan, une bonne référence des </a:t>
            </a:r>
            <a:r>
              <a:rPr lang="fr-MA" sz="1800" b="1" dirty="0">
                <a:solidFill>
                  <a:schemeClr val="accent1"/>
                </a:solidFill>
                <a:effectLst/>
                <a:latin typeface="Avenir Book" panose="02000503020000020003" pitchFamily="2" charset="0"/>
                <a:ea typeface="Calibri" panose="020F0502020204030204" pitchFamily="34" charset="0"/>
                <a:cs typeface="Segoe UI" panose="020B0502040204020203" pitchFamily="34" charset="0"/>
              </a:rPr>
              <a:t>Etudes sectorielles </a:t>
            </a: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pour une meilleure connaissance des entreprises françaises et de leur environnement. Xerfi déploie un catalogue de plus de 900 titres. Mais cette documentation constitue en fait </a:t>
            </a:r>
            <a:r>
              <a:rPr lang="fr-MA" sz="1800" dirty="0">
                <a:solidFill>
                  <a:srgbClr val="0070C0"/>
                </a:solidFill>
                <a:effectLst/>
                <a:latin typeface="Avenir Book" panose="02000503020000020003" pitchFamily="2" charset="0"/>
                <a:ea typeface="Calibri" panose="020F0502020204030204" pitchFamily="34" charset="0"/>
                <a:cs typeface="Segoe UI" panose="020B0502040204020203" pitchFamily="34" charset="0"/>
              </a:rPr>
              <a:t>de vrais dossiers d’étude </a:t>
            </a: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tendant au consulting, ce qui rend son coût d’acquisition évidemment assez élevé pour ceux qui cherchent plutôt une information rapide et succincte. Le coût de ces dossiers peut aller jusqu’à </a:t>
            </a:r>
            <a:r>
              <a:rPr lang="fr-MA" sz="1600" b="1" dirty="0">
                <a:solidFill>
                  <a:srgbClr val="0070C0"/>
                </a:solidFill>
                <a:latin typeface="Avenir Book" panose="02000503020000020003" pitchFamily="2" charset="0"/>
                <a:cs typeface="Calibri" panose="020F0502020204030204" pitchFamily="34" charset="0"/>
              </a:rPr>
              <a:t>3.400 euros </a:t>
            </a:r>
            <a:r>
              <a:rPr lang="fr-MA" sz="1800" dirty="0">
                <a:latin typeface="Avenir Book" panose="02000503020000020003" pitchFamily="2" charset="0"/>
                <a:cs typeface="Calibri" panose="020F0502020204030204" pitchFamily="34" charset="0"/>
              </a:rPr>
              <a:t>chacun</a:t>
            </a: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 soit plus </a:t>
            </a:r>
            <a:r>
              <a:rPr lang="fr-MA" sz="1800" dirty="0">
                <a:solidFill>
                  <a:srgbClr val="000000"/>
                </a:solidFill>
                <a:latin typeface="Avenir Book" panose="02000503020000020003" pitchFamily="2" charset="0"/>
                <a:cs typeface="Segoe UI" panose="020B0502040204020203" pitchFamily="34" charset="0"/>
              </a:rPr>
              <a:t>de </a:t>
            </a:r>
            <a:r>
              <a:rPr lang="fr-MA" sz="1600" b="1" dirty="0">
                <a:solidFill>
                  <a:srgbClr val="0070C0"/>
                </a:solidFill>
                <a:latin typeface="Avenir Book" panose="02000503020000020003" pitchFamily="2" charset="0"/>
                <a:cs typeface="Segoe UI" panose="020B0502040204020203" pitchFamily="34" charset="0"/>
              </a:rPr>
              <a:t>35.000</a:t>
            </a:r>
            <a:r>
              <a:rPr lang="fr-MA" sz="1800" b="1" dirty="0">
                <a:solidFill>
                  <a:srgbClr val="0070C0"/>
                </a:solidFill>
                <a:latin typeface="Avenir Book" panose="02000503020000020003" pitchFamily="2" charset="0"/>
                <a:cs typeface="Segoe UI" panose="020B0502040204020203" pitchFamily="34" charset="0"/>
              </a:rPr>
              <a:t> </a:t>
            </a:r>
            <a:r>
              <a:rPr lang="fr-MA" sz="1200" b="1" dirty="0">
                <a:solidFill>
                  <a:srgbClr val="0070C0"/>
                </a:solidFill>
                <a:latin typeface="Avenir Book" panose="02000503020000020003" pitchFamily="2" charset="0"/>
                <a:cs typeface="Segoe UI" panose="020B0502040204020203" pitchFamily="34" charset="0"/>
              </a:rPr>
              <a:t>DH</a:t>
            </a:r>
            <a:r>
              <a:rPr lang="fr-MA" sz="1800" b="1" dirty="0">
                <a:solidFill>
                  <a:srgbClr val="0070C0"/>
                </a:solidFill>
                <a:latin typeface="Avenir Book" panose="02000503020000020003" pitchFamily="2" charset="0"/>
                <a:cs typeface="Segoe UI" panose="020B0502040204020203" pitchFamily="34" charset="0"/>
              </a:rPr>
              <a:t> </a:t>
            </a:r>
            <a:r>
              <a:rPr lang="fr-MA" sz="1800" dirty="0">
                <a:solidFill>
                  <a:srgbClr val="000000"/>
                </a:solidFill>
                <a:latin typeface="Avenir Book" panose="02000503020000020003" pitchFamily="2" charset="0"/>
                <a:cs typeface="Segoe UI" panose="020B0502040204020203" pitchFamily="34" charset="0"/>
              </a:rPr>
              <a:t>pour </a:t>
            </a: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l’essentiel des titres du répertoire affiché.  </a:t>
            </a:r>
            <a:r>
              <a:rPr lang="fr-MA" dirty="0">
                <a:solidFill>
                  <a:srgbClr val="000000"/>
                </a:solidFill>
                <a:latin typeface="Avenir Book" panose="02000503020000020003" pitchFamily="2" charset="0"/>
                <a:ea typeface="Calibri" panose="020F0502020204030204" pitchFamily="34" charset="0"/>
                <a:cs typeface="Segoe UI" panose="020B0502040204020203" pitchFamily="34" charset="0"/>
              </a:rPr>
              <a:t>Un autre exemple, parmi tant d’autres pour des Etudes de marché : </a:t>
            </a:r>
            <a:r>
              <a:rPr lang="fr-MA" b="1" dirty="0" err="1">
                <a:solidFill>
                  <a:schemeClr val="accent1"/>
                </a:solidFill>
                <a:latin typeface="Avenir Book" panose="02000503020000020003" pitchFamily="2" charset="0"/>
                <a:ea typeface="Calibri" panose="020F0502020204030204" pitchFamily="34" charset="0"/>
                <a:cs typeface="Segoe UI" panose="020B0502040204020203" pitchFamily="34" charset="0"/>
              </a:rPr>
              <a:t>Marketresearch.com</a:t>
            </a:r>
            <a:r>
              <a:rPr lang="fr-MA" dirty="0">
                <a:solidFill>
                  <a:srgbClr val="000000"/>
                </a:solidFill>
                <a:latin typeface="Avenir Book" panose="02000503020000020003" pitchFamily="2" charset="0"/>
                <a:ea typeface="Calibri" panose="020F0502020204030204" pitchFamily="34" charset="0"/>
                <a:cs typeface="Segoe UI" panose="020B0502040204020203" pitchFamily="34" charset="0"/>
              </a:rPr>
              <a:t>.</a:t>
            </a:r>
          </a:p>
          <a:p>
            <a:pPr>
              <a:spcAft>
                <a:spcPts val="675"/>
              </a:spcAft>
            </a:pPr>
            <a:r>
              <a:rPr lang="fr-MA" sz="1800" dirty="0">
                <a:solidFill>
                  <a:srgbClr val="000000"/>
                </a:solidFill>
                <a:latin typeface="Avenir Book" panose="02000503020000020003" pitchFamily="2" charset="0"/>
                <a:cs typeface="Segoe UI" panose="020B0502040204020203" pitchFamily="34" charset="0"/>
              </a:rPr>
              <a:t>Inutile de citer l’exemple d’ ‘’ </a:t>
            </a:r>
            <a:r>
              <a:rPr lang="fr-MA" sz="1900" b="1" dirty="0">
                <a:solidFill>
                  <a:schemeClr val="accent1"/>
                </a:solidFill>
                <a:latin typeface="Avenir Book" panose="02000503020000020003" pitchFamily="2" charset="0"/>
                <a:cs typeface="Segoe UI" panose="020B0502040204020203" pitchFamily="34" charset="0"/>
              </a:rPr>
              <a:t>Orbis</a:t>
            </a:r>
            <a:r>
              <a:rPr lang="fr-MA" sz="1900" dirty="0">
                <a:solidFill>
                  <a:schemeClr val="accent1"/>
                </a:solidFill>
                <a:latin typeface="Avenir Book" panose="02000503020000020003" pitchFamily="2" charset="0"/>
                <a:cs typeface="Segoe UI" panose="020B0502040204020203" pitchFamily="34" charset="0"/>
              </a:rPr>
              <a:t> ‘’ </a:t>
            </a:r>
            <a:r>
              <a:rPr lang="fr-MA" sz="1900" b="1" dirty="0">
                <a:solidFill>
                  <a:schemeClr val="accent1"/>
                </a:solidFill>
                <a:latin typeface="Avenir Book" panose="02000503020000020003" pitchFamily="2" charset="0"/>
                <a:cs typeface="Segoe UI" panose="020B0502040204020203" pitchFamily="34" charset="0"/>
              </a:rPr>
              <a:t>Bureau van Dijk ‘’</a:t>
            </a:r>
            <a:r>
              <a:rPr lang="fr-MA" sz="1900" dirty="0">
                <a:solidFill>
                  <a:schemeClr val="accent1"/>
                </a:solidFill>
                <a:latin typeface="Avenir Book" panose="02000503020000020003" pitchFamily="2" charset="0"/>
                <a:cs typeface="Segoe UI" panose="020B0502040204020203" pitchFamily="34" charset="0"/>
              </a:rPr>
              <a:t> </a:t>
            </a:r>
            <a:r>
              <a:rPr lang="fr-MA" sz="1800" dirty="0">
                <a:solidFill>
                  <a:srgbClr val="000000"/>
                </a:solidFill>
                <a:latin typeface="Avenir Book" panose="02000503020000020003" pitchFamily="2" charset="0"/>
                <a:cs typeface="Segoe UI" panose="020B0502040204020203" pitchFamily="34" charset="0"/>
              </a:rPr>
              <a:t>(connu sous l’acronyme </a:t>
            </a:r>
            <a:r>
              <a:rPr lang="fr-MA" sz="1800" dirty="0" err="1">
                <a:solidFill>
                  <a:srgbClr val="000000"/>
                </a:solidFill>
                <a:latin typeface="Avenir Book" panose="02000503020000020003" pitchFamily="2" charset="0"/>
                <a:cs typeface="Segoe UI" panose="020B0502040204020203" pitchFamily="34" charset="0"/>
              </a:rPr>
              <a:t>BvD</a:t>
            </a:r>
            <a:r>
              <a:rPr lang="fr-MA" sz="1800" dirty="0">
                <a:solidFill>
                  <a:srgbClr val="000000"/>
                </a:solidFill>
                <a:latin typeface="Avenir Book" panose="02000503020000020003" pitchFamily="2" charset="0"/>
                <a:cs typeface="Segoe UI" panose="020B0502040204020203" pitchFamily="34" charset="0"/>
              </a:rPr>
              <a:t>) qui propose </a:t>
            </a:r>
            <a:r>
              <a:rPr lang="fr-MA" sz="2000" dirty="0">
                <a:solidFill>
                  <a:srgbClr val="002060"/>
                </a:solidFill>
                <a:latin typeface="Avenir Book" panose="02000503020000020003" pitchFamily="2" charset="0"/>
                <a:cs typeface="Segoe UI" panose="020B0502040204020203" pitchFamily="34" charset="0"/>
              </a:rPr>
              <a:t>un service d’information axé particulièrement sur les </a:t>
            </a:r>
            <a:r>
              <a:rPr lang="fr-MA" sz="1800" b="1" dirty="0">
                <a:solidFill>
                  <a:srgbClr val="002060"/>
                </a:solidFill>
                <a:latin typeface="Avenir Book" panose="02000503020000020003" pitchFamily="2" charset="0"/>
                <a:cs typeface="Segoe UI" panose="020B0502040204020203" pitchFamily="34" charset="0"/>
              </a:rPr>
              <a:t>aspects financiers des entreprises </a:t>
            </a:r>
            <a:r>
              <a:rPr lang="fr-MA" sz="1800" dirty="0">
                <a:solidFill>
                  <a:srgbClr val="000000"/>
                </a:solidFill>
                <a:latin typeface="Avenir Book" panose="02000503020000020003" pitchFamily="2" charset="0"/>
                <a:cs typeface="Segoe UI" panose="020B0502040204020203" pitchFamily="34" charset="0"/>
              </a:rPr>
              <a:t>plus que sur le produit et les services </a:t>
            </a:r>
            <a:r>
              <a:rPr lang="fr-MA" dirty="0">
                <a:solidFill>
                  <a:srgbClr val="000000"/>
                </a:solidFill>
                <a:latin typeface="Avenir Book" panose="02000503020000020003" pitchFamily="2" charset="0"/>
                <a:cs typeface="Segoe UI" panose="020B0502040204020203" pitchFamily="34" charset="0"/>
              </a:rPr>
              <a:t>dans</a:t>
            </a:r>
            <a:r>
              <a:rPr lang="fr-MA" sz="1800" dirty="0">
                <a:solidFill>
                  <a:srgbClr val="000000"/>
                </a:solidFill>
                <a:latin typeface="Avenir Book" panose="02000503020000020003" pitchFamily="2" charset="0"/>
                <a:cs typeface="Segoe UI" panose="020B0502040204020203" pitchFamily="34" charset="0"/>
              </a:rPr>
              <a:t> leur environnement macro-économique comme le nôtre. </a:t>
            </a:r>
            <a:r>
              <a:rPr lang="fr-MA" sz="1800" dirty="0">
                <a:effectLst/>
                <a:latin typeface="Avenir Book" panose="02000503020000020003" pitchFamily="2" charset="0"/>
                <a:ea typeface="Calibri" panose="020F0502020204030204" pitchFamily="34" charset="0"/>
                <a:cs typeface="Calibri" panose="020F0502020204030204" pitchFamily="34" charset="0"/>
              </a:rPr>
              <a:t>L’abonnement à ce service va de </a:t>
            </a:r>
            <a:r>
              <a:rPr lang="fr-MA" sz="1600" b="1" dirty="0">
                <a:solidFill>
                  <a:srgbClr val="0070C0"/>
                </a:solidFill>
                <a:effectLst/>
                <a:latin typeface="Avenir Book" panose="02000503020000020003" pitchFamily="2" charset="0"/>
                <a:ea typeface="Calibri" panose="020F0502020204030204" pitchFamily="34" charset="0"/>
                <a:cs typeface="Calibri" panose="020F0502020204030204" pitchFamily="34" charset="0"/>
              </a:rPr>
              <a:t>5.000 à quelques Milliers de $ </a:t>
            </a:r>
            <a:r>
              <a:rPr lang="fr-MA" sz="1800" dirty="0">
                <a:effectLst/>
                <a:latin typeface="Avenir Book" panose="02000503020000020003" pitchFamily="2" charset="0"/>
                <a:ea typeface="Calibri" panose="020F0502020204030204" pitchFamily="34" charset="0"/>
                <a:cs typeface="Calibri" panose="020F0502020204030204" pitchFamily="34" charset="0"/>
              </a:rPr>
              <a:t>par an selon les besoins.</a:t>
            </a:r>
            <a:endParaRPr lang="fr-MA" sz="1800" dirty="0">
              <a:effectLst/>
              <a:latin typeface="Avenir Book" panose="02000503020000020003" pitchFamily="2" charset="0"/>
              <a:ea typeface="Calibri" panose="020F0502020204030204" pitchFamily="34" charset="0"/>
              <a:cs typeface="Segoe UI" panose="020B0502040204020203" pitchFamily="34" charset="0"/>
            </a:endParaRPr>
          </a:p>
          <a:p>
            <a:pPr>
              <a:spcAft>
                <a:spcPts val="675"/>
              </a:spcAft>
            </a:pP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Dans un genre de documentation proche, il existe aussi au </a:t>
            </a:r>
            <a:r>
              <a:rPr lang="fr-MA" sz="1800" b="1" dirty="0">
                <a:solidFill>
                  <a:srgbClr val="0070C0"/>
                </a:solidFill>
                <a:effectLst/>
                <a:latin typeface="Avenir Book" panose="02000503020000020003" pitchFamily="2" charset="0"/>
                <a:ea typeface="Calibri" panose="020F0502020204030204" pitchFamily="34" charset="0"/>
                <a:cs typeface="Segoe UI" panose="020B0502040204020203" pitchFamily="34" charset="0"/>
              </a:rPr>
              <a:t>Maroc</a:t>
            </a: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 l’Institut d’études et de conseil </a:t>
            </a:r>
            <a:r>
              <a:rPr lang="fr-MA" sz="1600" b="1" dirty="0" err="1">
                <a:solidFill>
                  <a:schemeClr val="accent1"/>
                </a:solidFill>
                <a:latin typeface="Avenir Book" panose="02000503020000020003" pitchFamily="2" charset="0"/>
                <a:cs typeface="Times New Roman" panose="02020603050405020304" pitchFamily="18" charset="0"/>
              </a:rPr>
              <a:t>S</a:t>
            </a:r>
            <a:r>
              <a:rPr lang="fr-MA" b="1" dirty="0" err="1">
                <a:solidFill>
                  <a:schemeClr val="accent1"/>
                </a:solidFill>
                <a:latin typeface="Avenir Book" panose="02000503020000020003" pitchFamily="2" charset="0"/>
                <a:cs typeface="Times New Roman" panose="02020603050405020304" pitchFamily="18" charset="0"/>
              </a:rPr>
              <a:t>erec</a:t>
            </a:r>
            <a:r>
              <a:rPr lang="fr-MA" sz="13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 </a:t>
            </a: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qui réalise des</a:t>
            </a:r>
            <a:r>
              <a:rPr lang="fr-MA" sz="1400" dirty="0">
                <a:solidFill>
                  <a:schemeClr val="accent1"/>
                </a:solidFill>
                <a:latin typeface="Avenir Book" panose="02000503020000020003" pitchFamily="2" charset="0"/>
                <a:cs typeface="Times New Roman" panose="02020603050405020304" pitchFamily="18" charset="0"/>
              </a:rPr>
              <a:t> </a:t>
            </a:r>
            <a:r>
              <a:rPr lang="fr-MA" sz="1800" b="1" dirty="0">
                <a:solidFill>
                  <a:srgbClr val="0070C0"/>
                </a:solidFill>
                <a:latin typeface="Avenir Book" panose="02000503020000020003" pitchFamily="2" charset="0"/>
                <a:cs typeface="Times New Roman" panose="02020603050405020304" pitchFamily="18" charset="0"/>
              </a:rPr>
              <a:t>Etudes de marché </a:t>
            </a: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et édite lui aussi des rapports d’études sectorielles, une centaine de page en général à des prix certainement moins élevés que ceux affichés en </a:t>
            </a:r>
            <a:r>
              <a:rPr lang="fr-MA" sz="1800" dirty="0">
                <a:solidFill>
                  <a:srgbClr val="000000"/>
                </a:solidFill>
                <a:latin typeface="Avenir Book" panose="02000503020000020003" pitchFamily="2" charset="0"/>
                <a:ea typeface="Calibri" panose="020F0502020204030204" pitchFamily="34" charset="0"/>
                <a:cs typeface="Segoe UI" panose="020B0502040204020203" pitchFamily="34" charset="0"/>
              </a:rPr>
              <a:t>E</a:t>
            </a: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urope.   </a:t>
            </a:r>
          </a:p>
          <a:p>
            <a:pPr marL="0" indent="0">
              <a:buNone/>
            </a:pPr>
            <a:r>
              <a:rPr lang="fr-MA" sz="1800" dirty="0">
                <a:solidFill>
                  <a:schemeClr val="accent1"/>
                </a:solidFill>
                <a:latin typeface="Avenir Book" panose="02000503020000020003" pitchFamily="2" charset="0"/>
                <a:cs typeface="Times New Roman" panose="02020603050405020304" pitchFamily="18" charset="0"/>
              </a:rPr>
              <a:t>Arch</a:t>
            </a:r>
            <a:r>
              <a:rPr lang="fr-MA" sz="2000" b="1" dirty="0">
                <a:solidFill>
                  <a:schemeClr val="accent1"/>
                </a:solidFill>
                <a:latin typeface="Avenir Book" panose="02000503020000020003" pitchFamily="2" charset="0"/>
                <a:cs typeface="Times New Roman" panose="02020603050405020304" pitchFamily="18" charset="0"/>
              </a:rPr>
              <a:t>imag, </a:t>
            </a:r>
            <a:r>
              <a:rPr lang="fr-MA" sz="1800" dirty="0">
                <a:solidFill>
                  <a:srgbClr val="0070C0"/>
                </a:solidFill>
                <a:latin typeface="Avenir Book" panose="02000503020000020003" pitchFamily="2" charset="0"/>
                <a:cs typeface="Times New Roman" panose="02020603050405020304" pitchFamily="18" charset="0"/>
              </a:rPr>
              <a:t>le plus grand spécialiste français de le Documentation donne la liste des </a:t>
            </a:r>
            <a:r>
              <a:rPr lang="fr-MA" sz="1600" dirty="0">
                <a:solidFill>
                  <a:schemeClr val="tx1"/>
                </a:solidFill>
                <a:latin typeface="Avenir Book" panose="02000503020000020003" pitchFamily="2" charset="0"/>
                <a:cs typeface="Times New Roman" panose="02020603050405020304" pitchFamily="18" charset="0"/>
              </a:rPr>
              <a:t>‘’</a:t>
            </a:r>
            <a:r>
              <a:rPr lang="fr-MA" sz="1600" dirty="0">
                <a:solidFill>
                  <a:srgbClr val="0070C0"/>
                </a:solidFill>
                <a:latin typeface="Avenir Book" panose="02000503020000020003" pitchFamily="2" charset="0"/>
                <a:cs typeface="Times New Roman" panose="02020603050405020304" pitchFamily="18" charset="0"/>
              </a:rPr>
              <a:t> </a:t>
            </a:r>
            <a:r>
              <a:rPr lang="fr-MA" sz="1600" b="1" dirty="0">
                <a:solidFill>
                  <a:schemeClr val="accent1"/>
                </a:solidFill>
                <a:latin typeface="Avenir Book" panose="02000503020000020003" pitchFamily="2" charset="0"/>
                <a:cs typeface="Times New Roman" panose="02020603050405020304" pitchFamily="18" charset="0"/>
              </a:rPr>
              <a:t>27 Bases de données à connaître absolument</a:t>
            </a:r>
            <a:r>
              <a:rPr lang="fr-MA" sz="1600" dirty="0">
                <a:solidFill>
                  <a:srgbClr val="0070C0"/>
                </a:solidFill>
                <a:latin typeface="Avenir Book" panose="02000503020000020003" pitchFamily="2" charset="0"/>
                <a:cs typeface="Times New Roman" panose="02020603050405020304" pitchFamily="18" charset="0"/>
              </a:rPr>
              <a:t> </a:t>
            </a:r>
            <a:r>
              <a:rPr lang="fr-MA" sz="1600" dirty="0">
                <a:solidFill>
                  <a:schemeClr val="tx1"/>
                </a:solidFill>
                <a:latin typeface="Avenir Book" panose="02000503020000020003" pitchFamily="2" charset="0"/>
                <a:cs typeface="Times New Roman" panose="02020603050405020304" pitchFamily="18" charset="0"/>
              </a:rPr>
              <a:t>‘’</a:t>
            </a:r>
            <a:r>
              <a:rPr lang="fr-MA" sz="1800" dirty="0">
                <a:solidFill>
                  <a:srgbClr val="0070C0"/>
                </a:solidFill>
                <a:latin typeface="Avenir Book" panose="02000503020000020003" pitchFamily="2" charset="0"/>
                <a:cs typeface="Times New Roman" panose="02020603050405020304" pitchFamily="18" charset="0"/>
              </a:rPr>
              <a:t>. </a:t>
            </a:r>
            <a:r>
              <a:rPr lang="fr-MA" dirty="0">
                <a:solidFill>
                  <a:srgbClr val="0070C0"/>
                </a:solidFill>
                <a:latin typeface="Avenir Book" panose="02000503020000020003" pitchFamily="2" charset="0"/>
                <a:cs typeface="Times New Roman" panose="02020603050405020304" pitchFamily="18" charset="0"/>
              </a:rPr>
              <a:t>C</a:t>
            </a:r>
            <a:r>
              <a:rPr lang="fr-MA" sz="1800" dirty="0">
                <a:solidFill>
                  <a:srgbClr val="0070C0"/>
                </a:solidFill>
                <a:latin typeface="Avenir Book" panose="02000503020000020003" pitchFamily="2" charset="0"/>
                <a:cs typeface="Times New Roman" panose="02020603050405020304" pitchFamily="18" charset="0"/>
              </a:rPr>
              <a:t>es bases traitent en fait de tous les domaines de connaissance qui ne sont nullement dans notre champ d’intérêt </a:t>
            </a:r>
            <a:r>
              <a:rPr lang="fr-MA" sz="1500" b="1" dirty="0">
                <a:solidFill>
                  <a:schemeClr val="tx1"/>
                </a:solidFill>
                <a:latin typeface="Avenir Book" panose="02000503020000020003" pitchFamily="2" charset="0"/>
                <a:cs typeface="Times New Roman" panose="02020603050405020304" pitchFamily="18" charset="0"/>
              </a:rPr>
              <a:t>(Sciences et Techniques, Droit et Fiscalité, Sociétés et Finances, les Sciences humaines et sociales, Etc.).</a:t>
            </a:r>
            <a:endParaRPr lang="fr-FR" dirty="0"/>
          </a:p>
        </p:txBody>
      </p:sp>
    </p:spTree>
    <p:extLst>
      <p:ext uri="{BB962C8B-B14F-4D97-AF65-F5344CB8AC3E}">
        <p14:creationId xmlns:p14="http://schemas.microsoft.com/office/powerpoint/2010/main" val="3619415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128EA2-B8CF-6F94-03DA-54698692EAD1}"/>
              </a:ext>
            </a:extLst>
          </p:cNvPr>
          <p:cNvSpPr>
            <a:spLocks noGrp="1"/>
          </p:cNvSpPr>
          <p:nvPr>
            <p:ph type="title"/>
          </p:nvPr>
        </p:nvSpPr>
        <p:spPr/>
        <p:txBody>
          <a:bodyPr>
            <a:normAutofit/>
          </a:bodyPr>
          <a:lstStyle/>
          <a:p>
            <a:r>
              <a:rPr lang="fr-MA" sz="2400" b="1" cap="none" dirty="0">
                <a:solidFill>
                  <a:srgbClr val="0070C0"/>
                </a:solidFill>
                <a:latin typeface="Avenir Book" panose="02000503020000020003" pitchFamily="2" charset="0"/>
              </a:rPr>
              <a:t>     																	</a:t>
            </a:r>
            <a:br>
              <a:rPr lang="fr-MA" sz="2400" b="1" cap="none" dirty="0">
                <a:solidFill>
                  <a:srgbClr val="0070C0"/>
                </a:solidFill>
                <a:latin typeface="Avenir Book" panose="02000503020000020003" pitchFamily="2" charset="0"/>
              </a:rPr>
            </a:br>
            <a:r>
              <a:rPr lang="fr-MA" sz="2400" b="1" cap="none" dirty="0">
                <a:solidFill>
                  <a:srgbClr val="0070C0"/>
                </a:solidFill>
                <a:latin typeface="Avenir Book" panose="02000503020000020003" pitchFamily="2" charset="0"/>
              </a:rPr>
              <a:t>L’Open et le Big Data </a:t>
            </a:r>
            <a:r>
              <a:rPr lang="fr-MA" sz="2400" b="1" cap="none" dirty="0">
                <a:solidFill>
                  <a:schemeClr val="accent1"/>
                </a:solidFill>
                <a:latin typeface="Avenir Book" panose="02000503020000020003" pitchFamily="2" charset="0"/>
              </a:rPr>
              <a:t>arrivent, </a:t>
            </a:r>
            <a:r>
              <a:rPr lang="fr-MA" sz="2400" b="1" cap="none" dirty="0">
                <a:solidFill>
                  <a:srgbClr val="0070C0"/>
                </a:solidFill>
                <a:latin typeface="Avenir Book" panose="02000503020000020003" pitchFamily="2" charset="0"/>
              </a:rPr>
              <a:t>mais, mais !</a:t>
            </a:r>
            <a:endParaRPr lang="fr-FR" sz="2400" b="1" dirty="0"/>
          </a:p>
        </p:txBody>
      </p:sp>
      <p:sp>
        <p:nvSpPr>
          <p:cNvPr id="3" name="Espace réservé du contenu 2">
            <a:extLst>
              <a:ext uri="{FF2B5EF4-FFF2-40B4-BE49-F238E27FC236}">
                <a16:creationId xmlns:a16="http://schemas.microsoft.com/office/drawing/2014/main" id="{A674DAF9-0BC8-6325-DBD8-D1D68093B84D}"/>
              </a:ext>
            </a:extLst>
          </p:cNvPr>
          <p:cNvSpPr>
            <a:spLocks noGrp="1"/>
          </p:cNvSpPr>
          <p:nvPr>
            <p:ph idx="1"/>
          </p:nvPr>
        </p:nvSpPr>
        <p:spPr>
          <a:xfrm>
            <a:off x="2589211" y="1790701"/>
            <a:ext cx="9078069" cy="4887892"/>
          </a:xfrm>
        </p:spPr>
        <p:txBody>
          <a:bodyPr>
            <a:normAutofit fontScale="92500" lnSpcReduction="10000"/>
          </a:bodyPr>
          <a:lstStyle/>
          <a:p>
            <a:pPr marL="0" indent="0">
              <a:spcBef>
                <a:spcPts val="0"/>
              </a:spcBef>
              <a:buNone/>
            </a:pPr>
            <a:r>
              <a:rPr lang="fr-MA" sz="1900" dirty="0">
                <a:solidFill>
                  <a:srgbClr val="000000"/>
                </a:solidFill>
                <a:latin typeface="Avenir Book" panose="02000503020000020003" pitchFamily="2" charset="0"/>
                <a:ea typeface="Calibri" panose="020F0502020204030204" pitchFamily="34" charset="0"/>
                <a:cs typeface="Segoe UI" panose="020B0502040204020203" pitchFamily="34" charset="0"/>
              </a:rPr>
              <a:t>H</a:t>
            </a:r>
            <a:r>
              <a:rPr lang="fr-MA" sz="19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ormis le domaine juridique et fiscal, il existe de nombreux Sites d’information actuellement disponibles gratuitement au Maroc, en plus de la presse écrite, et qui traitent des données et des informations économiques. </a:t>
            </a: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On peut citer :</a:t>
            </a:r>
          </a:p>
          <a:p>
            <a:pPr marL="0" indent="0">
              <a:spcBef>
                <a:spcPts val="0"/>
              </a:spcBef>
              <a:buNone/>
            </a:pPr>
            <a:endParaRPr lang="fr-MA" sz="1000" dirty="0">
              <a:effectLst/>
              <a:latin typeface="Avenir Book" panose="02000503020000020003" pitchFamily="2" charset="0"/>
              <a:ea typeface="Calibri" panose="020F0502020204030204" pitchFamily="34" charset="0"/>
              <a:cs typeface="Times New Roman" panose="02020603050405020304" pitchFamily="18" charset="0"/>
            </a:endParaRPr>
          </a:p>
          <a:p>
            <a:pPr marL="114300" indent="0">
              <a:spcBef>
                <a:spcPts val="0"/>
              </a:spcBef>
              <a:buNone/>
            </a:pPr>
            <a:r>
              <a:rPr lang="fr-MA" sz="2000" dirty="0">
                <a:solidFill>
                  <a:schemeClr val="accent1"/>
                </a:solidFill>
                <a:effectLst/>
                <a:latin typeface="Avenir Book" panose="02000503020000020003" pitchFamily="2" charset="0"/>
                <a:ea typeface="Calibri" panose="020F0502020204030204" pitchFamily="34" charset="0"/>
                <a:cs typeface="Segoe UI" panose="020B0502040204020203" pitchFamily="34" charset="0"/>
              </a:rPr>
              <a:t>°</a:t>
            </a:r>
            <a:r>
              <a:rPr lang="fr-MA" sz="20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 Le </a:t>
            </a:r>
            <a:r>
              <a:rPr lang="fr-MA" sz="2000" u="sng" dirty="0">
                <a:solidFill>
                  <a:srgbClr val="0070C0"/>
                </a:solidFill>
                <a:latin typeface="Avenir Book" panose="02000503020000020003" pitchFamily="2" charset="0"/>
                <a:cs typeface="Segoe UI" panose="020B0502040204020203" pitchFamily="34" charset="0"/>
              </a:rPr>
              <a:t>Haut-Commissariat au Plan </a:t>
            </a:r>
            <a:r>
              <a:rPr lang="fr-MA" sz="1900" dirty="0">
                <a:solidFill>
                  <a:schemeClr val="accent1"/>
                </a:solidFill>
                <a:effectLst/>
                <a:latin typeface="Avenir Book" panose="02000503020000020003" pitchFamily="2" charset="0"/>
                <a:ea typeface="Calibri" panose="020F0502020204030204" pitchFamily="34" charset="0"/>
                <a:cs typeface="Segoe UI" panose="020B0502040204020203" pitchFamily="34" charset="0"/>
              </a:rPr>
              <a:t>(HCP) </a:t>
            </a:r>
            <a:r>
              <a:rPr lang="fr-MA" sz="20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et le </a:t>
            </a:r>
            <a:r>
              <a:rPr lang="fr-MA" sz="2000" u="sng" dirty="0">
                <a:solidFill>
                  <a:srgbClr val="0070C0"/>
                </a:solidFill>
                <a:latin typeface="Avenir Book" panose="02000503020000020003" pitchFamily="2" charset="0"/>
                <a:cs typeface="Segoe UI" panose="020B0502040204020203" pitchFamily="34" charset="0"/>
              </a:rPr>
              <a:t>Centre National de Documentation</a:t>
            </a:r>
            <a:r>
              <a:rPr lang="fr-MA" sz="2000" u="sng" dirty="0">
                <a:solidFill>
                  <a:schemeClr val="accent1"/>
                </a:solidFill>
                <a:latin typeface="Avenir Book" panose="02000503020000020003" pitchFamily="2" charset="0"/>
                <a:cs typeface="Segoe UI" panose="020B0502040204020203" pitchFamily="34" charset="0"/>
              </a:rPr>
              <a:t> </a:t>
            </a:r>
            <a:r>
              <a:rPr lang="fr-MA" sz="1900" dirty="0">
                <a:solidFill>
                  <a:schemeClr val="accent1"/>
                </a:solidFill>
                <a:effectLst/>
                <a:latin typeface="Avenir Book" panose="02000503020000020003" pitchFamily="2" charset="0"/>
                <a:ea typeface="Calibri" panose="020F0502020204030204" pitchFamily="34" charset="0"/>
                <a:cs typeface="Segoe UI" panose="020B0502040204020203" pitchFamily="34" charset="0"/>
              </a:rPr>
              <a:t>(CND).</a:t>
            </a:r>
            <a:endParaRPr lang="fr-MA" sz="1900" dirty="0">
              <a:solidFill>
                <a:schemeClr val="accent1"/>
              </a:solidFill>
              <a:effectLst/>
              <a:latin typeface="Avenir Book" panose="02000503020000020003" pitchFamily="2" charset="0"/>
              <a:ea typeface="Calibri" panose="020F0502020204030204" pitchFamily="34" charset="0"/>
              <a:cs typeface="Times New Roman" panose="02020603050405020304" pitchFamily="18" charset="0"/>
            </a:endParaRPr>
          </a:p>
          <a:p>
            <a:pPr marL="114300" indent="0">
              <a:spcBef>
                <a:spcPts val="0"/>
              </a:spcBef>
              <a:buNone/>
            </a:pPr>
            <a:r>
              <a:rPr lang="fr-MA" sz="2000" dirty="0">
                <a:solidFill>
                  <a:schemeClr val="accent1"/>
                </a:solidFill>
                <a:effectLst/>
                <a:latin typeface="Avenir Book" panose="02000503020000020003" pitchFamily="2" charset="0"/>
                <a:ea typeface="Calibri" panose="020F0502020204030204" pitchFamily="34" charset="0"/>
                <a:cs typeface="Segoe UI" panose="020B0502040204020203" pitchFamily="34" charset="0"/>
              </a:rPr>
              <a:t>° Bank Al Maghrib </a:t>
            </a:r>
            <a:r>
              <a:rPr lang="fr-MA" sz="20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a:t>
            </a:r>
            <a:r>
              <a:rPr lang="fr-MA" sz="2000" u="sng" dirty="0">
                <a:solidFill>
                  <a:srgbClr val="0070C0"/>
                </a:solidFill>
                <a:latin typeface="Avenir Book" panose="02000503020000020003" pitchFamily="2" charset="0"/>
                <a:cs typeface="Segoe UI" panose="020B0502040204020203" pitchFamily="34" charset="0"/>
              </a:rPr>
              <a:t>Data et statistiques</a:t>
            </a:r>
            <a:r>
              <a:rPr lang="fr-MA" sz="20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a:t>
            </a:r>
            <a:endParaRPr lang="fr-MA" sz="2000" dirty="0">
              <a:effectLst/>
              <a:latin typeface="Avenir Book" panose="02000503020000020003" pitchFamily="2" charset="0"/>
              <a:ea typeface="Calibri" panose="020F0502020204030204" pitchFamily="34" charset="0"/>
              <a:cs typeface="Times New Roman" panose="02020603050405020304" pitchFamily="18" charset="0"/>
            </a:endParaRPr>
          </a:p>
          <a:p>
            <a:pPr marL="114300" indent="0">
              <a:spcBef>
                <a:spcPts val="0"/>
              </a:spcBef>
              <a:buNone/>
            </a:pPr>
            <a:r>
              <a:rPr lang="fr-MA" sz="2000" dirty="0">
                <a:solidFill>
                  <a:schemeClr val="accent1"/>
                </a:solidFill>
                <a:effectLst/>
                <a:latin typeface="Avenir Book" panose="02000503020000020003" pitchFamily="2" charset="0"/>
                <a:ea typeface="Calibri" panose="020F0502020204030204" pitchFamily="34" charset="0"/>
                <a:cs typeface="Segoe UI" panose="020B0502040204020203" pitchFamily="34" charset="0"/>
              </a:rPr>
              <a:t>° Ministère des Finances </a:t>
            </a:r>
            <a:r>
              <a:rPr lang="fr-MA" sz="20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a:t>
            </a:r>
            <a:r>
              <a:rPr lang="fr-MA" sz="2000" u="sng" dirty="0">
                <a:solidFill>
                  <a:srgbClr val="0070C0"/>
                </a:solidFill>
                <a:latin typeface="Avenir Book" panose="02000503020000020003" pitchFamily="2" charset="0"/>
                <a:cs typeface="Segoe UI" panose="020B0502040204020203" pitchFamily="34" charset="0"/>
              </a:rPr>
              <a:t>Data-</a:t>
            </a:r>
            <a:r>
              <a:rPr lang="fr-MA" sz="2000" u="sng" dirty="0" err="1">
                <a:solidFill>
                  <a:srgbClr val="0070C0"/>
                </a:solidFill>
                <a:latin typeface="Avenir Book" panose="02000503020000020003" pitchFamily="2" charset="0"/>
                <a:cs typeface="Segoe UI" panose="020B0502040204020203" pitchFamily="34" charset="0"/>
              </a:rPr>
              <a:t>Manar.Stat</a:t>
            </a:r>
            <a:r>
              <a:rPr lang="fr-MA" sz="20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 et </a:t>
            </a:r>
            <a:r>
              <a:rPr lang="fr-MA" sz="2000" dirty="0">
                <a:solidFill>
                  <a:schemeClr val="accent1"/>
                </a:solidFill>
                <a:effectLst/>
                <a:latin typeface="Avenir Book" panose="02000503020000020003" pitchFamily="2" charset="0"/>
                <a:ea typeface="Calibri" panose="020F0502020204030204" pitchFamily="34" charset="0"/>
                <a:cs typeface="Segoe UI" panose="020B0502040204020203" pitchFamily="34" charset="0"/>
              </a:rPr>
              <a:t>l’Office des Changes.</a:t>
            </a:r>
          </a:p>
          <a:p>
            <a:pPr marL="114300" indent="0">
              <a:spcBef>
                <a:spcPts val="0"/>
              </a:spcBef>
              <a:buNone/>
            </a:pPr>
            <a:r>
              <a:rPr lang="fr-MA" sz="2000" dirty="0">
                <a:solidFill>
                  <a:schemeClr val="accent1"/>
                </a:solidFill>
                <a:latin typeface="Avenir Book" panose="02000503020000020003" pitchFamily="2" charset="0"/>
                <a:ea typeface="Calibri" panose="020F0502020204030204" pitchFamily="34" charset="0"/>
                <a:cs typeface="Segoe UI" panose="020B0502040204020203" pitchFamily="34" charset="0"/>
              </a:rPr>
              <a:t>°</a:t>
            </a:r>
            <a:r>
              <a:rPr lang="fr-MA" sz="2000" dirty="0">
                <a:solidFill>
                  <a:srgbClr val="000000"/>
                </a:solidFill>
                <a:latin typeface="Avenir Book" panose="02000503020000020003" pitchFamily="2" charset="0"/>
                <a:ea typeface="Calibri" panose="020F0502020204030204" pitchFamily="34" charset="0"/>
                <a:cs typeface="Segoe UI" panose="020B0502040204020203" pitchFamily="34" charset="0"/>
              </a:rPr>
              <a:t> L</a:t>
            </a:r>
            <a:r>
              <a:rPr lang="fr-MA" sz="20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es </a:t>
            </a:r>
            <a:r>
              <a:rPr lang="fr-MA" sz="2000" dirty="0">
                <a:solidFill>
                  <a:srgbClr val="000000"/>
                </a:solidFill>
                <a:latin typeface="Avenir Book" panose="02000503020000020003" pitchFamily="2" charset="0"/>
                <a:ea typeface="Calibri" panose="020F0502020204030204" pitchFamily="34" charset="0"/>
                <a:cs typeface="Segoe UI" panose="020B0502040204020203" pitchFamily="34" charset="0"/>
              </a:rPr>
              <a:t>S</a:t>
            </a:r>
            <a:r>
              <a:rPr lang="fr-MA" sz="20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ervices de documentation de certains ministères tels que, le Ministère de l’Industrie et du Commerce</a:t>
            </a:r>
            <a:r>
              <a:rPr lang="fr-MA" sz="2000" dirty="0">
                <a:solidFill>
                  <a:srgbClr val="000000"/>
                </a:solidFill>
                <a:latin typeface="Avenir Book" panose="02000503020000020003" pitchFamily="2" charset="0"/>
                <a:ea typeface="Calibri" panose="020F0502020204030204" pitchFamily="34" charset="0"/>
                <a:cs typeface="Segoe UI" panose="020B0502040204020203" pitchFamily="34" charset="0"/>
              </a:rPr>
              <a:t>, </a:t>
            </a:r>
            <a:r>
              <a:rPr lang="fr-MA" sz="16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Etc.</a:t>
            </a:r>
            <a:r>
              <a:rPr lang="fr-MA" sz="1600" dirty="0">
                <a:solidFill>
                  <a:srgbClr val="000000"/>
                </a:solidFill>
                <a:latin typeface="Avenir Book" panose="02000503020000020003" pitchFamily="2" charset="0"/>
                <a:ea typeface="Calibri" panose="020F0502020204030204" pitchFamily="34" charset="0"/>
                <a:cs typeface="Segoe UI" panose="020B0502040204020203" pitchFamily="34" charset="0"/>
              </a:rPr>
              <a:t> </a:t>
            </a:r>
            <a:r>
              <a:rPr lang="fr-MA" sz="20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et récemment, </a:t>
            </a:r>
            <a:r>
              <a:rPr lang="fr-MA" sz="2000" b="1" dirty="0">
                <a:solidFill>
                  <a:schemeClr val="accent1"/>
                </a:solidFill>
                <a:effectLst/>
                <a:latin typeface="Avenir Book" panose="02000503020000020003" pitchFamily="2" charset="0"/>
                <a:ea typeface="Calibri" panose="020F0502020204030204" pitchFamily="34" charset="0"/>
                <a:cs typeface="Segoe UI" panose="020B0502040204020203" pitchFamily="34" charset="0"/>
              </a:rPr>
              <a:t>le portail ‘’ Data’’ national </a:t>
            </a:r>
            <a:r>
              <a:rPr lang="fr-MA" sz="20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a:t>
            </a:r>
            <a:r>
              <a:rPr lang="fr-MA" sz="2000" u="sng" dirty="0">
                <a:solidFill>
                  <a:srgbClr val="0070C0"/>
                </a:solidFill>
                <a:latin typeface="Avenir Book" panose="02000503020000020003" pitchFamily="2" charset="0"/>
                <a:cs typeface="Segoe UI" panose="020B0502040204020203" pitchFamily="34" charset="0"/>
                <a:hlinkClick r:id="rId2">
                  <a:extLst>
                    <a:ext uri="{A12FA001-AC4F-418D-AE19-62706E023703}">
                      <ahyp:hlinkClr xmlns:ahyp="http://schemas.microsoft.com/office/drawing/2018/hyperlinkcolor" val="tx"/>
                    </a:ext>
                  </a:extLst>
                </a:hlinkClick>
              </a:rPr>
              <a:t>https://www.data.gov.ma</a:t>
            </a:r>
            <a:r>
              <a:rPr lang="fr-MA" sz="20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 qui est encore aux balbutiements. </a:t>
            </a:r>
            <a:endParaRPr lang="fr-MA" sz="2000" dirty="0">
              <a:effectLst/>
              <a:latin typeface="Avenir Book" panose="02000503020000020003" pitchFamily="2" charset="0"/>
              <a:ea typeface="Calibri" panose="020F0502020204030204" pitchFamily="34" charset="0"/>
              <a:cs typeface="Times New Roman" panose="02020603050405020304" pitchFamily="18" charset="0"/>
            </a:endParaRPr>
          </a:p>
          <a:p>
            <a:pPr marL="106680" indent="0">
              <a:spcBef>
                <a:spcPts val="0"/>
              </a:spcBef>
              <a:buNone/>
            </a:pPr>
            <a:r>
              <a:rPr lang="fr-MA" sz="2000" dirty="0">
                <a:solidFill>
                  <a:schemeClr val="accent1"/>
                </a:solidFill>
                <a:effectLst/>
                <a:latin typeface="Avenir Book" panose="02000503020000020003" pitchFamily="2" charset="0"/>
                <a:ea typeface="Calibri" panose="020F0502020204030204" pitchFamily="34" charset="0"/>
                <a:cs typeface="Segoe UI" panose="020B0502040204020203" pitchFamily="34" charset="0"/>
              </a:rPr>
              <a:t>°</a:t>
            </a:r>
            <a:r>
              <a:rPr lang="fr-MA" sz="20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 Certaines organisations tendent à faire basculer leurs publications en Open data.  </a:t>
            </a:r>
            <a:endParaRPr lang="fr-MA" sz="2000" dirty="0">
              <a:solidFill>
                <a:srgbClr val="000000"/>
              </a:solidFill>
              <a:latin typeface="Avenir Book" panose="02000503020000020003" pitchFamily="2" charset="0"/>
              <a:ea typeface="Calibri" panose="020F0502020204030204" pitchFamily="34" charset="0"/>
              <a:cs typeface="Segoe UI" panose="020B0502040204020203" pitchFamily="34" charset="0"/>
            </a:endParaRPr>
          </a:p>
          <a:p>
            <a:pPr marL="220980" indent="0">
              <a:spcBef>
                <a:spcPts val="0"/>
              </a:spcBef>
              <a:buNone/>
            </a:pPr>
            <a:endParaRPr lang="fr-MA" sz="16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endParaRPr>
          </a:p>
          <a:p>
            <a:pPr marL="220980" indent="0">
              <a:spcBef>
                <a:spcPts val="0"/>
              </a:spcBef>
              <a:buNone/>
            </a:pPr>
            <a:r>
              <a:rPr lang="fr-MA" sz="21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Disposerions-nous demain de Centres de documentation coordonnés regroupant par exemple tous les organismes étatiques et susceptibles de répondre rapidement aux besoins des entreprises et des chercheurs au-delà des simples données ou séries statistiques macro économiques </a:t>
            </a:r>
            <a:r>
              <a:rPr lang="fr-MA" sz="20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a:t>
            </a:r>
          </a:p>
          <a:p>
            <a:pPr marL="0" indent="0">
              <a:spcBef>
                <a:spcPts val="0"/>
              </a:spcBef>
              <a:buNone/>
            </a:pPr>
            <a:r>
              <a:rPr lang="fr-MA" sz="900" dirty="0">
                <a:latin typeface="Avenir Book" panose="02000503020000020003" pitchFamily="2" charset="0"/>
                <a:cs typeface="Times New Roman" panose="02020603050405020304" pitchFamily="18" charset="0"/>
              </a:rPr>
              <a:t>     </a:t>
            </a:r>
            <a:endParaRPr lang="fr-MA" sz="1000" b="1" dirty="0">
              <a:latin typeface="Avenir Book" panose="02000503020000020003" pitchFamily="2" charset="0"/>
              <a:cs typeface="Times New Roman" panose="02020603050405020304" pitchFamily="18" charset="0"/>
            </a:endParaRPr>
          </a:p>
          <a:p>
            <a:pPr marL="0" indent="0">
              <a:spcBef>
                <a:spcPts val="0"/>
              </a:spcBef>
              <a:buNone/>
            </a:pPr>
            <a:r>
              <a:rPr lang="fr-MA" sz="1300" b="1" dirty="0">
                <a:solidFill>
                  <a:schemeClr val="accent1"/>
                </a:solidFill>
                <a:latin typeface="Avenir Book" panose="02000503020000020003" pitchFamily="2" charset="0"/>
                <a:cs typeface="Segoe UI" panose="020B0502040204020203" pitchFamily="34" charset="0"/>
              </a:rPr>
              <a:t>NB</a:t>
            </a:r>
            <a:r>
              <a:rPr lang="fr-MA" sz="1050" b="1" dirty="0">
                <a:solidFill>
                  <a:schemeClr val="accent1"/>
                </a:solidFill>
                <a:latin typeface="Avenir Book" panose="02000503020000020003" pitchFamily="2" charset="0"/>
                <a:cs typeface="Segoe UI" panose="020B0502040204020203" pitchFamily="34" charset="0"/>
              </a:rPr>
              <a:t> :  </a:t>
            </a:r>
          </a:p>
          <a:p>
            <a:pPr marL="0" indent="0">
              <a:spcBef>
                <a:spcPts val="0"/>
              </a:spcBef>
              <a:buNone/>
            </a:pPr>
            <a:r>
              <a:rPr lang="fr-MA" sz="1800" dirty="0">
                <a:latin typeface="Avenir Book" panose="02000503020000020003" pitchFamily="2" charset="0"/>
                <a:cs typeface="Segoe UI" panose="020B0502040204020203" pitchFamily="34" charset="0"/>
              </a:rPr>
              <a:t>Tous ces organismes constituent pour nous, certes, des sources très appréciables pour notre travail, </a:t>
            </a:r>
            <a:r>
              <a:rPr lang="fr-MA" sz="1800" dirty="0">
                <a:solidFill>
                  <a:srgbClr val="0070C0"/>
                </a:solidFill>
                <a:latin typeface="Avenir Book" panose="02000503020000020003" pitchFamily="2" charset="0"/>
                <a:cs typeface="Segoe UI" panose="020B0502040204020203" pitchFamily="34" charset="0"/>
              </a:rPr>
              <a:t>le contenu autant que la présentation de notre Base documentaire restent cependant totalement original</a:t>
            </a:r>
            <a:r>
              <a:rPr lang="fr-MA" sz="1800" dirty="0">
                <a:latin typeface="Avenir Book" panose="02000503020000020003" pitchFamily="2" charset="0"/>
                <a:cs typeface="Segoe UI" panose="020B0502040204020203" pitchFamily="34" charset="0"/>
              </a:rPr>
              <a:t>.</a:t>
            </a:r>
          </a:p>
        </p:txBody>
      </p:sp>
    </p:spTree>
    <p:extLst>
      <p:ext uri="{BB962C8B-B14F-4D97-AF65-F5344CB8AC3E}">
        <p14:creationId xmlns:p14="http://schemas.microsoft.com/office/powerpoint/2010/main" val="467795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2B2F11-700A-E851-FF34-E712FD246482}"/>
              </a:ext>
            </a:extLst>
          </p:cNvPr>
          <p:cNvSpPr>
            <a:spLocks noGrp="1"/>
          </p:cNvSpPr>
          <p:nvPr>
            <p:ph type="title"/>
          </p:nvPr>
        </p:nvSpPr>
        <p:spPr/>
        <p:txBody>
          <a:bodyPr>
            <a:normAutofit/>
          </a:bodyPr>
          <a:lstStyle/>
          <a:p>
            <a:r>
              <a:rPr lang="fr-MA" sz="2200" b="1" cap="none"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Une</a:t>
            </a:r>
            <a:r>
              <a:rPr lang="fr-MA" sz="2200" b="1" cap="none" dirty="0">
                <a:effectLst/>
                <a:latin typeface="Avenir Book" panose="02000503020000020003" pitchFamily="2" charset="0"/>
                <a:ea typeface="Calibri" panose="020F0502020204030204" pitchFamily="34" charset="0"/>
                <a:cs typeface="Times New Roman" panose="02020603050405020304" pitchFamily="18" charset="0"/>
              </a:rPr>
              <a:t> </a:t>
            </a:r>
            <a:r>
              <a:rPr lang="fr-FR" sz="2200" b="1" cap="none" dirty="0">
                <a:solidFill>
                  <a:schemeClr val="accent1"/>
                </a:solidFill>
                <a:latin typeface="Avenir Book" panose="02000503020000020003" pitchFamily="2" charset="0"/>
              </a:rPr>
              <a:t>Série documentaire </a:t>
            </a:r>
            <a:r>
              <a:rPr lang="fr-FR" sz="2200" b="1" cap="none" dirty="0">
                <a:solidFill>
                  <a:srgbClr val="0070C0"/>
                </a:solidFill>
                <a:latin typeface="Avenir Book" panose="02000503020000020003" pitchFamily="2" charset="0"/>
              </a:rPr>
              <a:t>‘’</a:t>
            </a:r>
            <a:r>
              <a:rPr lang="fr-FR" sz="2200" b="1" cap="none" dirty="0">
                <a:solidFill>
                  <a:schemeClr val="accent1"/>
                </a:solidFill>
                <a:latin typeface="Avenir Book" panose="02000503020000020003" pitchFamily="2" charset="0"/>
              </a:rPr>
              <a:t> </a:t>
            </a:r>
            <a:r>
              <a:rPr lang="fr-MA" sz="2400" b="1" dirty="0">
                <a:solidFill>
                  <a:srgbClr val="0070C0"/>
                </a:solidFill>
                <a:latin typeface="Avenir Book" panose="02000503020000020003" pitchFamily="2" charset="0"/>
                <a:ea typeface="Noto Sans Elbasan" panose="020B0502040504020204" pitchFamily="34" charset="0"/>
                <a:cs typeface="AL BAYAN PLAIN" pitchFamily="2" charset="-78"/>
              </a:rPr>
              <a:t>Combien ça coûte</a:t>
            </a:r>
            <a:r>
              <a:rPr lang="fr-FR" sz="2400" b="1" dirty="0">
                <a:solidFill>
                  <a:srgbClr val="0070C0"/>
                </a:solidFill>
                <a:latin typeface="Avenir Book" panose="02000503020000020003" pitchFamily="2" charset="0"/>
                <a:ea typeface="Noto Sans Elbasan" panose="020B0502040504020204" pitchFamily="34" charset="0"/>
                <a:cs typeface="AL BAYAN PLAIN" pitchFamily="2" charset="-78"/>
              </a:rPr>
              <a:t> ? </a:t>
            </a:r>
            <a:r>
              <a:rPr lang="fr-FR" sz="2400" b="1" cap="none" dirty="0">
                <a:solidFill>
                  <a:srgbClr val="0070C0"/>
                </a:solidFill>
                <a:latin typeface="Avenir Book" panose="02000503020000020003" pitchFamily="2" charset="0"/>
              </a:rPr>
              <a:t>‘’</a:t>
            </a:r>
            <a:r>
              <a:rPr lang="fr-FR" sz="2400" b="1" dirty="0">
                <a:solidFill>
                  <a:srgbClr val="0070C0"/>
                </a:solidFill>
                <a:latin typeface="Avenir Book" panose="02000503020000020003" pitchFamily="2" charset="0"/>
                <a:ea typeface="Noto Sans Elbasan" panose="020B0502040504020204" pitchFamily="34" charset="0"/>
                <a:cs typeface="AL BAYAN PLAIN" pitchFamily="2" charset="-78"/>
              </a:rPr>
              <a:t> </a:t>
            </a:r>
            <a:br>
              <a:rPr lang="fr-FR" sz="2400" b="1" cap="none" dirty="0"/>
            </a:br>
            <a:r>
              <a:rPr lang="fr-FR" sz="2400" b="1" cap="none" dirty="0"/>
              <a:t>       </a:t>
            </a:r>
            <a:r>
              <a:rPr lang="fr-FR" sz="2200" b="1" dirty="0">
                <a:solidFill>
                  <a:srgbClr val="000000"/>
                </a:solidFill>
                <a:latin typeface="Avenir Book" panose="02000503020000020003" pitchFamily="2" charset="0"/>
                <a:cs typeface="Segoe UI" panose="020B0502040204020203" pitchFamily="34" charset="0"/>
              </a:rPr>
              <a:t>Basée</a:t>
            </a:r>
            <a:r>
              <a:rPr lang="fr-MA" sz="2200" b="1" dirty="0">
                <a:solidFill>
                  <a:srgbClr val="000000"/>
                </a:solidFill>
                <a:latin typeface="Avenir Book" panose="02000503020000020003" pitchFamily="2" charset="0"/>
                <a:cs typeface="Segoe UI" panose="020B0502040204020203" pitchFamily="34" charset="0"/>
              </a:rPr>
              <a:t> sur des données </a:t>
            </a:r>
            <a:r>
              <a:rPr lang="fr-MA" sz="2200" b="1" cap="none" dirty="0">
                <a:solidFill>
                  <a:srgbClr val="000000"/>
                </a:solidFill>
                <a:latin typeface="Avenir Book" panose="02000503020000020003" pitchFamily="2" charset="0"/>
                <a:cs typeface="Segoe UI" panose="020B0502040204020203" pitchFamily="34" charset="0"/>
              </a:rPr>
              <a:t>technico-économiques chiffrées</a:t>
            </a:r>
            <a:r>
              <a:rPr lang="fr-MA" sz="2200" b="1" dirty="0">
                <a:solidFill>
                  <a:srgbClr val="000000"/>
                </a:solidFill>
                <a:latin typeface="Avenir Book" panose="02000503020000020003" pitchFamily="2" charset="0"/>
                <a:cs typeface="Segoe UI" panose="020B0502040204020203" pitchFamily="34" charset="0"/>
              </a:rPr>
              <a:t>.</a:t>
            </a:r>
            <a:endParaRPr lang="fr-FR" sz="2200" b="1" dirty="0"/>
          </a:p>
        </p:txBody>
      </p:sp>
      <p:sp>
        <p:nvSpPr>
          <p:cNvPr id="3" name="Espace réservé du contenu 2">
            <a:extLst>
              <a:ext uri="{FF2B5EF4-FFF2-40B4-BE49-F238E27FC236}">
                <a16:creationId xmlns:a16="http://schemas.microsoft.com/office/drawing/2014/main" id="{060AD55B-B545-2A10-A274-7FF62C6DBA55}"/>
              </a:ext>
            </a:extLst>
          </p:cNvPr>
          <p:cNvSpPr>
            <a:spLocks noGrp="1"/>
          </p:cNvSpPr>
          <p:nvPr>
            <p:ph idx="1"/>
          </p:nvPr>
        </p:nvSpPr>
        <p:spPr>
          <a:xfrm>
            <a:off x="2589212" y="1543050"/>
            <a:ext cx="8915400" cy="4690840"/>
          </a:xfrm>
        </p:spPr>
        <p:txBody>
          <a:bodyPr/>
          <a:lstStyle/>
          <a:p>
            <a:pPr marL="0" indent="0">
              <a:buNone/>
            </a:pPr>
            <a:r>
              <a:rPr lang="fr-MA" sz="1800" dirty="0">
                <a:solidFill>
                  <a:srgbClr val="000000"/>
                </a:solidFill>
                <a:effectLst/>
                <a:latin typeface="Avenir Book" panose="02000503020000020003" pitchFamily="2" charset="0"/>
                <a:ea typeface="Calibri" panose="020F0502020204030204" pitchFamily="34" charset="0"/>
                <a:cs typeface="Segoe UI" panose="020B0502040204020203" pitchFamily="34" charset="0"/>
              </a:rPr>
              <a:t>Ci-après, en extrait, </a:t>
            </a:r>
            <a:r>
              <a:rPr lang="fr-MA" sz="1800" dirty="0">
                <a:solidFill>
                  <a:srgbClr val="0070C0"/>
                </a:solidFill>
                <a:effectLst/>
                <a:latin typeface="Avenir Book" panose="02000503020000020003" pitchFamily="2" charset="0"/>
                <a:ea typeface="Calibri" panose="020F0502020204030204" pitchFamily="34" charset="0"/>
                <a:cs typeface="Segoe UI" panose="020B0502040204020203" pitchFamily="34" charset="0"/>
              </a:rPr>
              <a:t>une liste d’Articles tirés au hasard :</a:t>
            </a:r>
          </a:p>
          <a:p>
            <a:pPr marL="0" indent="0">
              <a:buNone/>
            </a:pPr>
            <a:r>
              <a:rPr lang="fr-MA" dirty="0">
                <a:solidFill>
                  <a:srgbClr val="0070C0"/>
                </a:solidFill>
                <a:latin typeface="Avenir Book" panose="02000503020000020003" pitchFamily="2" charset="0"/>
                <a:cs typeface="Segoe UI" panose="020B0502040204020203" pitchFamily="34" charset="0"/>
              </a:rPr>
              <a:t>          </a:t>
            </a:r>
            <a:endParaRPr lang="fr-FR" dirty="0"/>
          </a:p>
          <a:p>
            <a:pPr marL="0" indent="0">
              <a:buNone/>
            </a:pPr>
            <a:endParaRPr lang="fr-FR" dirty="0"/>
          </a:p>
        </p:txBody>
      </p:sp>
      <p:pic>
        <p:nvPicPr>
          <p:cNvPr id="5" name="Image 4">
            <a:extLst>
              <a:ext uri="{FF2B5EF4-FFF2-40B4-BE49-F238E27FC236}">
                <a16:creationId xmlns:a16="http://schemas.microsoft.com/office/drawing/2014/main" id="{387CF5EC-F61A-EC53-2734-5E5357032064}"/>
              </a:ext>
            </a:extLst>
          </p:cNvPr>
          <p:cNvPicPr>
            <a:picLocks noChangeAspect="1"/>
          </p:cNvPicPr>
          <p:nvPr/>
        </p:nvPicPr>
        <p:blipFill>
          <a:blip r:embed="rId2"/>
          <a:stretch>
            <a:fillRect/>
          </a:stretch>
        </p:blipFill>
        <p:spPr>
          <a:xfrm>
            <a:off x="3514119" y="1905000"/>
            <a:ext cx="6084955" cy="4328890"/>
          </a:xfrm>
          <a:prstGeom prst="rect">
            <a:avLst/>
          </a:prstGeom>
        </p:spPr>
      </p:pic>
    </p:spTree>
    <p:extLst>
      <p:ext uri="{BB962C8B-B14F-4D97-AF65-F5344CB8AC3E}">
        <p14:creationId xmlns:p14="http://schemas.microsoft.com/office/powerpoint/2010/main" val="1264300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57DBA5-FE54-E6DD-FF23-7AF52149F985}"/>
              </a:ext>
            </a:extLst>
          </p:cNvPr>
          <p:cNvSpPr>
            <a:spLocks noGrp="1"/>
          </p:cNvSpPr>
          <p:nvPr>
            <p:ph type="title"/>
          </p:nvPr>
        </p:nvSpPr>
        <p:spPr/>
        <p:txBody>
          <a:bodyPr>
            <a:normAutofit/>
          </a:bodyPr>
          <a:lstStyle/>
          <a:p>
            <a:br>
              <a:rPr lang="fr-MA" sz="2400" b="1" u="sng" dirty="0">
                <a:solidFill>
                  <a:schemeClr val="accent1"/>
                </a:solidFill>
                <a:effectLst/>
                <a:highlight>
                  <a:srgbClr val="C0C0C0"/>
                </a:highlight>
                <a:latin typeface="Avenir Book" panose="02000503020000020003" pitchFamily="2" charset="0"/>
                <a:ea typeface="Calibri" panose="020F0502020204030204" pitchFamily="34" charset="0"/>
                <a:cs typeface="Times New Roman" panose="02020603050405020304" pitchFamily="18" charset="0"/>
              </a:rPr>
            </a:br>
            <a:r>
              <a:rPr lang="fr-MA" sz="2000" b="1" cap="none"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Une</a:t>
            </a:r>
            <a:r>
              <a:rPr lang="fr-MA" sz="2000" b="1" dirty="0">
                <a:latin typeface="Avenir Book" panose="02000503020000020003" pitchFamily="2" charset="0"/>
                <a:cs typeface="Times New Roman" panose="02020603050405020304" pitchFamily="18" charset="0"/>
              </a:rPr>
              <a:t> </a:t>
            </a:r>
            <a:r>
              <a:rPr lang="fr-FR" sz="2400" b="1" cap="none" dirty="0">
                <a:solidFill>
                  <a:schemeClr val="accent1"/>
                </a:solidFill>
                <a:latin typeface="Avenir Book" panose="02000503020000020003" pitchFamily="2" charset="0"/>
              </a:rPr>
              <a:t>Série documentaire </a:t>
            </a:r>
            <a:r>
              <a:rPr lang="fr-FR" sz="2400" b="1" cap="none" dirty="0">
                <a:solidFill>
                  <a:srgbClr val="0070C0"/>
                </a:solidFill>
                <a:latin typeface="Avenir Book" panose="02000503020000020003" pitchFamily="2" charset="0"/>
              </a:rPr>
              <a:t>‘’</a:t>
            </a:r>
            <a:r>
              <a:rPr lang="fr-FR" sz="2400" cap="none" dirty="0">
                <a:solidFill>
                  <a:srgbClr val="0070C0"/>
                </a:solidFill>
                <a:latin typeface="Avenir Book" panose="02000503020000020003" pitchFamily="2" charset="0"/>
              </a:rPr>
              <a:t> </a:t>
            </a:r>
            <a:r>
              <a:rPr lang="fr-FR" sz="2400" b="1" cap="none" dirty="0">
                <a:solidFill>
                  <a:srgbClr val="0070C0"/>
                </a:solidFill>
                <a:latin typeface="Avenir Book" panose="02000503020000020003" pitchFamily="2" charset="0"/>
                <a:ea typeface="Noto Sans Elbasan" panose="020B0502040504020204" pitchFamily="34" charset="0"/>
                <a:cs typeface="AL BAYAN PLAIN" pitchFamily="2" charset="-78"/>
              </a:rPr>
              <a:t>Entreprises </a:t>
            </a:r>
            <a:r>
              <a:rPr lang="fr-FR" sz="2400" b="1" cap="none" dirty="0">
                <a:solidFill>
                  <a:srgbClr val="0070C0"/>
                </a:solidFill>
                <a:latin typeface="Avenir Book" panose="02000503020000020003" pitchFamily="2" charset="0"/>
              </a:rPr>
              <a:t>‘’</a:t>
            </a:r>
            <a:r>
              <a:rPr lang="fr-FR" sz="2400" b="1" cap="none" dirty="0">
                <a:solidFill>
                  <a:srgbClr val="0070C0"/>
                </a:solidFill>
                <a:latin typeface="Avenir Book" panose="02000503020000020003" pitchFamily="2" charset="0"/>
                <a:ea typeface="Noto Sans Elbasan" panose="020B0502040504020204" pitchFamily="34" charset="0"/>
                <a:cs typeface="AL BAYAN PLAIN" pitchFamily="2" charset="-78"/>
              </a:rPr>
              <a:t>.</a:t>
            </a:r>
            <a:endParaRPr lang="fr-FR" sz="2400" dirty="0">
              <a:latin typeface="Avenir Book" panose="02000503020000020003" pitchFamily="2" charset="0"/>
            </a:endParaRPr>
          </a:p>
        </p:txBody>
      </p:sp>
      <p:sp>
        <p:nvSpPr>
          <p:cNvPr id="3" name="Espace réservé du contenu 2">
            <a:extLst>
              <a:ext uri="{FF2B5EF4-FFF2-40B4-BE49-F238E27FC236}">
                <a16:creationId xmlns:a16="http://schemas.microsoft.com/office/drawing/2014/main" id="{A8975642-3DE9-655B-557C-1860A779F43B}"/>
              </a:ext>
            </a:extLst>
          </p:cNvPr>
          <p:cNvSpPr>
            <a:spLocks noGrp="1"/>
          </p:cNvSpPr>
          <p:nvPr>
            <p:ph idx="1"/>
          </p:nvPr>
        </p:nvSpPr>
        <p:spPr>
          <a:xfrm>
            <a:off x="2589212" y="1905000"/>
            <a:ext cx="8915400" cy="4006222"/>
          </a:xfrm>
        </p:spPr>
        <p:txBody>
          <a:bodyPr/>
          <a:lstStyle/>
          <a:p>
            <a:pPr marL="0" indent="0">
              <a:lnSpc>
                <a:spcPct val="115000"/>
              </a:lnSpc>
              <a:spcAft>
                <a:spcPts val="800"/>
              </a:spcAft>
              <a:buNone/>
            </a:pPr>
            <a:r>
              <a:rPr lang="fr-MA" sz="20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Un simple clic sur ‘’ </a:t>
            </a:r>
            <a:r>
              <a:rPr lang="fr-MA" b="1" dirty="0">
                <a:solidFill>
                  <a:schemeClr val="accent1"/>
                </a:solidFill>
                <a:latin typeface="Avenir Book" panose="02000503020000020003" pitchFamily="2" charset="0"/>
                <a:cs typeface="Calibri" panose="020F0502020204030204" pitchFamily="34" charset="0"/>
              </a:rPr>
              <a:t>Entreprises</a:t>
            </a:r>
            <a:r>
              <a:rPr lang="fr-MA" sz="20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 et vous sélectionnez par Mot-clé l’objet de votre recherche, voire même un ensemble d’entreprises appartenant au même secteur d’activité économique </a:t>
            </a:r>
            <a:r>
              <a:rPr lang="fr-MA"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(Agro-industrie, Bâtiments, Transports, etc.)</a:t>
            </a:r>
          </a:p>
          <a:p>
            <a:pPr marL="0" indent="0">
              <a:lnSpc>
                <a:spcPct val="115000"/>
              </a:lnSpc>
              <a:spcAft>
                <a:spcPts val="800"/>
              </a:spcAft>
              <a:buNone/>
            </a:pPr>
            <a:r>
              <a:rPr lang="fr-MA" sz="20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Dans cette Série d’Articles nous essaierons, très prochainement, en fonction de l’intérêt de </a:t>
            </a:r>
            <a:r>
              <a:rPr lang="fr-MA" sz="200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nos lecteurs et de </a:t>
            </a:r>
            <a:r>
              <a:rPr lang="fr-MA" sz="20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la disponibilité des moyens d’information accessibles ou disponibles de présenter </a:t>
            </a:r>
            <a:r>
              <a:rPr lang="fr-MA" sz="2000" dirty="0">
                <a:solidFill>
                  <a:srgbClr val="000000"/>
                </a:solidFill>
                <a:latin typeface="Avenir Book" panose="02000503020000020003" pitchFamily="2" charset="0"/>
                <a:cs typeface="Calibri" panose="020F0502020204030204" pitchFamily="34" charset="0"/>
              </a:rPr>
              <a:t>un</a:t>
            </a:r>
            <a:r>
              <a:rPr lang="fr-MA" sz="2000" b="1" dirty="0">
                <a:solidFill>
                  <a:srgbClr val="002060"/>
                </a:solidFill>
                <a:effectLst/>
                <a:latin typeface="Avenir Book" panose="02000503020000020003" pitchFamily="2" charset="0"/>
                <a:ea typeface="Times New Roman" panose="02020603050405020304" pitchFamily="18" charset="0"/>
                <a:cs typeface="Calibri" panose="020F0502020204030204" pitchFamily="34" charset="0"/>
              </a:rPr>
              <a:t> </a:t>
            </a:r>
            <a:r>
              <a:rPr lang="fr-MA" b="1"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Fichier succinct </a:t>
            </a:r>
            <a:r>
              <a:rPr lang="fr-MA" b="1" dirty="0">
                <a:solidFill>
                  <a:schemeClr val="accent1"/>
                </a:solidFill>
                <a:latin typeface="Avenir Book" panose="02000503020000020003" pitchFamily="2" charset="0"/>
                <a:ea typeface="Times New Roman" panose="02020603050405020304" pitchFamily="18" charset="0"/>
                <a:cs typeface="Calibri" panose="020F0502020204030204" pitchFamily="34" charset="0"/>
              </a:rPr>
              <a:t>d</a:t>
            </a:r>
            <a:r>
              <a:rPr lang="fr-MA" b="1"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es Entreprises</a:t>
            </a:r>
            <a:r>
              <a:rPr lang="fr-MA"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 </a:t>
            </a:r>
            <a:r>
              <a:rPr lang="fr-MA" b="1" dirty="0">
                <a:solidFill>
                  <a:schemeClr val="accent1"/>
                </a:solidFill>
                <a:effectLst/>
                <a:latin typeface="Avenir Book" panose="02000503020000020003" pitchFamily="2" charset="0"/>
                <a:ea typeface="Times New Roman" panose="02020603050405020304" pitchFamily="18" charset="0"/>
                <a:cs typeface="Calibri" panose="020F0502020204030204" pitchFamily="34" charset="0"/>
              </a:rPr>
              <a:t>publiques et privées : </a:t>
            </a:r>
            <a:endParaRPr lang="fr-MA" b="1" dirty="0">
              <a:solidFill>
                <a:schemeClr val="accent1"/>
              </a:solidFill>
              <a:latin typeface="Avenir Book" panose="02000503020000020003" pitchFamily="2" charset="0"/>
              <a:ea typeface="Times New Roman" panose="02020603050405020304" pitchFamily="18" charset="0"/>
              <a:cs typeface="Calibri" panose="020F0502020204030204" pitchFamily="34" charset="0"/>
            </a:endParaRPr>
          </a:p>
          <a:p>
            <a:pPr marL="0" indent="0">
              <a:lnSpc>
                <a:spcPct val="100000"/>
              </a:lnSpc>
              <a:spcBef>
                <a:spcPts val="0"/>
              </a:spcBef>
              <a:spcAft>
                <a:spcPts val="200"/>
              </a:spcAft>
              <a:buNone/>
            </a:pPr>
            <a:r>
              <a:rPr lang="fr-MA" sz="1800" dirty="0">
                <a:solidFill>
                  <a:srgbClr val="000000"/>
                </a:solidFill>
                <a:latin typeface="Avenir Book" panose="02000503020000020003" pitchFamily="2" charset="0"/>
                <a:ea typeface="Times New Roman" panose="02020603050405020304" pitchFamily="18" charset="0"/>
                <a:cs typeface="Calibri" panose="020F0502020204030204" pitchFamily="34" charset="0"/>
              </a:rPr>
              <a:t>° </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Fiche d’identité</a:t>
            </a:r>
            <a:r>
              <a:rPr lang="fr-MA" sz="1800" dirty="0">
                <a:solidFill>
                  <a:srgbClr val="000000"/>
                </a:solidFill>
                <a:latin typeface="Avenir Book" panose="02000503020000020003" pitchFamily="2" charset="0"/>
                <a:ea typeface="Times New Roman" panose="02020603050405020304" pitchFamily="18" charset="0"/>
                <a:cs typeface="Calibri" panose="020F0502020204030204" pitchFamily="34" charset="0"/>
              </a:rPr>
              <a:t>.</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 Dirigeants. Statut juridique de la société, </a:t>
            </a:r>
          </a:p>
          <a:p>
            <a:pPr marL="0" indent="0">
              <a:lnSpc>
                <a:spcPct val="100000"/>
              </a:lnSpc>
              <a:spcBef>
                <a:spcPts val="0"/>
              </a:spcBef>
              <a:spcAft>
                <a:spcPts val="200"/>
              </a:spcAft>
              <a:buNone/>
            </a:pPr>
            <a:r>
              <a:rPr lang="fr-MA" sz="1800" dirty="0">
                <a:solidFill>
                  <a:srgbClr val="000000"/>
                </a:solidFill>
                <a:latin typeface="Avenir Book" panose="02000503020000020003" pitchFamily="2" charset="0"/>
                <a:ea typeface="Times New Roman" panose="02020603050405020304" pitchFamily="18" charset="0"/>
                <a:cs typeface="Calibri" panose="020F0502020204030204" pitchFamily="34" charset="0"/>
              </a:rPr>
              <a:t>° V</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aleur et évolution boursière lorsqu’il s’agit d’une société cotée, </a:t>
            </a:r>
          </a:p>
          <a:p>
            <a:pPr marL="0" indent="0">
              <a:lnSpc>
                <a:spcPct val="100000"/>
              </a:lnSpc>
              <a:spcBef>
                <a:spcPts val="0"/>
              </a:spcBef>
              <a:spcAft>
                <a:spcPts val="200"/>
              </a:spcAft>
              <a:buNone/>
            </a:pPr>
            <a:r>
              <a:rPr lang="fr-MA" sz="1800" dirty="0">
                <a:solidFill>
                  <a:srgbClr val="000000"/>
                </a:solidFill>
                <a:latin typeface="Avenir Book" panose="02000503020000020003" pitchFamily="2" charset="0"/>
                <a:ea typeface="Times New Roman" panose="02020603050405020304" pitchFamily="18" charset="0"/>
                <a:cs typeface="Calibri" panose="020F0502020204030204" pitchFamily="34" charset="0"/>
              </a:rPr>
              <a:t>° </a:t>
            </a:r>
            <a:r>
              <a:rPr lang="fr-MA" sz="1800" dirty="0">
                <a:solidFill>
                  <a:srgbClr val="000000"/>
                </a:solidFill>
                <a:effectLst/>
                <a:latin typeface="Avenir Book" panose="02000503020000020003" pitchFamily="2" charset="0"/>
                <a:ea typeface="Times New Roman" panose="02020603050405020304" pitchFamily="18" charset="0"/>
                <a:cs typeface="Calibri" panose="020F0502020204030204" pitchFamily="34" charset="0"/>
              </a:rPr>
              <a:t>Monographie, Activité, Événements marquants et faits sociaux importants, etc.</a:t>
            </a:r>
            <a:endParaRPr lang="fr-MA" sz="1800" dirty="0">
              <a:effectLst/>
              <a:latin typeface="Avenir Book" panose="02000503020000020003" pitchFamily="2" charset="0"/>
              <a:ea typeface="Calibri" panose="020F0502020204030204" pitchFamily="34"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456437433"/>
      </p:ext>
    </p:extLst>
  </p:cSld>
  <p:clrMapOvr>
    <a:masterClrMapping/>
  </p:clrMapOvr>
</p:sld>
</file>

<file path=ppt/theme/theme1.xml><?xml version="1.0" encoding="utf-8"?>
<a:theme xmlns:a="http://schemas.openxmlformats.org/drawingml/2006/main" name="Brin">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Brin</Template>
  <TotalTime>1686</TotalTime>
  <Words>3161</Words>
  <Application>Microsoft Office PowerPoint</Application>
  <PresentationFormat>Grand écran</PresentationFormat>
  <Paragraphs>149</Paragraphs>
  <Slides>22</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22</vt:i4>
      </vt:variant>
    </vt:vector>
  </HeadingPairs>
  <TitlesOfParts>
    <vt:vector size="30" baseType="lpstr">
      <vt:lpstr>Arial</vt:lpstr>
      <vt:lpstr>Avenir Book</vt:lpstr>
      <vt:lpstr>Calibri</vt:lpstr>
      <vt:lpstr>Candara</vt:lpstr>
      <vt:lpstr>Century Gothic</vt:lpstr>
      <vt:lpstr>Gill Sans MT</vt:lpstr>
      <vt:lpstr>Wingdings 3</vt:lpstr>
      <vt:lpstr>Brin</vt:lpstr>
      <vt:lpstr>Présentation PowerPoint</vt:lpstr>
      <vt:lpstr>   Base de Données Documentaires.      L’Essentiel en Chiffres.     </vt:lpstr>
      <vt:lpstr>Présenté par ARIF Sadek. (Ancien nom ERREF) - Fondateur du Centre d’Etudes et de Recherche Documentaire. -  Ex. Directeur de publication de la Revue ‘’ Entreprise &amp; Gestion ‘’. </vt:lpstr>
      <vt:lpstr>                                                                                                  De quoi s’agit-il d’abord ?</vt:lpstr>
      <vt:lpstr>                                                                                                             Chiffres clés de l’Entreprise. </vt:lpstr>
      <vt:lpstr>Bref Historique.               De l’édition numérique à l’Application mobile.                                                                 En passant par un Site Web. </vt:lpstr>
      <vt:lpstr>                                                                                                    L’Information : Un problème d’abondance !</vt:lpstr>
      <vt:lpstr>                   Il faudrait alors chercher, chercher, …                                                  ‘’ Une aiguille dans une botte de foin ‘’</vt:lpstr>
      <vt:lpstr>                    La Surinformation et ‘’ l'inaptitude à organiser cette information ‘’</vt:lpstr>
      <vt:lpstr>                    Méthodologie.</vt:lpstr>
      <vt:lpstr>                    l’ESSENTIEL, juste l’essentiel, dans une seule page.         Y compris Tableau, Graphique ou Illustration. </vt:lpstr>
      <vt:lpstr>                   Et un outil, aujourd’hui, à la portée de tous :                                                                      Le Smartphone !</vt:lpstr>
      <vt:lpstr>                    A qui s’adresse notre Base documentaire ? </vt:lpstr>
      <vt:lpstr>                    Comment se présente notre ‘’ Base documentaire ’’ ?</vt:lpstr>
      <vt:lpstr>  Notre Base documentaire traite + de 250 Thèmes. </vt:lpstr>
      <vt:lpstr>Il suffit donc de Cliquer, sur                                               un Mot clé ou sur un Article, un Thème… </vt:lpstr>
      <vt:lpstr>                    L’Article (Un Document) constitue l’unité de notre Base. </vt:lpstr>
      <vt:lpstr>                   Niveau de précision des informations et exhaustivité. </vt:lpstr>
      <vt:lpstr> Mais Existe-t-il des Bases documentaires similaires ?                          La réponse est certainement non, et en France non plus.              Le CERD apparemment innove aussi bien dans son contenu que dans sa présentation.</vt:lpstr>
      <vt:lpstr>                       L’Open et le Big Data arrivent, mais, mais !</vt:lpstr>
      <vt:lpstr>Une Série documentaire ‘’ Combien ça coûte ? ‘’         Basée sur des données technico-économiques chiffrées.</vt:lpstr>
      <vt:lpstr> Une Série documentaire ‘’ Entreprises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Chiffres clés de l’entreprise.  Base de Données Documentaires.  </dc:title>
  <dc:creator>arifsadek42@gmail.com</dc:creator>
  <cp:lastModifiedBy>arifsadek42@gmail.com</cp:lastModifiedBy>
  <cp:revision>37</cp:revision>
  <cp:lastPrinted>2025-12-30T08:56:00Z</cp:lastPrinted>
  <dcterms:created xsi:type="dcterms:W3CDTF">2025-12-20T10:17:55Z</dcterms:created>
  <dcterms:modified xsi:type="dcterms:W3CDTF">2026-03-28T17:36:13Z</dcterms:modified>
</cp:coreProperties>
</file>